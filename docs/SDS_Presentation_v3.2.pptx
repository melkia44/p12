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7432" autoAdjust="0"/>
  </p:normalViewPr>
  <p:slideViewPr>
    <p:cSldViewPr snapToGrid="0" snapToObjects="1">
      <p:cViewPr varScale="1">
        <p:scale>
          <a:sx n="158" d="100"/>
          <a:sy n="158" d="100"/>
        </p:scale>
        <p:origin x="3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57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DATA ENGINEERING · AVRIL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données bout-en-bout pour récompenser les salariés qui bougent.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analysés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19856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activées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81344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bien-être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42832" y="4160520"/>
            <a:ext cx="2560320" cy="150876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2832" y="4160520"/>
            <a:ext cx="256032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942832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172 482 €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42832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/ 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172200"/>
            <a:ext cx="27432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6053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  ·  Stack 100 % Open Source / Free Tier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POINT DE DÉPART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4929" y="502920"/>
            <a:ext cx="3034819" cy="124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brief de Juliette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51823" y="2100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: robuste, sécurisé, fonctionnel.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D956A4C-69C7-D1B8-FA2B-E531EB63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893" y="1396806"/>
            <a:ext cx="10535811" cy="5201702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94929" y="1034135"/>
            <a:ext cx="3521676" cy="1431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souhaitons récompenser les salariés qui s'engagent dans des pratiques sportives régulières. Je propose deux avantages : une prime pour les trajets actifs, et des jours bien-être pour les sportifs réguliers.</a:t>
            </a:r>
            <a:endParaRPr lang="en-US" sz="105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93F1C90D-FB42-A989-E1D6-A63BAF1276AF}"/>
              </a:ext>
            </a:extLst>
          </p:cNvPr>
          <p:cNvSpPr/>
          <p:nvPr/>
        </p:nvSpPr>
        <p:spPr>
          <a:xfrm>
            <a:off x="548640" y="2277224"/>
            <a:ext cx="109728" cy="3620655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RÈGLES MÉTIER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règles, deux récompenses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420624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de 5 %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404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trajets actifs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4617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actif déclaré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 · Trottinette · Marche · Running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géographique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km à pied  ·  ≤ 25 km à vélo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4617720" cy="502920"/>
          </a:xfrm>
          <a:prstGeom prst="rect">
            <a:avLst/>
          </a:prstGeom>
          <a:solidFill>
            <a:srgbClr val="E0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37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montant = salaire_brut × 0.05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5138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bénéficiaires  ·  172 482 € / 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91640"/>
            <a:ext cx="109728" cy="420624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FFF4D2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8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 bien-être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2404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sportifs réguliers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2971800"/>
            <a:ext cx="4617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4290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déclaré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« Pratique d'un sport » renseignée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effectivement pratiqué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activités / an  (données Strava)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4937760"/>
            <a:ext cx="4617720" cy="502920"/>
          </a:xfrm>
          <a:prstGeom prst="rect">
            <a:avLst/>
          </a:prstGeom>
          <a:solidFill>
            <a:srgbClr val="FFF4D2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937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jours de congés / 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55138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bénéficiaires  ·  42,9 % des salariés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le « sport déclaré » du « sport réellement pratiqué » — c'est ça, le rôle de la donnée.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RÉPARTITION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touche quoi 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des deux règles sur les 161 salariés.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activités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activités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4160520" cy="1600200"/>
          </a:xfrm>
          <a:prstGeom prst="rect">
            <a:avLst/>
          </a:prstGeom>
          <a:solidFill>
            <a:srgbClr val="FFF4D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377440"/>
            <a:ext cx="4160520" cy="54864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E6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4348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Bien-être uniquement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  ·  ≥ 15 act.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377440"/>
            <a:ext cx="4160520" cy="1600200"/>
          </a:xfrm>
          <a:prstGeom prst="rect">
            <a:avLst/>
          </a:prstGeom>
          <a:solidFill>
            <a:srgbClr val="E0F8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377440"/>
            <a:ext cx="4160520" cy="54864"/>
          </a:xfrm>
          <a:prstGeom prst="rect">
            <a:avLst/>
          </a:prstGeom>
          <a:solidFill>
            <a:srgbClr val="0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8696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+ Bien-être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  ·  ≥ 15 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251960"/>
            <a:ext cx="4160520" cy="1600200"/>
          </a:xfrm>
          <a:prstGeom prst="rect">
            <a:avLst/>
          </a:prstGeom>
          <a:solidFill>
            <a:srgbClr val="EEF1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4251960"/>
            <a:ext cx="4160520" cy="54864"/>
          </a:xfrm>
          <a:prstGeom prst="rect">
            <a:avLst/>
          </a:prstGeom>
          <a:solidFill>
            <a:srgbClr val="667085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45720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754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43484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avantage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/ TC  ·  &lt; 15 act.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251960"/>
            <a:ext cx="4160520" cy="1600200"/>
          </a:xfrm>
          <a:prstGeom prst="rect">
            <a:avLst/>
          </a:prstGeom>
          <a:solidFill>
            <a:srgbClr val="E0F8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4251960"/>
            <a:ext cx="416052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45720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886968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uniquement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69680" y="5120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actif  ·  &lt; 15 act.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salariés</a:t>
            </a:r>
            <a:r>
              <a:rPr lang="en-US" sz="1100" dirty="0">
                <a:solidFill>
                  <a:srgbClr val="5A7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cumulent les deux récompenses</a:t>
            </a:r>
            <a:r>
              <a:rPr lang="en-US" sz="1100" dirty="0">
                <a:solidFill>
                  <a:srgbClr val="5A7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r>
              <a:rPr lang="en-US" sz="11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ne bougent ni au travail, ni à côté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en 5 étapes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logique : Extract → Transform → Load, instrumentée à chaque étape.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691640" cy="20116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161 salariés</a:t>
            </a:r>
            <a:endParaRPr lang="en-US" sz="1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Strava-like · 2 040 act.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1" name="Shape 9"/>
          <p:cNvSpPr/>
          <p:nvPr/>
        </p:nvSpPr>
        <p:spPr>
          <a:xfrm>
            <a:off x="326898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9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206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50520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contrôles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3" name="Shape 21"/>
          <p:cNvSpPr/>
          <p:nvPr/>
        </p:nvSpPr>
        <p:spPr>
          <a:xfrm>
            <a:off x="683514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4" name="Text 22"/>
          <p:cNvSpPr/>
          <p:nvPr/>
        </p:nvSpPr>
        <p:spPr>
          <a:xfrm>
            <a:off x="68351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9" name="Shape 27"/>
          <p:cNvSpPr/>
          <p:nvPr/>
        </p:nvSpPr>
        <p:spPr>
          <a:xfrm>
            <a:off x="861822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0" name="Text 28"/>
          <p:cNvSpPr/>
          <p:nvPr/>
        </p:nvSpPr>
        <p:spPr>
          <a:xfrm>
            <a:off x="86182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0100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règles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38360" y="2194560"/>
            <a:ext cx="1691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38360" y="2194560"/>
            <a:ext cx="1691640" cy="54864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01300" y="2423160"/>
            <a:ext cx="365760" cy="36576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6" name="Text 34"/>
          <p:cNvSpPr/>
          <p:nvPr/>
        </p:nvSpPr>
        <p:spPr>
          <a:xfrm>
            <a:off x="104013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8408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8 feuilles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monitoring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40280" y="3200400"/>
            <a:ext cx="164592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572000"/>
            <a:ext cx="73152" cy="9144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4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pilotage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12920" y="4572000"/>
            <a:ext cx="73152" cy="91440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47" name="Text 45"/>
          <p:cNvSpPr/>
          <p:nvPr/>
        </p:nvSpPr>
        <p:spPr>
          <a:xfrm>
            <a:off x="454152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4152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individuelles + récap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2000"/>
            <a:ext cx="353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077200" y="4572000"/>
            <a:ext cx="73152" cy="914400"/>
          </a:xfrm>
          <a:prstGeom prst="rect">
            <a:avLst/>
          </a:prstGeom>
          <a:solidFill>
            <a:srgbClr val="1B3760"/>
          </a:solidFill>
          <a:ln/>
        </p:spPr>
      </p:sp>
      <p:sp>
        <p:nvSpPr>
          <p:cNvPr id="51" name="Text 49"/>
          <p:cNvSpPr/>
          <p:nvPr/>
        </p:nvSpPr>
        <p:spPr>
          <a:xfrm>
            <a:off x="8305800" y="4736592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Monitoring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05800" y="507492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par run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 →  Excel multi-feuilles + JSON  →  consommé par PowerBI et Slack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techniques 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100 % open source / free tier — alignée avec l'esprit start-up.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Maîtrisé, gratuit, aucune infra requise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5152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numpy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via seed — démo fiable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1965960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93024" y="1965960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67344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</a:t>
            </a: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</a:t>
            </a:r>
            <a:r>
              <a:rPr lang="fr-FR" b="1" dirty="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b="1" dirty="0">
              <a:solidFill>
                <a:srgbClr val="0B25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67344" y="3044952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</a:t>
            </a:r>
            <a:r>
              <a:rPr lang="en-US" sz="1200" i="1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précis pour un POC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Block Kit pour messages riches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70832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0832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row_hash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645152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Reprocessing sans doublons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93024" y="3950208"/>
            <a:ext cx="365760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93024" y="3950208"/>
            <a:ext cx="73152" cy="17830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8" name="Text 36"/>
          <p:cNvSpPr/>
          <p:nvPr/>
        </p:nvSpPr>
        <p:spPr>
          <a:xfrm>
            <a:off x="8467344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67344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GitHub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467344" y="5029200"/>
            <a:ext cx="457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complet, exigé par la note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DONNÉES SYNTHÉTIQUES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Strava + validation géo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 d'activités générés, distance maison → bureau vérifiée.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sur 12 mois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55848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sportifs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63056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simulées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011680"/>
            <a:ext cx="260604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70264" y="2011680"/>
            <a:ext cx="2606040" cy="457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970264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42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70264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totale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STRAVA-LIKE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Distances, vitesses, horaires réalistes par sport.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489204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7731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Slack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5029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Bravo Juliette ! Tu viens de courir 10,8 km en 46 min ! 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65760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657600"/>
            <a:ext cx="73152" cy="219456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E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GÉOGRAPHIQUE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1362 av. des Platanes, 34970 Lattes  ·  geopy + Nominatim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470916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818888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/ Running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5093208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15 km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029700" y="470916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21140" y="4818888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 / Trottinette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21140" y="5093208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25 km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déclarations suspectes (au-delà des seuils) sont isolées dans une feuille « Alertes_Geo » et exclues de la prime.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QUALITÉ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:  100 / 100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contrôles automatiques exécutés à chaque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023360" cy="40233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468880"/>
            <a:ext cx="2377440" cy="2377440"/>
          </a:xfrm>
          <a:prstGeom prst="ellipse">
            <a:avLst/>
          </a:prstGeom>
          <a:solidFill>
            <a:srgbClr val="0F2D55"/>
          </a:solidFill>
          <a:ln w="63500">
            <a:solidFill>
              <a:srgbClr val="13C4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3716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3C4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 100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Data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161 salariés réels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6766560" cy="40233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194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CONTRÔLES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660904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d'ID salarié (RH)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98480" y="267919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6791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081528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026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Sport sans correspondance RH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698480" y="309981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0" y="3099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502152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3447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invalides (null ou ≤ 0)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698480" y="352044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3520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3922776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3867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déplacement non reconnus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698480" y="3941064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33" name="Text 31"/>
          <p:cNvSpPr/>
          <p:nvPr/>
        </p:nvSpPr>
        <p:spPr>
          <a:xfrm>
            <a:off x="10698480" y="39410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4343400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4288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d'embauche dans le futur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698480" y="43616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38" name="Text 36"/>
          <p:cNvSpPr/>
          <p:nvPr/>
        </p:nvSpPr>
        <p:spPr>
          <a:xfrm>
            <a:off x="10698480" y="43616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4764024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764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23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avec distance nulle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698480" y="478231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8480" y="4782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5184648"/>
            <a:ext cx="256032" cy="256032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23560" y="5129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géo &gt; seuils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698480" y="520293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0F8F2"/>
          </a:solidFill>
          <a:ln/>
        </p:spPr>
      </p:sp>
      <p:sp>
        <p:nvSpPr>
          <p:cNvPr id="48" name="Text 46"/>
          <p:cNvSpPr/>
          <p:nvPr/>
        </p:nvSpPr>
        <p:spPr>
          <a:xfrm>
            <a:off x="10698480" y="52029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seul contrôle échoue, le pipeline s'arrête  ·  alerte Slack envoyée automatiquement.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COMMUNICATION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 :  deux niveaux d'alertes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globale par run + une notification individuelle par activité.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3657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36576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E0F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C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global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exécution du pipeline.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4800600" cy="2331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pipeline-runs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SDS-bot </a:t>
            </a: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10:42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·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 salariés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 primes  ·  172 482 € / an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 bien-être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 :  100 / 100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440680" cy="3657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965960"/>
            <a:ext cx="73152" cy="365760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FFF4D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6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individuelle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2606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par activité détectée.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063240"/>
            <a:ext cx="4800600" cy="2331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bravo-sportifs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SDS-bot </a:t>
            </a: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10:42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749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Juliette Mendes !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viens de courir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 km en 46 min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énergie  !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d'environnement  SLACK_WEBHOOK_URL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</a:t>
            </a:r>
            <a:r>
              <a:rPr lang="en-US" sz="11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SCALABILITÉ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Reprocessing  :  la promesse tenue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solidFill>
            <a:srgbClr val="E0F8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59436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</a:t>
            </a: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à permettre de relancer l'historique des indicateurs si jamais une source est modifiée (taux ou données entrantes).</a:t>
            </a:r>
            <a:r>
              <a:rPr lang="en-US" sz="1600" b="1" dirty="0">
                <a:solidFill>
                  <a:srgbClr val="0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</a:t>
            </a: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Juliette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MD5 par ligne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sur ID + salaire + mode + sport + nb. activités. Si la règle change (taux 5 % → 7 %), le hash change.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816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820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5" name="Text 13"/>
          <p:cNvSpPr/>
          <p:nvPr/>
        </p:nvSpPr>
        <p:spPr>
          <a:xfrm>
            <a:off x="4648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684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relit ce qui a bougé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820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lignes au hash modifié sont rechargées. Aucun doublon créé, l'historique est préservé.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7680" y="2331720"/>
            <a:ext cx="350520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27720" y="260604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0" name="Text 18"/>
          <p:cNvSpPr/>
          <p:nvPr/>
        </p:nvSpPr>
        <p:spPr>
          <a:xfrm>
            <a:off x="84277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6360" y="2606040"/>
            <a:ext cx="249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27720" y="310896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porte son pipeline_run_date et sa pipeline_version : on sait toujours d'où vient un chiffre.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16916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FEUILLES EXCEL  →  POWERBI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Salariés_Complet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23694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3694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Éligibles_Prime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0148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0148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Éligibles_BienEtre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16602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6602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Alertes_Geo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KPI_Synthèse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9510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09510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Activités_Strava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855964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5964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02418" y="4663440"/>
            <a:ext cx="1181862" cy="320040"/>
          </a:xfrm>
          <a:prstGeom prst="roundRect">
            <a:avLst>
              <a:gd name="adj" fmla="val 14286"/>
            </a:avLst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02418" y="4663440"/>
            <a:ext cx="1181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Historique_Runs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" y="5212080"/>
            <a:ext cx="10607040" cy="502920"/>
          </a:xfrm>
          <a:prstGeom prst="rect">
            <a:avLst/>
          </a:prstGeom>
          <a:solidFill>
            <a:srgbClr val="06182E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C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run_pipeline.py</a:t>
            </a:r>
            <a:r>
              <a:rPr lang="en-US" sz="1200" dirty="0">
                <a:solidFill>
                  <a:srgbClr val="9D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  nouveau run, hashes recalculés, PowerBI synchronisé.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prime et le seuil d'activités vivent dans CONFIG  :  un seul endroit à modifier.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RGPD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couches, trois publics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 :  qui voit quoi 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2286000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52044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BRUTE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DBA uniquement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Prénom, Adresse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brut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 chiffré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3108960"/>
            <a:ext cx="1828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1965960"/>
            <a:ext cx="3520440" cy="2286000"/>
          </a:xfrm>
          <a:prstGeom prst="rect">
            <a:avLst/>
          </a:prstGeom>
          <a:solidFill>
            <a:srgbClr val="0F9C82"/>
          </a:solidFill>
          <a:ln w="7620">
            <a:solidFill>
              <a:srgbClr val="0F9C82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965960"/>
            <a:ext cx="3520440" cy="73152"/>
          </a:xfrm>
          <a:prstGeom prst="rect">
            <a:avLst/>
          </a:prstGeom>
          <a:solidFill>
            <a:srgbClr val="0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ANALYTIQUE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C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Analystes / PowerBI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pseudonymisé (SHA-256)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contrat, éligibilité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0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/ Prénom retirés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3108960"/>
            <a:ext cx="1828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965960"/>
            <a:ext cx="352044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F5B40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965960"/>
            <a:ext cx="352044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E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PRÉSENTATION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Managers / Direction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063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par BU uniquement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individu identifiable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PowerBI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DROITS RGPD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l'effacement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l'ID dans la source  →  relancer le pipeline  →  disparu partout.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d'accès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couche agrégée est exposée. ID pseudonymisés en analytique.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572000"/>
            <a:ext cx="352044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4572000"/>
            <a:ext cx="54864" cy="132588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rectification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la source  →  reprocess  →  PowerBI mis à jour via le hash.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DÉMONSTRATION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live en 5 étapes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 exact prévu pour la soutenance.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les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DonnéesRH.xlsx (161 sal.) + DonnéesSportive.xlsx — pointer la colonne « Pratique d'un sport ».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90088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644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Kestra→  observer les 6 étapes : Extract · DQ 100/100 · Géo · Transform · Load · Slack.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77056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Slack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513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terminal  :  récap global + 3 messages individuels (nom · distance · sport).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81144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764024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64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700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rapport PBI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03834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KPI_Synthèse  →  Éligibles_Prime  → </a:t>
            </a:r>
            <a:r>
              <a:rPr lang="en-US" sz="1100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Éligibles_BE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110642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254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5650992"/>
            <a:ext cx="411480" cy="411480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650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586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le reprocessing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9253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TAUX_PRIME 0.05 → 0.07 →  relancer  →  </a:t>
            </a:r>
            <a:r>
              <a:rPr lang="en-US" sz="1100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l’évolution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v2.0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3C4A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BILAN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POC démontre  ·  ce qu'il faudra industrialiser.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40680" cy="393192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5440680" cy="73152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POC LIVRE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 ·  6 étapes  ·  Extract → DQ → Géo → Transform → Load → Slack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conformes  :  5 j bien-être, ≥ 15 activités, validation géo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Strava-like  ·  2 040 activités, 15 sports, seed reproductible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·  7 contrôles automatiques  ·  100/100 sur données réelles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  ·  récap global + alertes individuelles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MD5  ·  reprocessing PowerBI sans doublons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 ·  3 couches + pseudonymisation SHA-256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440680" cy="3931920"/>
          </a:xfrm>
          <a:prstGeom prst="rect">
            <a:avLst/>
          </a:prstGeom>
          <a:solidFill>
            <a:srgbClr val="0F2D55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03120"/>
            <a:ext cx="544068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880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row-level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172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les fichiers Excel sources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950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et scheduling mensuel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4434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API réelle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727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simulateur 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5212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Service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5504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+ refresh planifié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6355080"/>
            <a:ext cx="27432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6236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 ·  POC Data Engineering  ·  Avril 2026  ·  v2.0.0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1479</Words>
  <Application>Microsoft Office PowerPoint</Application>
  <PresentationFormat>Grand écran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Data Solution — POC Pipeline (digestible edition)</dc:title>
  <dc:subject>PptxGenJS Presentation</dc:subject>
  <dc:creator>Mathieu — Data Engineering POC</dc:creator>
  <cp:lastModifiedBy>Mathieu Lowagie</cp:lastModifiedBy>
  <cp:revision>3</cp:revision>
  <dcterms:created xsi:type="dcterms:W3CDTF">2026-04-29T05:54:58Z</dcterms:created>
  <dcterms:modified xsi:type="dcterms:W3CDTF">2026-04-29T10:16:28Z</dcterms:modified>
</cp:coreProperties>
</file>