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12.png" ContentType="image/png"/>
  <Override PartName="/ppt/media/image9.png" ContentType="image/png"/>
  <Override PartName="/ppt/media/image20.png" ContentType="image/png"/>
  <Override PartName="/ppt/media/image18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31.png" ContentType="image/png"/>
  <Override PartName="/ppt/media/image32.png" ContentType="image/png"/>
  <Override PartName="/ppt/media/image40.png" ContentType="image/png"/>
  <Override PartName="/ppt/media/image41.png" ContentType="image/png"/>
  <Override PartName="/ppt/media/image30.png" ContentType="image/png"/>
  <Override PartName="/ppt/media/image42.png" ContentType="image/pn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39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38.png" ContentType="image/png"/>
  <Override PartName="/ppt/media/image6.png" ContentType="image/png"/>
  <Override PartName="/ppt/media/image15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ez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pour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dépl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acer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la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diap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o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2C2DD27-6BF3-4329-9568-B264568A4844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79DE95-34F9-41E4-89EA-AECB36450248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DB9F47-4B46-4C2A-B67E-B8D9BDE2FD1E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A21353-63E9-4D00-9AD1-3E9DF62AD9B3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15CFBF3-216E-4BAE-BD05-2167C00817DA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9087A8-9018-479D-B65A-3CCE829928F8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EE204F-5FBF-431B-B0E3-232B147C8C06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124196-FA7A-4A1A-A93D-6C30FE2840B4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C9828F-A559-4D3B-81DB-E821F380B439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9E44BB-3F76-458F-8773-F32E30BF8C55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2F8F75-80C2-43FC-B6E7-60BFEBDA86E4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86C1E0-6380-4F73-A58E-14785C2C065E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87FFC8-046F-4FE1-859B-ACB3428D7AA3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2.png"/><Relationship Id="rId12" Type="http://schemas.openxmlformats.org/officeDocument/2006/relationships/image" Target="../media/image33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22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640080" y="6858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392" strike="noStrike">
                <a:solidFill>
                  <a:srgbClr val="ec4899"/>
                </a:solidFill>
                <a:latin typeface="Calibri"/>
                <a:ea typeface="Calibri"/>
              </a:rPr>
              <a:t>POC · DATA ENGINEERING · SOUTENANCE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40080" y="1051560"/>
            <a:ext cx="82285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5400" spc="-1" strike="noStrike">
                <a:solidFill>
                  <a:srgbClr val="ffffff"/>
                </a:solidFill>
                <a:latin typeface="Calibri"/>
                <a:ea typeface="Calibri"/>
              </a:rPr>
              <a:t>Sport Data Solution.</a:t>
            </a:r>
            <a:endParaRPr b="0" lang="fr-FR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2057400"/>
            <a:ext cx="822852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600" spc="-1" strike="noStrike">
                <a:solidFill>
                  <a:srgbClr val="cadcfc"/>
                </a:solidFill>
                <a:latin typeface="Calibri"/>
                <a:ea typeface="Calibri"/>
              </a:rPr>
              <a:t>Pipeline ETL bout en bout — automatisation du système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600" spc="-1" strike="noStrike">
                <a:solidFill>
                  <a:srgbClr val="cadcfc"/>
                </a:solidFill>
                <a:latin typeface="Calibri"/>
                <a:ea typeface="Calibri"/>
              </a:rPr>
              <a:t>de récompenses sportives. Robuste, sécurisé, idempotent.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640080" y="3246120"/>
            <a:ext cx="1873440" cy="1187640"/>
          </a:xfrm>
          <a:prstGeom prst="rect">
            <a:avLst/>
          </a:prstGeom>
          <a:solidFill>
            <a:srgbClr val="132152"/>
          </a:solidFill>
          <a:ln w="12700">
            <a:solidFill>
              <a:srgbClr val="1321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640080" y="3246120"/>
            <a:ext cx="1873440" cy="3189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" name="Image 0" descr="preencoded.png"/>
          <p:cNvPicPr/>
          <p:nvPr/>
        </p:nvPicPr>
        <p:blipFill>
          <a:blip r:embed="rId1"/>
          <a:stretch/>
        </p:blipFill>
        <p:spPr>
          <a:xfrm>
            <a:off x="1463040" y="3300840"/>
            <a:ext cx="218520" cy="218520"/>
          </a:xfrm>
          <a:prstGeom prst="rect">
            <a:avLst/>
          </a:prstGeom>
          <a:ln w="0">
            <a:noFill/>
          </a:ln>
        </p:spPr>
      </p:pic>
      <p:sp>
        <p:nvSpPr>
          <p:cNvPr id="15" name="Text 6"/>
          <p:cNvSpPr/>
          <p:nvPr/>
        </p:nvSpPr>
        <p:spPr>
          <a:xfrm>
            <a:off x="640080" y="3584520"/>
            <a:ext cx="18734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600" spc="-1" strike="noStrike">
                <a:solidFill>
                  <a:srgbClr val="ffffff"/>
                </a:solidFill>
                <a:latin typeface="Calibri"/>
                <a:ea typeface="Calibri"/>
              </a:rPr>
              <a:t>161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640080" y="4023360"/>
            <a:ext cx="18734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92" strike="noStrike">
                <a:solidFill>
                  <a:srgbClr val="ec4899"/>
                </a:solidFill>
                <a:latin typeface="Calibri"/>
                <a:ea typeface="Calibri"/>
              </a:rPr>
              <a:t>salariés analysés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640080" y="4224600"/>
            <a:ext cx="18734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94c7e0"/>
                </a:solidFill>
                <a:latin typeface="Calibri"/>
                <a:ea typeface="Calibri"/>
              </a:rPr>
              <a:t>Base RH complète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2697480" y="3246120"/>
            <a:ext cx="1873440" cy="1187640"/>
          </a:xfrm>
          <a:prstGeom prst="rect">
            <a:avLst/>
          </a:prstGeom>
          <a:solidFill>
            <a:srgbClr val="132152"/>
          </a:solidFill>
          <a:ln w="12700">
            <a:solidFill>
              <a:srgbClr val="1321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2697480" y="3246120"/>
            <a:ext cx="1873440" cy="318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" name="Image 1" descr="preencoded.png"/>
          <p:cNvPicPr/>
          <p:nvPr/>
        </p:nvPicPr>
        <p:blipFill>
          <a:blip r:embed="rId2"/>
          <a:stretch/>
        </p:blipFill>
        <p:spPr>
          <a:xfrm>
            <a:off x="3520440" y="3300840"/>
            <a:ext cx="218520" cy="218520"/>
          </a:xfrm>
          <a:prstGeom prst="rect">
            <a:avLst/>
          </a:prstGeom>
          <a:ln w="0">
            <a:noFill/>
          </a:ln>
        </p:spPr>
      </p:pic>
      <p:sp>
        <p:nvSpPr>
          <p:cNvPr id="21" name="Text 11"/>
          <p:cNvSpPr/>
          <p:nvPr/>
        </p:nvSpPr>
        <p:spPr>
          <a:xfrm>
            <a:off x="2697480" y="3584520"/>
            <a:ext cx="18734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600" spc="-1" strike="noStrike">
                <a:solidFill>
                  <a:srgbClr val="ffffff"/>
                </a:solidFill>
                <a:latin typeface="Calibri"/>
                <a:ea typeface="Calibri"/>
              </a:rPr>
              <a:t>68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2697480" y="4023360"/>
            <a:ext cx="18734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92" strike="noStrike">
                <a:solidFill>
                  <a:srgbClr val="22c55e"/>
                </a:solidFill>
                <a:latin typeface="Calibri"/>
                <a:ea typeface="Calibri"/>
              </a:rPr>
              <a:t>éligibles prime 5 %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2697480" y="4224600"/>
            <a:ext cx="18734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94c7e0"/>
                </a:solidFill>
                <a:latin typeface="Calibri"/>
                <a:ea typeface="Calibri"/>
              </a:rPr>
              <a:t>Transport actif validé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4754880" y="3246120"/>
            <a:ext cx="1873440" cy="1187640"/>
          </a:xfrm>
          <a:prstGeom prst="rect">
            <a:avLst/>
          </a:prstGeom>
          <a:solidFill>
            <a:srgbClr val="132152"/>
          </a:solidFill>
          <a:ln w="12700">
            <a:solidFill>
              <a:srgbClr val="1321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4754880" y="3246120"/>
            <a:ext cx="1873440" cy="318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" name="Image 2" descr="preencoded.png"/>
          <p:cNvPicPr/>
          <p:nvPr/>
        </p:nvPicPr>
        <p:blipFill>
          <a:blip r:embed="rId3"/>
          <a:stretch/>
        </p:blipFill>
        <p:spPr>
          <a:xfrm>
            <a:off x="5577840" y="3300840"/>
            <a:ext cx="218520" cy="218520"/>
          </a:xfrm>
          <a:prstGeom prst="rect">
            <a:avLst/>
          </a:prstGeom>
          <a:ln w="0">
            <a:noFill/>
          </a:ln>
        </p:spPr>
      </p:pic>
      <p:sp>
        <p:nvSpPr>
          <p:cNvPr id="27" name="Text 16"/>
          <p:cNvSpPr/>
          <p:nvPr/>
        </p:nvSpPr>
        <p:spPr>
          <a:xfrm>
            <a:off x="4754880" y="3584520"/>
            <a:ext cx="18734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600" spc="-1" strike="noStrike">
                <a:solidFill>
                  <a:srgbClr val="ffffff"/>
                </a:solidFill>
                <a:latin typeface="Calibri"/>
                <a:ea typeface="Calibri"/>
              </a:rPr>
              <a:t>69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7"/>
          <p:cNvSpPr/>
          <p:nvPr/>
        </p:nvSpPr>
        <p:spPr>
          <a:xfrm>
            <a:off x="4754880" y="4023360"/>
            <a:ext cx="18734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92" strike="noStrike">
                <a:solidFill>
                  <a:srgbClr val="f59e0b"/>
                </a:solidFill>
                <a:latin typeface="Calibri"/>
                <a:ea typeface="Calibri"/>
              </a:rPr>
              <a:t>éligibles bien-être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4754880" y="4224600"/>
            <a:ext cx="18734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94c7e0"/>
                </a:solidFill>
                <a:latin typeface="Calibri"/>
                <a:ea typeface="Calibri"/>
              </a:rPr>
              <a:t>≥ </a:t>
            </a:r>
            <a:r>
              <a:rPr b="0" i="1" lang="fr-FR" sz="850" spc="-1" strike="noStrike">
                <a:solidFill>
                  <a:srgbClr val="94c7e0"/>
                </a:solidFill>
                <a:latin typeface="Calibri"/>
                <a:ea typeface="Calibri"/>
              </a:rPr>
              <a:t>15 activités / 12 mois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19"/>
          <p:cNvSpPr/>
          <p:nvPr/>
        </p:nvSpPr>
        <p:spPr>
          <a:xfrm>
            <a:off x="6812280" y="3246120"/>
            <a:ext cx="1873440" cy="1187640"/>
          </a:xfrm>
          <a:prstGeom prst="rect">
            <a:avLst/>
          </a:prstGeom>
          <a:solidFill>
            <a:srgbClr val="132152"/>
          </a:solidFill>
          <a:ln w="12700">
            <a:solidFill>
              <a:srgbClr val="1321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0"/>
          <p:cNvSpPr/>
          <p:nvPr/>
        </p:nvSpPr>
        <p:spPr>
          <a:xfrm>
            <a:off x="6812280" y="3246120"/>
            <a:ext cx="1873440" cy="318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" name="Image 3" descr="preencoded.png"/>
          <p:cNvPicPr/>
          <p:nvPr/>
        </p:nvPicPr>
        <p:blipFill>
          <a:blip r:embed="rId4"/>
          <a:stretch/>
        </p:blipFill>
        <p:spPr>
          <a:xfrm>
            <a:off x="7635240" y="3300840"/>
            <a:ext cx="218520" cy="218520"/>
          </a:xfrm>
          <a:prstGeom prst="rect">
            <a:avLst/>
          </a:prstGeom>
          <a:ln w="0">
            <a:noFill/>
          </a:ln>
        </p:spPr>
      </p:pic>
      <p:sp>
        <p:nvSpPr>
          <p:cNvPr id="33" name="Text 21"/>
          <p:cNvSpPr/>
          <p:nvPr/>
        </p:nvSpPr>
        <p:spPr>
          <a:xfrm>
            <a:off x="6812280" y="3584520"/>
            <a:ext cx="18734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600" spc="-1" strike="noStrike">
                <a:solidFill>
                  <a:srgbClr val="ffffff"/>
                </a:solidFill>
                <a:latin typeface="Calibri"/>
                <a:ea typeface="Calibri"/>
              </a:rPr>
              <a:t>172 482 €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2"/>
          <p:cNvSpPr/>
          <p:nvPr/>
        </p:nvSpPr>
        <p:spPr>
          <a:xfrm>
            <a:off x="6812280" y="4023360"/>
            <a:ext cx="18734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92" strike="noStrike">
                <a:solidFill>
                  <a:srgbClr val="1c7293"/>
                </a:solidFill>
                <a:latin typeface="Calibri"/>
                <a:ea typeface="Calibri"/>
              </a:rPr>
              <a:t>budget annuel primes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23"/>
          <p:cNvSpPr/>
          <p:nvPr/>
        </p:nvSpPr>
        <p:spPr>
          <a:xfrm>
            <a:off x="6812280" y="4224600"/>
            <a:ext cx="18734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94c7e0"/>
                </a:solidFill>
                <a:latin typeface="Calibri"/>
                <a:ea typeface="Calibri"/>
              </a:rPr>
              <a:t>Calcul automatisé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" name="Image 4" descr="preencoded.png"/>
          <p:cNvPicPr/>
          <p:nvPr/>
        </p:nvPicPr>
        <p:blipFill>
          <a:blip r:embed="rId5">
            <a:alphaModFix amt="30000"/>
          </a:blip>
          <a:stretch/>
        </p:blipFill>
        <p:spPr>
          <a:xfrm>
            <a:off x="6858000" y="274320"/>
            <a:ext cx="2284920" cy="2284920"/>
          </a:xfrm>
          <a:prstGeom prst="rect">
            <a:avLst/>
          </a:prstGeom>
          <a:ln w="0">
            <a:noFill/>
          </a:ln>
        </p:spPr>
      </p:pic>
      <p:sp>
        <p:nvSpPr>
          <p:cNvPr id="37" name="Text 24"/>
          <p:cNvSpPr/>
          <p:nvPr/>
        </p:nvSpPr>
        <p:spPr>
          <a:xfrm>
            <a:off x="640080" y="46634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000" spc="-1" strike="noStrike">
                <a:solidFill>
                  <a:srgbClr val="94c7e0"/>
                </a:solidFill>
                <a:latin typeface="Calibri"/>
                <a:ea typeface="Calibri"/>
              </a:rPr>
              <a:t>Master 2 Data Engineering · Avril 2026 · v3.1.0 · Stack Python · Kestra · Open Source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365760" y="0"/>
            <a:ext cx="2742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293" strike="noStrike">
                <a:solidFill>
                  <a:srgbClr val="ffffff"/>
                </a:solidFill>
                <a:latin typeface="Calibri"/>
                <a:ea typeface="Calibri"/>
              </a:rPr>
              <a:t>SPORT DATA SOLUTION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3200400" y="0"/>
            <a:ext cx="4113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194" strike="noStrike">
                <a:solidFill>
                  <a:srgbClr val="94c7e0"/>
                </a:solidFill>
                <a:latin typeface="Calibri"/>
                <a:ea typeface="Calibri"/>
              </a:rPr>
              <a:t>PARTIE I · CONTEXTE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7680960" y="0"/>
            <a:ext cx="12790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02 / 10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0" y="4974480"/>
            <a:ext cx="91429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750" spc="-1" strike="noStrike">
                <a:solidFill>
                  <a:srgbClr val="64748b"/>
                </a:solidFill>
                <a:latin typeface="Calibri"/>
                <a:ea typeface="Calibri"/>
              </a:rPr>
              <a:t>Sport Data Solution · POC Data Engineering · Avril 2026 · v3.1.0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365760" y="438840"/>
            <a:ext cx="841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1e293b"/>
                </a:solidFill>
                <a:latin typeface="Calibri"/>
                <a:ea typeface="Calibri"/>
              </a:rPr>
              <a:t>Le brief de Juliette, et les 6 chantiers qu'il impose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365760" y="896040"/>
            <a:ext cx="8411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100" spc="-1" strike="noStrike">
                <a:solidFill>
                  <a:srgbClr val="64748b"/>
                </a:solidFill>
                <a:latin typeface="Calibri"/>
                <a:ea typeface="Calibri"/>
              </a:rPr>
              <a:t>Du socle RGPD au dashboard PowerBI — bout en bout, reproductible, zéro intervention manuelle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7"/>
          <p:cNvSpPr/>
          <p:nvPr/>
        </p:nvSpPr>
        <p:spPr>
          <a:xfrm>
            <a:off x="365760" y="1325880"/>
            <a:ext cx="8411400" cy="776160"/>
          </a:xfrm>
          <a:prstGeom prst="rect">
            <a:avLst/>
          </a:prstGeom>
          <a:solidFill>
            <a:srgbClr val="fff4e6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8"/>
          <p:cNvSpPr/>
          <p:nvPr/>
        </p:nvSpPr>
        <p:spPr>
          <a:xfrm>
            <a:off x="365760" y="1325880"/>
            <a:ext cx="90360" cy="776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9"/>
          <p:cNvSpPr/>
          <p:nvPr/>
        </p:nvSpPr>
        <p:spPr>
          <a:xfrm>
            <a:off x="594360" y="1481400"/>
            <a:ext cx="501840" cy="501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Image 0" descr="preencoded.png"/>
          <p:cNvPicPr/>
          <p:nvPr/>
        </p:nvPicPr>
        <p:blipFill>
          <a:blip r:embed="rId1"/>
          <a:stretch/>
        </p:blipFill>
        <p:spPr>
          <a:xfrm>
            <a:off x="704160" y="1572840"/>
            <a:ext cx="282240" cy="282240"/>
          </a:xfrm>
          <a:prstGeom prst="rect">
            <a:avLst/>
          </a:prstGeom>
          <a:ln w="0">
            <a:noFill/>
          </a:ln>
        </p:spPr>
      </p:pic>
      <p:sp>
        <p:nvSpPr>
          <p:cNvPr id="49" name="Text 10"/>
          <p:cNvSpPr/>
          <p:nvPr/>
        </p:nvSpPr>
        <p:spPr>
          <a:xfrm>
            <a:off x="1234440" y="1371600"/>
            <a:ext cx="74512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050" spc="-1" strike="noStrike">
                <a:solidFill>
                  <a:srgbClr val="1e293b"/>
                </a:solidFill>
                <a:latin typeface="Calibri"/>
                <a:ea typeface="Calibri"/>
              </a:rPr>
              <a:t>Je souhaite récompenser les salariés qui s'engagent dans des pratiques sportives régulières. Une prime pour les trajets actifs, 5 jours bien-être pour les sportifs réguliers. L'essentiel c'est que l'ensemble du projet soit robuste, sécurisé et fonctionnel.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1234440" y="1828800"/>
            <a:ext cx="745128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— </a:t>
            </a: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Juliette Mendes · Co-fondatrice · extrait brief de cadrage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2"/>
          <p:cNvSpPr/>
          <p:nvPr/>
        </p:nvSpPr>
        <p:spPr>
          <a:xfrm>
            <a:off x="365760" y="2286000"/>
            <a:ext cx="2723760" cy="111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3"/>
          <p:cNvSpPr/>
          <p:nvPr/>
        </p:nvSpPr>
        <p:spPr>
          <a:xfrm>
            <a:off x="365760" y="2286000"/>
            <a:ext cx="72000" cy="1114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2541960" y="2359080"/>
            <a:ext cx="456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065a82"/>
                </a:solidFill>
                <a:latin typeface="Consolas"/>
                <a:ea typeface="Consolas"/>
              </a:rPr>
              <a:t>01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15"/>
          <p:cNvSpPr/>
          <p:nvPr/>
        </p:nvSpPr>
        <p:spPr>
          <a:xfrm>
            <a:off x="548640" y="2395800"/>
            <a:ext cx="327960" cy="327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5" name="Image 1" descr="preencoded.png"/>
          <p:cNvPicPr/>
          <p:nvPr/>
        </p:nvPicPr>
        <p:blipFill>
          <a:blip r:embed="rId2"/>
          <a:stretch/>
        </p:blipFill>
        <p:spPr>
          <a:xfrm>
            <a:off x="612720" y="245988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56" name="Text 16"/>
          <p:cNvSpPr/>
          <p:nvPr/>
        </p:nvSpPr>
        <p:spPr>
          <a:xfrm>
            <a:off x="548640" y="2770560"/>
            <a:ext cx="2449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50" spc="-1" strike="noStrike">
                <a:solidFill>
                  <a:srgbClr val="1e293b"/>
                </a:solidFill>
                <a:latin typeface="Calibri"/>
                <a:ea typeface="Calibri"/>
              </a:rPr>
              <a:t>Infrastructure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7"/>
          <p:cNvSpPr/>
          <p:nvPr/>
        </p:nvSpPr>
        <p:spPr>
          <a:xfrm>
            <a:off x="548640" y="3035520"/>
            <a:ext cx="2359080" cy="360"/>
          </a:xfrm>
          <a:prstGeom prst="line">
            <a:avLst/>
          </a:prstGeom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8"/>
          <p:cNvSpPr/>
          <p:nvPr/>
        </p:nvSpPr>
        <p:spPr>
          <a:xfrm>
            <a:off x="548640" y="3072240"/>
            <a:ext cx="24494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1e293b"/>
                </a:solidFill>
                <a:latin typeface="Calibri"/>
                <a:ea typeface="Calibri"/>
              </a:rPr>
              <a:t>PostgreSQL 16 cloisonné en 3 schémas RGPD · rôles DBA / analyste / manager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19"/>
          <p:cNvSpPr/>
          <p:nvPr/>
        </p:nvSpPr>
        <p:spPr>
          <a:xfrm>
            <a:off x="3191400" y="2286000"/>
            <a:ext cx="2723760" cy="111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20"/>
          <p:cNvSpPr/>
          <p:nvPr/>
        </p:nvSpPr>
        <p:spPr>
          <a:xfrm>
            <a:off x="3191400" y="2286000"/>
            <a:ext cx="72000" cy="1114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5367600" y="2359080"/>
            <a:ext cx="456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1c7293"/>
                </a:solidFill>
                <a:latin typeface="Consolas"/>
                <a:ea typeface="Consolas"/>
              </a:rPr>
              <a:t>02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22"/>
          <p:cNvSpPr/>
          <p:nvPr/>
        </p:nvSpPr>
        <p:spPr>
          <a:xfrm>
            <a:off x="3374280" y="2395800"/>
            <a:ext cx="327960" cy="327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3" name="Image 2" descr="preencoded.png"/>
          <p:cNvPicPr/>
          <p:nvPr/>
        </p:nvPicPr>
        <p:blipFill>
          <a:blip r:embed="rId3"/>
          <a:stretch/>
        </p:blipFill>
        <p:spPr>
          <a:xfrm>
            <a:off x="3438000" y="245988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64" name="Text 23"/>
          <p:cNvSpPr/>
          <p:nvPr/>
        </p:nvSpPr>
        <p:spPr>
          <a:xfrm>
            <a:off x="3374280" y="2770560"/>
            <a:ext cx="2449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50" spc="-1" strike="noStrike">
                <a:solidFill>
                  <a:srgbClr val="1e293b"/>
                </a:solidFill>
                <a:latin typeface="Calibri"/>
                <a:ea typeface="Calibri"/>
              </a:rPr>
              <a:t>Générateur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24"/>
          <p:cNvSpPr/>
          <p:nvPr/>
        </p:nvSpPr>
        <p:spPr>
          <a:xfrm>
            <a:off x="3373920" y="3035520"/>
            <a:ext cx="2359080" cy="360"/>
          </a:xfrm>
          <a:prstGeom prst="line">
            <a:avLst/>
          </a:prstGeom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25"/>
          <p:cNvSpPr/>
          <p:nvPr/>
        </p:nvSpPr>
        <p:spPr>
          <a:xfrm>
            <a:off x="3374280" y="3072240"/>
            <a:ext cx="24494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1e293b"/>
                </a:solidFill>
                <a:latin typeface="Calibri"/>
                <a:ea typeface="Calibri"/>
              </a:rPr>
              <a:t>Simulateur Strava-like · 2 040 activités · 15 disciplines · seed reproductible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26"/>
          <p:cNvSpPr/>
          <p:nvPr/>
        </p:nvSpPr>
        <p:spPr>
          <a:xfrm>
            <a:off x="6016680" y="2286000"/>
            <a:ext cx="2723760" cy="111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27"/>
          <p:cNvSpPr/>
          <p:nvPr/>
        </p:nvSpPr>
        <p:spPr>
          <a:xfrm>
            <a:off x="6016680" y="2286000"/>
            <a:ext cx="72000" cy="11145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28"/>
          <p:cNvSpPr/>
          <p:nvPr/>
        </p:nvSpPr>
        <p:spPr>
          <a:xfrm>
            <a:off x="8192880" y="2359080"/>
            <a:ext cx="456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22c55e"/>
                </a:solidFill>
                <a:latin typeface="Consolas"/>
                <a:ea typeface="Consolas"/>
              </a:rPr>
              <a:t>03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29"/>
          <p:cNvSpPr/>
          <p:nvPr/>
        </p:nvSpPr>
        <p:spPr>
          <a:xfrm>
            <a:off x="6199560" y="2395800"/>
            <a:ext cx="327960" cy="3279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" name="Image 3" descr="preencoded.png"/>
          <p:cNvPicPr/>
          <p:nvPr/>
        </p:nvPicPr>
        <p:blipFill>
          <a:blip r:embed="rId4"/>
          <a:stretch/>
        </p:blipFill>
        <p:spPr>
          <a:xfrm>
            <a:off x="6263640" y="245988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72" name="Text 30"/>
          <p:cNvSpPr/>
          <p:nvPr/>
        </p:nvSpPr>
        <p:spPr>
          <a:xfrm>
            <a:off x="6199560" y="2770560"/>
            <a:ext cx="2449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50" spc="-1" strike="noStrike">
                <a:solidFill>
                  <a:srgbClr val="1e293b"/>
                </a:solidFill>
                <a:latin typeface="Calibri"/>
                <a:ea typeface="Calibri"/>
              </a:rPr>
              <a:t>Data Quality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31"/>
          <p:cNvSpPr/>
          <p:nvPr/>
        </p:nvSpPr>
        <p:spPr>
          <a:xfrm>
            <a:off x="6199560" y="3035520"/>
            <a:ext cx="2359080" cy="360"/>
          </a:xfrm>
          <a:prstGeom prst="line">
            <a:avLst/>
          </a:prstGeom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32"/>
          <p:cNvSpPr/>
          <p:nvPr/>
        </p:nvSpPr>
        <p:spPr>
          <a:xfrm>
            <a:off x="6199560" y="3072240"/>
            <a:ext cx="24494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1e293b"/>
                </a:solidFill>
                <a:latin typeface="Calibri"/>
                <a:ea typeface="Calibri"/>
              </a:rPr>
              <a:t>Great Expectations + scoring /100 · bloquant si score &lt; 80 · 7 checks métier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33"/>
          <p:cNvSpPr/>
          <p:nvPr/>
        </p:nvSpPr>
        <p:spPr>
          <a:xfrm>
            <a:off x="365760" y="3493080"/>
            <a:ext cx="2723760" cy="111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34"/>
          <p:cNvSpPr/>
          <p:nvPr/>
        </p:nvSpPr>
        <p:spPr>
          <a:xfrm>
            <a:off x="365760" y="3493080"/>
            <a:ext cx="72000" cy="1114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35"/>
          <p:cNvSpPr/>
          <p:nvPr/>
        </p:nvSpPr>
        <p:spPr>
          <a:xfrm>
            <a:off x="2541960" y="3566160"/>
            <a:ext cx="456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8b5cf6"/>
                </a:solidFill>
                <a:latin typeface="Consolas"/>
                <a:ea typeface="Consolas"/>
              </a:rPr>
              <a:t>04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36"/>
          <p:cNvSpPr/>
          <p:nvPr/>
        </p:nvSpPr>
        <p:spPr>
          <a:xfrm>
            <a:off x="548640" y="3602880"/>
            <a:ext cx="327960" cy="3279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" name="Image 4" descr="preencoded.png"/>
          <p:cNvPicPr/>
          <p:nvPr/>
        </p:nvPicPr>
        <p:blipFill>
          <a:blip r:embed="rId5"/>
          <a:stretch/>
        </p:blipFill>
        <p:spPr>
          <a:xfrm>
            <a:off x="612720" y="366660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80" name="Text 37"/>
          <p:cNvSpPr/>
          <p:nvPr/>
        </p:nvSpPr>
        <p:spPr>
          <a:xfrm>
            <a:off x="548640" y="3977640"/>
            <a:ext cx="2449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50" spc="-1" strike="noStrike">
                <a:solidFill>
                  <a:srgbClr val="1e293b"/>
                </a:solidFill>
                <a:latin typeface="Calibri"/>
                <a:ea typeface="Calibri"/>
              </a:rPr>
              <a:t>Pipeline ETL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38"/>
          <p:cNvSpPr/>
          <p:nvPr/>
        </p:nvSpPr>
        <p:spPr>
          <a:xfrm>
            <a:off x="548640" y="4242600"/>
            <a:ext cx="2359080" cy="360"/>
          </a:xfrm>
          <a:prstGeom prst="line">
            <a:avLst/>
          </a:prstGeom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39"/>
          <p:cNvSpPr/>
          <p:nvPr/>
        </p:nvSpPr>
        <p:spPr>
          <a:xfrm>
            <a:off x="548640" y="4279320"/>
            <a:ext cx="24494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1e293b"/>
                </a:solidFill>
                <a:latin typeface="Calibri"/>
                <a:ea typeface="Calibri"/>
              </a:rPr>
              <a:t>Extract · Generate · Geo · DQ · Transform · Load · Slack — 7 étapes isolées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40"/>
          <p:cNvSpPr/>
          <p:nvPr/>
        </p:nvSpPr>
        <p:spPr>
          <a:xfrm>
            <a:off x="3191400" y="3493080"/>
            <a:ext cx="2723760" cy="111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41"/>
          <p:cNvSpPr/>
          <p:nvPr/>
        </p:nvSpPr>
        <p:spPr>
          <a:xfrm>
            <a:off x="3191400" y="3493080"/>
            <a:ext cx="72000" cy="11145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42"/>
          <p:cNvSpPr/>
          <p:nvPr/>
        </p:nvSpPr>
        <p:spPr>
          <a:xfrm>
            <a:off x="5367600" y="3566160"/>
            <a:ext cx="456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ec4899"/>
                </a:solidFill>
                <a:latin typeface="Consolas"/>
                <a:ea typeface="Consolas"/>
              </a:rPr>
              <a:t>05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43"/>
          <p:cNvSpPr/>
          <p:nvPr/>
        </p:nvSpPr>
        <p:spPr>
          <a:xfrm>
            <a:off x="3374280" y="3602880"/>
            <a:ext cx="327960" cy="3279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7" name="Image 5" descr="preencoded.png"/>
          <p:cNvPicPr/>
          <p:nvPr/>
        </p:nvPicPr>
        <p:blipFill>
          <a:blip r:embed="rId6"/>
          <a:stretch/>
        </p:blipFill>
        <p:spPr>
          <a:xfrm>
            <a:off x="3438000" y="366660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88" name="Text 44"/>
          <p:cNvSpPr/>
          <p:nvPr/>
        </p:nvSpPr>
        <p:spPr>
          <a:xfrm>
            <a:off x="3374280" y="3977640"/>
            <a:ext cx="2449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50" spc="-1" strike="noStrike">
                <a:solidFill>
                  <a:srgbClr val="1e293b"/>
                </a:solidFill>
                <a:latin typeface="Calibri"/>
                <a:ea typeface="Calibri"/>
              </a:rPr>
              <a:t>Orchestration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45"/>
          <p:cNvSpPr/>
          <p:nvPr/>
        </p:nvSpPr>
        <p:spPr>
          <a:xfrm>
            <a:off x="3373920" y="4242600"/>
            <a:ext cx="2359080" cy="360"/>
          </a:xfrm>
          <a:prstGeom prst="line">
            <a:avLst/>
          </a:prstGeom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46"/>
          <p:cNvSpPr/>
          <p:nvPr/>
        </p:nvSpPr>
        <p:spPr>
          <a:xfrm>
            <a:off x="3374280" y="4279320"/>
            <a:ext cx="24494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1e293b"/>
                </a:solidFill>
                <a:latin typeface="Calibri"/>
                <a:ea typeface="Calibri"/>
              </a:rPr>
              <a:t>Kestra · UI paramétrable · retries automatiques · schedule quotidien 02:00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47"/>
          <p:cNvSpPr/>
          <p:nvPr/>
        </p:nvSpPr>
        <p:spPr>
          <a:xfrm>
            <a:off x="6016680" y="3493080"/>
            <a:ext cx="2723760" cy="111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48"/>
          <p:cNvSpPr/>
          <p:nvPr/>
        </p:nvSpPr>
        <p:spPr>
          <a:xfrm>
            <a:off x="6016680" y="3493080"/>
            <a:ext cx="72000" cy="111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49"/>
          <p:cNvSpPr/>
          <p:nvPr/>
        </p:nvSpPr>
        <p:spPr>
          <a:xfrm>
            <a:off x="8192880" y="3566160"/>
            <a:ext cx="456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59e0b"/>
                </a:solidFill>
                <a:latin typeface="Consolas"/>
                <a:ea typeface="Consolas"/>
              </a:rPr>
              <a:t>06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50"/>
          <p:cNvSpPr/>
          <p:nvPr/>
        </p:nvSpPr>
        <p:spPr>
          <a:xfrm>
            <a:off x="6199560" y="3602880"/>
            <a:ext cx="327960" cy="327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Image 6" descr="preencoded.png"/>
          <p:cNvPicPr/>
          <p:nvPr/>
        </p:nvPicPr>
        <p:blipFill>
          <a:blip r:embed="rId7"/>
          <a:stretch/>
        </p:blipFill>
        <p:spPr>
          <a:xfrm>
            <a:off x="6263640" y="366660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96" name="Text 51"/>
          <p:cNvSpPr/>
          <p:nvPr/>
        </p:nvSpPr>
        <p:spPr>
          <a:xfrm>
            <a:off x="6199560" y="3977640"/>
            <a:ext cx="2449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50" spc="-1" strike="noStrike">
                <a:solidFill>
                  <a:srgbClr val="1e293b"/>
                </a:solidFill>
                <a:latin typeface="Calibri"/>
                <a:ea typeface="Calibri"/>
              </a:rPr>
              <a:t>Dashboard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52"/>
          <p:cNvSpPr/>
          <p:nvPr/>
        </p:nvSpPr>
        <p:spPr>
          <a:xfrm>
            <a:off x="6199560" y="4242600"/>
            <a:ext cx="2359080" cy="360"/>
          </a:xfrm>
          <a:prstGeom prst="line">
            <a:avLst/>
          </a:prstGeom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53"/>
          <p:cNvSpPr/>
          <p:nvPr/>
        </p:nvSpPr>
        <p:spPr>
          <a:xfrm>
            <a:off x="6199560" y="4279320"/>
            <a:ext cx="24494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1e293b"/>
                </a:solidFill>
                <a:latin typeface="Calibri"/>
                <a:ea typeface="Calibri"/>
              </a:rPr>
              <a:t>PowerBI Desktop · 8 feuilles Excel · Historique_Runs pour le reprocessing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365760" y="0"/>
            <a:ext cx="2742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293" strike="noStrike">
                <a:solidFill>
                  <a:srgbClr val="ffffff"/>
                </a:solidFill>
                <a:latin typeface="Calibri"/>
                <a:ea typeface="Calibri"/>
              </a:rPr>
              <a:t>SPORT DATA SOLUTION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2"/>
          <p:cNvSpPr/>
          <p:nvPr/>
        </p:nvSpPr>
        <p:spPr>
          <a:xfrm>
            <a:off x="3200400" y="0"/>
            <a:ext cx="4113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194" strike="noStrike">
                <a:solidFill>
                  <a:srgbClr val="94c7e0"/>
                </a:solidFill>
                <a:latin typeface="Calibri"/>
                <a:ea typeface="Calibri"/>
              </a:rPr>
              <a:t>PARTIE I · RÈGLES MÉTIER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3"/>
          <p:cNvSpPr/>
          <p:nvPr/>
        </p:nvSpPr>
        <p:spPr>
          <a:xfrm>
            <a:off x="7680960" y="0"/>
            <a:ext cx="12790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03 / 10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4"/>
          <p:cNvSpPr/>
          <p:nvPr/>
        </p:nvSpPr>
        <p:spPr>
          <a:xfrm>
            <a:off x="0" y="4974480"/>
            <a:ext cx="91429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750" spc="-1" strike="noStrike">
                <a:solidFill>
                  <a:srgbClr val="64748b"/>
                </a:solidFill>
                <a:latin typeface="Calibri"/>
                <a:ea typeface="Calibri"/>
              </a:rPr>
              <a:t>Sport Data Solution · POC Data Engineering · Avril 2026 · v3.1.0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365760" y="438840"/>
            <a:ext cx="841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1e293b"/>
                </a:solidFill>
                <a:latin typeface="Calibri"/>
                <a:ea typeface="Calibri"/>
              </a:rPr>
              <a:t>Du brief à la règle de calcul — deux avantages indépendants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365760" y="896040"/>
            <a:ext cx="8411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100" spc="-1" strike="noStrike">
                <a:solidFill>
                  <a:srgbClr val="64748b"/>
                </a:solidFill>
                <a:latin typeface="Calibri"/>
                <a:ea typeface="Calibri"/>
              </a:rPr>
              <a:t>108 salariés touchés par au moins une des deux règles · 29 bénéficient des deux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7"/>
          <p:cNvSpPr/>
          <p:nvPr/>
        </p:nvSpPr>
        <p:spPr>
          <a:xfrm>
            <a:off x="365760" y="1280160"/>
            <a:ext cx="4068000" cy="223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8"/>
          <p:cNvSpPr/>
          <p:nvPr/>
        </p:nvSpPr>
        <p:spPr>
          <a:xfrm>
            <a:off x="365760" y="1280160"/>
            <a:ext cx="4068000" cy="410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9"/>
          <p:cNvSpPr/>
          <p:nvPr/>
        </p:nvSpPr>
        <p:spPr>
          <a:xfrm>
            <a:off x="548640" y="1280160"/>
            <a:ext cx="16448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194" strike="noStrike">
                <a:solidFill>
                  <a:srgbClr val="ffffff"/>
                </a:solidFill>
                <a:latin typeface="Calibri"/>
                <a:ea typeface="Calibri"/>
              </a:rPr>
              <a:t>RÈGLE 01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0"/>
          <p:cNvSpPr/>
          <p:nvPr/>
        </p:nvSpPr>
        <p:spPr>
          <a:xfrm>
            <a:off x="2011680" y="1280160"/>
            <a:ext cx="23306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ffffff"/>
                </a:solidFill>
                <a:latin typeface="Calibri"/>
                <a:ea typeface="Calibri"/>
              </a:rPr>
              <a:t>68 bénéf. · 172 482 €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1"/>
          <p:cNvSpPr/>
          <p:nvPr/>
        </p:nvSpPr>
        <p:spPr>
          <a:xfrm>
            <a:off x="548640" y="1737360"/>
            <a:ext cx="37022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300" spc="-1" strike="noStrike">
                <a:solidFill>
                  <a:srgbClr val="1e293b"/>
                </a:solidFill>
                <a:latin typeface="Calibri"/>
                <a:ea typeface="Calibri"/>
              </a:rPr>
              <a:t>Prime de 5 % du salaire brut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2"/>
          <p:cNvSpPr/>
          <p:nvPr/>
        </p:nvSpPr>
        <p:spPr>
          <a:xfrm>
            <a:off x="548640" y="2084760"/>
            <a:ext cx="273240" cy="2732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2" name="Image 0" descr="preencoded.png"/>
          <p:cNvPicPr/>
          <p:nvPr/>
        </p:nvPicPr>
        <p:blipFill>
          <a:blip r:embed="rId1"/>
          <a:stretch/>
        </p:blipFill>
        <p:spPr>
          <a:xfrm>
            <a:off x="589680" y="2126160"/>
            <a:ext cx="190800" cy="190800"/>
          </a:xfrm>
          <a:prstGeom prst="rect">
            <a:avLst/>
          </a:prstGeom>
          <a:ln w="0">
            <a:noFill/>
          </a:ln>
        </p:spPr>
      </p:pic>
      <p:sp>
        <p:nvSpPr>
          <p:cNvPr id="113" name="Text 13"/>
          <p:cNvSpPr/>
          <p:nvPr/>
        </p:nvSpPr>
        <p:spPr>
          <a:xfrm>
            <a:off x="868680" y="2103120"/>
            <a:ext cx="33822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1e293b"/>
                </a:solidFill>
                <a:latin typeface="Calibri"/>
                <a:ea typeface="Calibri"/>
              </a:rPr>
              <a:t>Mode de déplacement actif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4"/>
          <p:cNvSpPr/>
          <p:nvPr/>
        </p:nvSpPr>
        <p:spPr>
          <a:xfrm>
            <a:off x="868680" y="2295000"/>
            <a:ext cx="3382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64748b"/>
                </a:solidFill>
                <a:latin typeface="Calibri"/>
                <a:ea typeface="Calibri"/>
              </a:rPr>
              <a:t>Vélo · Trottinette · Marche · Course à pied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15"/>
          <p:cNvSpPr/>
          <p:nvPr/>
        </p:nvSpPr>
        <p:spPr>
          <a:xfrm>
            <a:off x="548640" y="2560320"/>
            <a:ext cx="273240" cy="2732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6" name="Image 1" descr="preencoded.png"/>
          <p:cNvPicPr/>
          <p:nvPr/>
        </p:nvPicPr>
        <p:blipFill>
          <a:blip r:embed="rId2"/>
          <a:stretch/>
        </p:blipFill>
        <p:spPr>
          <a:xfrm>
            <a:off x="589680" y="2601360"/>
            <a:ext cx="190800" cy="190800"/>
          </a:xfrm>
          <a:prstGeom prst="rect">
            <a:avLst/>
          </a:prstGeom>
          <a:ln w="0">
            <a:noFill/>
          </a:ln>
        </p:spPr>
      </p:pic>
      <p:sp>
        <p:nvSpPr>
          <p:cNvPr id="117" name="Text 16"/>
          <p:cNvSpPr/>
          <p:nvPr/>
        </p:nvSpPr>
        <p:spPr>
          <a:xfrm>
            <a:off x="868680" y="2578680"/>
            <a:ext cx="33822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1e293b"/>
                </a:solidFill>
                <a:latin typeface="Calibri"/>
                <a:ea typeface="Calibri"/>
              </a:rPr>
              <a:t>Distance domicile — travail cohérente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868680" y="2770560"/>
            <a:ext cx="3382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64748b"/>
                </a:solidFill>
                <a:latin typeface="Calibri"/>
                <a:ea typeface="Calibri"/>
              </a:rPr>
              <a:t>Marche / running ≤ 15 km · Vélo ≤ 25 km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18"/>
          <p:cNvSpPr/>
          <p:nvPr/>
        </p:nvSpPr>
        <p:spPr>
          <a:xfrm>
            <a:off x="548640" y="3127320"/>
            <a:ext cx="3702240" cy="346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9"/>
          <p:cNvSpPr/>
          <p:nvPr/>
        </p:nvSpPr>
        <p:spPr>
          <a:xfrm>
            <a:off x="640080" y="3127320"/>
            <a:ext cx="1187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00" spc="-1" strike="noStrike">
                <a:solidFill>
                  <a:srgbClr val="64748b"/>
                </a:solidFill>
                <a:latin typeface="Calibri"/>
                <a:ea typeface="Calibri"/>
              </a:rPr>
              <a:t>Calcul appliqué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1554480" y="3127320"/>
            <a:ext cx="2604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065a82"/>
                </a:solidFill>
                <a:latin typeface="Consolas"/>
                <a:ea typeface="Consolas"/>
              </a:rPr>
              <a:t>prime = salaire_brut × 0.05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1"/>
          <p:cNvSpPr/>
          <p:nvPr/>
        </p:nvSpPr>
        <p:spPr>
          <a:xfrm>
            <a:off x="4709160" y="1280160"/>
            <a:ext cx="4068000" cy="223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22"/>
          <p:cNvSpPr/>
          <p:nvPr/>
        </p:nvSpPr>
        <p:spPr>
          <a:xfrm>
            <a:off x="4709160" y="1280160"/>
            <a:ext cx="4068000" cy="41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23"/>
          <p:cNvSpPr/>
          <p:nvPr/>
        </p:nvSpPr>
        <p:spPr>
          <a:xfrm>
            <a:off x="4892040" y="1280160"/>
            <a:ext cx="16448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194" strike="noStrike">
                <a:solidFill>
                  <a:srgbClr val="ffffff"/>
                </a:solidFill>
                <a:latin typeface="Calibri"/>
                <a:ea typeface="Calibri"/>
              </a:rPr>
              <a:t>RÈGLE 02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24"/>
          <p:cNvSpPr/>
          <p:nvPr/>
        </p:nvSpPr>
        <p:spPr>
          <a:xfrm>
            <a:off x="6355080" y="1280160"/>
            <a:ext cx="23306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ffffff"/>
                </a:solidFill>
                <a:latin typeface="Calibri"/>
                <a:ea typeface="Calibri"/>
              </a:rPr>
              <a:t>69 bénéf. · 42,9 %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25"/>
          <p:cNvSpPr/>
          <p:nvPr/>
        </p:nvSpPr>
        <p:spPr>
          <a:xfrm>
            <a:off x="4892040" y="1737360"/>
            <a:ext cx="37022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300" spc="-1" strike="noStrike">
                <a:solidFill>
                  <a:srgbClr val="1e293b"/>
                </a:solidFill>
                <a:latin typeface="Calibri"/>
                <a:ea typeface="Calibri"/>
              </a:rPr>
              <a:t>5 jours de congés bien-être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26"/>
          <p:cNvSpPr/>
          <p:nvPr/>
        </p:nvSpPr>
        <p:spPr>
          <a:xfrm>
            <a:off x="4892040" y="2084760"/>
            <a:ext cx="273240" cy="273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Image 2" descr="preencoded.png"/>
          <p:cNvPicPr/>
          <p:nvPr/>
        </p:nvPicPr>
        <p:blipFill>
          <a:blip r:embed="rId3"/>
          <a:stretch/>
        </p:blipFill>
        <p:spPr>
          <a:xfrm>
            <a:off x="4933080" y="2126160"/>
            <a:ext cx="190800" cy="190800"/>
          </a:xfrm>
          <a:prstGeom prst="rect">
            <a:avLst/>
          </a:prstGeom>
          <a:ln w="0">
            <a:noFill/>
          </a:ln>
        </p:spPr>
      </p:pic>
      <p:sp>
        <p:nvSpPr>
          <p:cNvPr id="129" name="Text 27"/>
          <p:cNvSpPr/>
          <p:nvPr/>
        </p:nvSpPr>
        <p:spPr>
          <a:xfrm>
            <a:off x="5212080" y="2103120"/>
            <a:ext cx="33822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1e293b"/>
                </a:solidFill>
                <a:latin typeface="Calibri"/>
                <a:ea typeface="Calibri"/>
              </a:rPr>
              <a:t>Sport déclaré dans le référentiel RH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28"/>
          <p:cNvSpPr/>
          <p:nvPr/>
        </p:nvSpPr>
        <p:spPr>
          <a:xfrm>
            <a:off x="5212080" y="2295000"/>
            <a:ext cx="3382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64748b"/>
                </a:solidFill>
                <a:latin typeface="Calibri"/>
                <a:ea typeface="Calibri"/>
              </a:rPr>
              <a:t>Colonne 'Pratique d'un sport' ≠ NULL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29"/>
          <p:cNvSpPr/>
          <p:nvPr/>
        </p:nvSpPr>
        <p:spPr>
          <a:xfrm>
            <a:off x="4892040" y="2560320"/>
            <a:ext cx="273240" cy="273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Image 3" descr="preencoded.png"/>
          <p:cNvPicPr/>
          <p:nvPr/>
        </p:nvPicPr>
        <p:blipFill>
          <a:blip r:embed="rId4"/>
          <a:stretch/>
        </p:blipFill>
        <p:spPr>
          <a:xfrm>
            <a:off x="4933080" y="2601360"/>
            <a:ext cx="190800" cy="190800"/>
          </a:xfrm>
          <a:prstGeom prst="rect">
            <a:avLst/>
          </a:prstGeom>
          <a:ln w="0">
            <a:noFill/>
          </a:ln>
        </p:spPr>
      </p:pic>
      <p:sp>
        <p:nvSpPr>
          <p:cNvPr id="133" name="Text 30"/>
          <p:cNvSpPr/>
          <p:nvPr/>
        </p:nvSpPr>
        <p:spPr>
          <a:xfrm>
            <a:off x="5212080" y="2578680"/>
            <a:ext cx="33822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1e293b"/>
                </a:solidFill>
                <a:latin typeface="Calibri"/>
                <a:ea typeface="Calibri"/>
              </a:rPr>
              <a:t>Activité mesurée sur 12 mois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31"/>
          <p:cNvSpPr/>
          <p:nvPr/>
        </p:nvSpPr>
        <p:spPr>
          <a:xfrm>
            <a:off x="5212080" y="2770560"/>
            <a:ext cx="33822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64748b"/>
                </a:solidFill>
                <a:latin typeface="Calibri"/>
                <a:ea typeface="Calibri"/>
              </a:rPr>
              <a:t>≥ </a:t>
            </a:r>
            <a:r>
              <a:rPr b="0" i="1" lang="fr-FR" sz="850" spc="-1" strike="noStrike">
                <a:solidFill>
                  <a:srgbClr val="64748b"/>
                </a:solidFill>
                <a:latin typeface="Calibri"/>
                <a:ea typeface="Calibri"/>
              </a:rPr>
              <a:t>15 activités / an (flux Strava-like)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32"/>
          <p:cNvSpPr/>
          <p:nvPr/>
        </p:nvSpPr>
        <p:spPr>
          <a:xfrm>
            <a:off x="4892040" y="3127320"/>
            <a:ext cx="3702240" cy="346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33"/>
          <p:cNvSpPr/>
          <p:nvPr/>
        </p:nvSpPr>
        <p:spPr>
          <a:xfrm>
            <a:off x="4983480" y="3127320"/>
            <a:ext cx="1187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00" spc="-1" strike="noStrike">
                <a:solidFill>
                  <a:srgbClr val="64748b"/>
                </a:solidFill>
                <a:latin typeface="Calibri"/>
                <a:ea typeface="Calibri"/>
              </a:rPr>
              <a:t>Attribution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34"/>
          <p:cNvSpPr/>
          <p:nvPr/>
        </p:nvSpPr>
        <p:spPr>
          <a:xfrm>
            <a:off x="5897880" y="3127320"/>
            <a:ext cx="2604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59e0b"/>
                </a:solidFill>
                <a:latin typeface="Consolas"/>
                <a:ea typeface="Consolas"/>
              </a:rPr>
              <a:t>attribution += 5 jours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35"/>
          <p:cNvSpPr/>
          <p:nvPr/>
        </p:nvSpPr>
        <p:spPr>
          <a:xfrm>
            <a:off x="365760" y="3657600"/>
            <a:ext cx="8411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194" strike="noStrike">
                <a:solidFill>
                  <a:srgbClr val="065a82"/>
                </a:solidFill>
                <a:latin typeface="Calibri"/>
                <a:ea typeface="Calibri"/>
              </a:rPr>
              <a:t>MATRICE DE RÉPARTITION — 161 salariés · règles croisées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36"/>
          <p:cNvSpPr/>
          <p:nvPr/>
        </p:nvSpPr>
        <p:spPr>
          <a:xfrm>
            <a:off x="365760" y="3931920"/>
            <a:ext cx="2028960" cy="91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37"/>
          <p:cNvSpPr/>
          <p:nvPr/>
        </p:nvSpPr>
        <p:spPr>
          <a:xfrm>
            <a:off x="365760" y="3931920"/>
            <a:ext cx="53640" cy="913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1" name="Image 4" descr="preencoded.png"/>
          <p:cNvPicPr/>
          <p:nvPr/>
        </p:nvPicPr>
        <p:blipFill>
          <a:blip r:embed="rId5"/>
          <a:stretch/>
        </p:blipFill>
        <p:spPr>
          <a:xfrm>
            <a:off x="2048400" y="402336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142" name="Text 38"/>
          <p:cNvSpPr/>
          <p:nvPr/>
        </p:nvSpPr>
        <p:spPr>
          <a:xfrm>
            <a:off x="502920" y="4005000"/>
            <a:ext cx="15260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50" spc="-1" strike="noStrike">
                <a:solidFill>
                  <a:srgbClr val="1e293b"/>
                </a:solidFill>
                <a:latin typeface="Calibri"/>
                <a:ea typeface="Calibri"/>
              </a:rPr>
              <a:t>Prime + Bien-être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39"/>
          <p:cNvSpPr/>
          <p:nvPr/>
        </p:nvSpPr>
        <p:spPr>
          <a:xfrm>
            <a:off x="502920" y="4316040"/>
            <a:ext cx="913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ec4899"/>
                </a:solidFill>
                <a:latin typeface="Calibri"/>
                <a:ea typeface="Calibri"/>
              </a:rPr>
              <a:t>29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40"/>
          <p:cNvSpPr/>
          <p:nvPr/>
        </p:nvSpPr>
        <p:spPr>
          <a:xfrm>
            <a:off x="1481400" y="4316040"/>
            <a:ext cx="8218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100" spc="-1" strike="noStrike">
                <a:solidFill>
                  <a:srgbClr val="64748b"/>
                </a:solidFill>
                <a:latin typeface="Calibri"/>
                <a:ea typeface="Calibri"/>
              </a:rPr>
              <a:t>18,0 %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41"/>
          <p:cNvSpPr/>
          <p:nvPr/>
        </p:nvSpPr>
        <p:spPr>
          <a:xfrm>
            <a:off x="2468880" y="3931920"/>
            <a:ext cx="2028960" cy="91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42"/>
          <p:cNvSpPr/>
          <p:nvPr/>
        </p:nvSpPr>
        <p:spPr>
          <a:xfrm>
            <a:off x="2468880" y="3931920"/>
            <a:ext cx="53640" cy="913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7" name="Image 5" descr="preencoded.png"/>
          <p:cNvPicPr/>
          <p:nvPr/>
        </p:nvPicPr>
        <p:blipFill>
          <a:blip r:embed="rId6"/>
          <a:stretch/>
        </p:blipFill>
        <p:spPr>
          <a:xfrm>
            <a:off x="4151520" y="402336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148" name="Text 43"/>
          <p:cNvSpPr/>
          <p:nvPr/>
        </p:nvSpPr>
        <p:spPr>
          <a:xfrm>
            <a:off x="2606040" y="4005000"/>
            <a:ext cx="15260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50" spc="-1" strike="noStrike">
                <a:solidFill>
                  <a:srgbClr val="1e293b"/>
                </a:solidFill>
                <a:latin typeface="Calibri"/>
                <a:ea typeface="Calibri"/>
              </a:rPr>
              <a:t>Prime uniquement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44"/>
          <p:cNvSpPr/>
          <p:nvPr/>
        </p:nvSpPr>
        <p:spPr>
          <a:xfrm>
            <a:off x="2606040" y="4316040"/>
            <a:ext cx="913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22c55e"/>
                </a:solidFill>
                <a:latin typeface="Calibri"/>
                <a:ea typeface="Calibri"/>
              </a:rPr>
              <a:t>39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45"/>
          <p:cNvSpPr/>
          <p:nvPr/>
        </p:nvSpPr>
        <p:spPr>
          <a:xfrm>
            <a:off x="3584520" y="4316040"/>
            <a:ext cx="8218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100" spc="-1" strike="noStrike">
                <a:solidFill>
                  <a:srgbClr val="64748b"/>
                </a:solidFill>
                <a:latin typeface="Calibri"/>
                <a:ea typeface="Calibri"/>
              </a:rPr>
              <a:t>24,2 %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46"/>
          <p:cNvSpPr/>
          <p:nvPr/>
        </p:nvSpPr>
        <p:spPr>
          <a:xfrm>
            <a:off x="4572000" y="3931920"/>
            <a:ext cx="2028960" cy="91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47"/>
          <p:cNvSpPr/>
          <p:nvPr/>
        </p:nvSpPr>
        <p:spPr>
          <a:xfrm>
            <a:off x="4572000" y="3931920"/>
            <a:ext cx="53640" cy="913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Image 6" descr="preencoded.png"/>
          <p:cNvPicPr/>
          <p:nvPr/>
        </p:nvPicPr>
        <p:blipFill>
          <a:blip r:embed="rId7"/>
          <a:stretch/>
        </p:blipFill>
        <p:spPr>
          <a:xfrm>
            <a:off x="6254640" y="402336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154" name="Text 48"/>
          <p:cNvSpPr/>
          <p:nvPr/>
        </p:nvSpPr>
        <p:spPr>
          <a:xfrm>
            <a:off x="4709160" y="4005000"/>
            <a:ext cx="15260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50" spc="-1" strike="noStrike">
                <a:solidFill>
                  <a:srgbClr val="1e293b"/>
                </a:solidFill>
                <a:latin typeface="Calibri"/>
                <a:ea typeface="Calibri"/>
              </a:rPr>
              <a:t>Bien-être uniquement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49"/>
          <p:cNvSpPr/>
          <p:nvPr/>
        </p:nvSpPr>
        <p:spPr>
          <a:xfrm>
            <a:off x="4709160" y="4316040"/>
            <a:ext cx="913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f59e0b"/>
                </a:solidFill>
                <a:latin typeface="Calibri"/>
                <a:ea typeface="Calibri"/>
              </a:rPr>
              <a:t>40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50"/>
          <p:cNvSpPr/>
          <p:nvPr/>
        </p:nvSpPr>
        <p:spPr>
          <a:xfrm>
            <a:off x="5687640" y="4316040"/>
            <a:ext cx="8218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100" spc="-1" strike="noStrike">
                <a:solidFill>
                  <a:srgbClr val="64748b"/>
                </a:solidFill>
                <a:latin typeface="Calibri"/>
                <a:ea typeface="Calibri"/>
              </a:rPr>
              <a:t>24,8 %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51"/>
          <p:cNvSpPr/>
          <p:nvPr/>
        </p:nvSpPr>
        <p:spPr>
          <a:xfrm>
            <a:off x="6675120" y="3931920"/>
            <a:ext cx="2028960" cy="91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52"/>
          <p:cNvSpPr/>
          <p:nvPr/>
        </p:nvSpPr>
        <p:spPr>
          <a:xfrm>
            <a:off x="6675120" y="3931920"/>
            <a:ext cx="53640" cy="913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9" name="Image 7" descr="preencoded.png"/>
          <p:cNvPicPr/>
          <p:nvPr/>
        </p:nvPicPr>
        <p:blipFill>
          <a:blip r:embed="rId8"/>
          <a:stretch/>
        </p:blipFill>
        <p:spPr>
          <a:xfrm>
            <a:off x="8357760" y="402336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160" name="Text 53"/>
          <p:cNvSpPr/>
          <p:nvPr/>
        </p:nvSpPr>
        <p:spPr>
          <a:xfrm>
            <a:off x="6812280" y="4005000"/>
            <a:ext cx="15260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50" spc="-1" strike="noStrike">
                <a:solidFill>
                  <a:srgbClr val="1e293b"/>
                </a:solidFill>
                <a:latin typeface="Calibri"/>
                <a:ea typeface="Calibri"/>
              </a:rPr>
              <a:t>Aucun avantage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54"/>
          <p:cNvSpPr/>
          <p:nvPr/>
        </p:nvSpPr>
        <p:spPr>
          <a:xfrm>
            <a:off x="6812280" y="4316040"/>
            <a:ext cx="913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64748b"/>
                </a:solidFill>
                <a:latin typeface="Calibri"/>
                <a:ea typeface="Calibri"/>
              </a:rPr>
              <a:t>53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55"/>
          <p:cNvSpPr/>
          <p:nvPr/>
        </p:nvSpPr>
        <p:spPr>
          <a:xfrm>
            <a:off x="7790760" y="4316040"/>
            <a:ext cx="8218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100" spc="-1" strike="noStrike">
                <a:solidFill>
                  <a:srgbClr val="64748b"/>
                </a:solidFill>
                <a:latin typeface="Calibri"/>
                <a:ea typeface="Calibri"/>
              </a:rPr>
              <a:t>32,9 %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640080" y="1645920"/>
            <a:ext cx="8228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00" spc="593" strike="noStrike">
                <a:solidFill>
                  <a:srgbClr val="ec4899"/>
                </a:solidFill>
                <a:latin typeface="Calibri"/>
                <a:ea typeface="Calibri"/>
              </a:rPr>
              <a:t>PARTIE II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640080" y="1965960"/>
            <a:ext cx="82285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5200" spc="-1" strike="noStrike">
                <a:solidFill>
                  <a:srgbClr val="ffffff"/>
                </a:solidFill>
                <a:latin typeface="Calibri"/>
                <a:ea typeface="Calibri"/>
              </a:rPr>
              <a:t>Stack, pipeline &amp; qualité.</a:t>
            </a:r>
            <a:endParaRPr b="0" lang="fr-FR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640080" y="3017520"/>
            <a:ext cx="82285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500" spc="-1" strike="noStrike">
                <a:solidFill>
                  <a:srgbClr val="cadcfc"/>
                </a:solidFill>
                <a:latin typeface="Calibri"/>
                <a:ea typeface="Calibri"/>
              </a:rPr>
              <a:t>Choix d'architecture, générateur Strava-like, contrôles qualité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500" spc="-1" strike="noStrike">
                <a:solidFill>
                  <a:srgbClr val="cadcfc"/>
                </a:solidFill>
                <a:latin typeface="Calibri"/>
                <a:ea typeface="Calibri"/>
              </a:rPr>
              <a:t>et notifications — tout ce qui fait tourner le POC de bout en bout.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4"/>
          <p:cNvSpPr/>
          <p:nvPr/>
        </p:nvSpPr>
        <p:spPr>
          <a:xfrm>
            <a:off x="640080" y="4114800"/>
            <a:ext cx="8229600" cy="360"/>
          </a:xfrm>
          <a:prstGeom prst="line">
            <a:avLst/>
          </a:prstGeom>
          <a:ln w="12700">
            <a:solidFill>
              <a:srgbClr val="2a36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640080" y="42062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92" strike="noStrike">
                <a:solidFill>
                  <a:srgbClr val="94c7e0"/>
                </a:solidFill>
                <a:latin typeface="Calibri"/>
                <a:ea typeface="Calibri"/>
              </a:rPr>
              <a:t>Slides 04 → 07        ·        Durée orale ~ 6 min        ·        Points clés  Stack · Génération · DQ · Slack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365760" y="0"/>
            <a:ext cx="2742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293" strike="noStrike">
                <a:solidFill>
                  <a:srgbClr val="ffffff"/>
                </a:solidFill>
                <a:latin typeface="Calibri"/>
                <a:ea typeface="Calibri"/>
              </a:rPr>
              <a:t>SPORT DATA SOLUTION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2"/>
          <p:cNvSpPr/>
          <p:nvPr/>
        </p:nvSpPr>
        <p:spPr>
          <a:xfrm>
            <a:off x="3200400" y="0"/>
            <a:ext cx="4113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194" strike="noStrike">
                <a:solidFill>
                  <a:srgbClr val="94c7e0"/>
                </a:solidFill>
                <a:latin typeface="Calibri"/>
                <a:ea typeface="Calibri"/>
              </a:rPr>
              <a:t>PARTIE II · ARCHITECTURE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3"/>
          <p:cNvSpPr/>
          <p:nvPr/>
        </p:nvSpPr>
        <p:spPr>
          <a:xfrm>
            <a:off x="7680960" y="0"/>
            <a:ext cx="12790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04 / 10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4"/>
          <p:cNvSpPr/>
          <p:nvPr/>
        </p:nvSpPr>
        <p:spPr>
          <a:xfrm>
            <a:off x="0" y="4974480"/>
            <a:ext cx="91429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750" spc="-1" strike="noStrike">
                <a:solidFill>
                  <a:srgbClr val="64748b"/>
                </a:solidFill>
                <a:latin typeface="Calibri"/>
                <a:ea typeface="Calibri"/>
              </a:rPr>
              <a:t>Sport Data Solution · POC Data Engineering · Avril 2026 · v3.1.0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5"/>
          <p:cNvSpPr/>
          <p:nvPr/>
        </p:nvSpPr>
        <p:spPr>
          <a:xfrm>
            <a:off x="365760" y="438840"/>
            <a:ext cx="841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1e293b"/>
                </a:solidFill>
                <a:latin typeface="Calibri"/>
                <a:ea typeface="Calibri"/>
              </a:rPr>
              <a:t>Stack technique &amp; justification des choix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6"/>
          <p:cNvSpPr/>
          <p:nvPr/>
        </p:nvSpPr>
        <p:spPr>
          <a:xfrm>
            <a:off x="365760" y="896040"/>
            <a:ext cx="8411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100" spc="-1" strike="noStrike">
                <a:solidFill>
                  <a:srgbClr val="64748b"/>
                </a:solidFill>
                <a:latin typeface="Calibri"/>
                <a:ea typeface="Calibri"/>
              </a:rPr>
              <a:t>7 briques · 100 % open source / free tier · orchestré par Kestra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7"/>
          <p:cNvSpPr/>
          <p:nvPr/>
        </p:nvSpPr>
        <p:spPr>
          <a:xfrm>
            <a:off x="7360920" y="530280"/>
            <a:ext cx="1416240" cy="36468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8"/>
          <p:cNvSpPr/>
          <p:nvPr/>
        </p:nvSpPr>
        <p:spPr>
          <a:xfrm>
            <a:off x="7360920" y="530280"/>
            <a:ext cx="1416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r>
              <a:rPr b="1" lang="fr-FR" sz="1100" spc="-1" strike="noStrike">
                <a:solidFill>
                  <a:srgbClr val="ffffff"/>
                </a:solidFill>
                <a:latin typeface="Calibri"/>
                <a:ea typeface="Calibri"/>
              </a:rPr>
              <a:t>0 € / mois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9"/>
          <p:cNvSpPr/>
          <p:nvPr/>
        </p:nvSpPr>
        <p:spPr>
          <a:xfrm>
            <a:off x="365760" y="1234440"/>
            <a:ext cx="8411400" cy="7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0"/>
          <p:cNvSpPr/>
          <p:nvPr/>
        </p:nvSpPr>
        <p:spPr>
          <a:xfrm>
            <a:off x="365760" y="1234440"/>
            <a:ext cx="72000" cy="712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11"/>
          <p:cNvSpPr/>
          <p:nvPr/>
        </p:nvSpPr>
        <p:spPr>
          <a:xfrm>
            <a:off x="567000" y="1417320"/>
            <a:ext cx="346320" cy="3463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1" name="Image 0" descr="preencoded.png"/>
          <p:cNvPicPr/>
          <p:nvPr/>
        </p:nvPicPr>
        <p:blipFill>
          <a:blip r:embed="rId1"/>
          <a:stretch/>
        </p:blipFill>
        <p:spPr>
          <a:xfrm>
            <a:off x="631080" y="1481400"/>
            <a:ext cx="218520" cy="218520"/>
          </a:xfrm>
          <a:prstGeom prst="rect">
            <a:avLst/>
          </a:prstGeom>
          <a:ln w="0">
            <a:noFill/>
          </a:ln>
        </p:spPr>
      </p:pic>
      <p:sp>
        <p:nvSpPr>
          <p:cNvPr id="182" name="Text 12"/>
          <p:cNvSpPr/>
          <p:nvPr/>
        </p:nvSpPr>
        <p:spPr>
          <a:xfrm>
            <a:off x="1024200" y="1307520"/>
            <a:ext cx="3016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300" spc="-1" strike="noStrike">
                <a:solidFill>
                  <a:srgbClr val="1e293b"/>
                </a:solidFill>
                <a:latin typeface="Calibri"/>
                <a:ea typeface="Calibri"/>
              </a:rPr>
              <a:t>Orchestration — Kestra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3"/>
          <p:cNvSpPr/>
          <p:nvPr/>
        </p:nvSpPr>
        <p:spPr>
          <a:xfrm>
            <a:off x="1024200" y="1581840"/>
            <a:ext cx="3016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ec4899"/>
                </a:solidFill>
                <a:latin typeface="Consolas"/>
                <a:ea typeface="Consolas"/>
              </a:rPr>
              <a:t>UI :8089 · flows YAML · Docker runner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4"/>
          <p:cNvSpPr/>
          <p:nvPr/>
        </p:nvSpPr>
        <p:spPr>
          <a:xfrm>
            <a:off x="4206240" y="1371600"/>
            <a:ext cx="360" cy="438840"/>
          </a:xfrm>
          <a:prstGeom prst="line">
            <a:avLst/>
          </a:prstGeom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5"/>
          <p:cNvSpPr/>
          <p:nvPr/>
        </p:nvSpPr>
        <p:spPr>
          <a:xfrm>
            <a:off x="4343400" y="1307520"/>
            <a:ext cx="429660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alibri"/>
                <a:ea typeface="Calibri"/>
              </a:rPr>
              <a:t>Paramètres métier exposés dans l'UI (taux_prime, seuil_activites, dq_threshold) — Juliette reprocesse l'historique sans toucher au code. Retries par tâche, schedule quotidien, DAG visuel, historique complet des runs.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6"/>
          <p:cNvSpPr/>
          <p:nvPr/>
        </p:nvSpPr>
        <p:spPr>
          <a:xfrm>
            <a:off x="365760" y="2030040"/>
            <a:ext cx="2778840" cy="1260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7"/>
          <p:cNvSpPr/>
          <p:nvPr/>
        </p:nvSpPr>
        <p:spPr>
          <a:xfrm>
            <a:off x="365760" y="2030040"/>
            <a:ext cx="72000" cy="1260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18"/>
          <p:cNvSpPr/>
          <p:nvPr/>
        </p:nvSpPr>
        <p:spPr>
          <a:xfrm>
            <a:off x="548640" y="2176200"/>
            <a:ext cx="309960" cy="309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9" name="Image 1" descr="preencoded.png"/>
          <p:cNvPicPr/>
          <p:nvPr/>
        </p:nvPicPr>
        <p:blipFill>
          <a:blip r:embed="rId2"/>
          <a:stretch/>
        </p:blipFill>
        <p:spPr>
          <a:xfrm>
            <a:off x="603360" y="223128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190" name="Text 19"/>
          <p:cNvSpPr/>
          <p:nvPr/>
        </p:nvSpPr>
        <p:spPr>
          <a:xfrm>
            <a:off x="914400" y="2121480"/>
            <a:ext cx="21387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  <a:ea typeface="Calibri"/>
              </a:rPr>
              <a:t>Socle ETL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20"/>
          <p:cNvSpPr/>
          <p:nvPr/>
        </p:nvSpPr>
        <p:spPr>
          <a:xfrm>
            <a:off x="914400" y="2331720"/>
            <a:ext cx="2138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00" spc="-1" strike="noStrike">
                <a:solidFill>
                  <a:srgbClr val="065a82"/>
                </a:solidFill>
                <a:latin typeface="Consolas"/>
                <a:ea typeface="Consolas"/>
              </a:rPr>
              <a:t>Python 3.12 · Pandas · openpyxl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1"/>
          <p:cNvSpPr/>
          <p:nvPr/>
        </p:nvSpPr>
        <p:spPr>
          <a:xfrm>
            <a:off x="548640" y="2578320"/>
            <a:ext cx="2459520" cy="360"/>
          </a:xfrm>
          <a:prstGeom prst="line">
            <a:avLst/>
          </a:prstGeom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22"/>
          <p:cNvSpPr/>
          <p:nvPr/>
        </p:nvSpPr>
        <p:spPr>
          <a:xfrm>
            <a:off x="548640" y="2624400"/>
            <a:ext cx="245880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1e293b"/>
                </a:solidFill>
                <a:latin typeface="Calibri"/>
                <a:ea typeface="Calibri"/>
              </a:rPr>
              <a:t>Traitement Excel + writes Postgres. Modules CLI-first (python -m pipeline.X) pour Kestra.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3"/>
          <p:cNvSpPr/>
          <p:nvPr/>
        </p:nvSpPr>
        <p:spPr>
          <a:xfrm>
            <a:off x="3218760" y="2030040"/>
            <a:ext cx="2778840" cy="1260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24"/>
          <p:cNvSpPr/>
          <p:nvPr/>
        </p:nvSpPr>
        <p:spPr>
          <a:xfrm>
            <a:off x="3218760" y="2030040"/>
            <a:ext cx="72000" cy="1260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25"/>
          <p:cNvSpPr/>
          <p:nvPr/>
        </p:nvSpPr>
        <p:spPr>
          <a:xfrm>
            <a:off x="3401640" y="2176200"/>
            <a:ext cx="309960" cy="309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7" name="Image 2" descr="preencoded.png"/>
          <p:cNvPicPr/>
          <p:nvPr/>
        </p:nvPicPr>
        <p:blipFill>
          <a:blip r:embed="rId3"/>
          <a:stretch/>
        </p:blipFill>
        <p:spPr>
          <a:xfrm>
            <a:off x="3456360" y="223128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198" name="Text 26"/>
          <p:cNvSpPr/>
          <p:nvPr/>
        </p:nvSpPr>
        <p:spPr>
          <a:xfrm>
            <a:off x="3767400" y="2121480"/>
            <a:ext cx="21387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  <a:ea typeface="Calibri"/>
              </a:rPr>
              <a:t>Base de données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27"/>
          <p:cNvSpPr/>
          <p:nvPr/>
        </p:nvSpPr>
        <p:spPr>
          <a:xfrm>
            <a:off x="3767400" y="2331720"/>
            <a:ext cx="2138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00" spc="-1" strike="noStrike">
                <a:solidFill>
                  <a:srgbClr val="1c7293"/>
                </a:solidFill>
                <a:latin typeface="Consolas"/>
                <a:ea typeface="Consolas"/>
              </a:rPr>
              <a:t>PostgreSQL 16 · Docker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8"/>
          <p:cNvSpPr/>
          <p:nvPr/>
        </p:nvSpPr>
        <p:spPr>
          <a:xfrm>
            <a:off x="3401280" y="2578320"/>
            <a:ext cx="2459880" cy="360"/>
          </a:xfrm>
          <a:prstGeom prst="line">
            <a:avLst/>
          </a:prstGeom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29"/>
          <p:cNvSpPr/>
          <p:nvPr/>
        </p:nvSpPr>
        <p:spPr>
          <a:xfrm>
            <a:off x="3401640" y="2624400"/>
            <a:ext cx="245880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1e293b"/>
                </a:solidFill>
                <a:latin typeface="Calibri"/>
                <a:ea typeface="Calibri"/>
              </a:rPr>
              <a:t>3 schémas RGPD, 3 rôles, scram-sha-256, vues pseudonymisées SHA-256. Source de vérité.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30"/>
          <p:cNvSpPr/>
          <p:nvPr/>
        </p:nvSpPr>
        <p:spPr>
          <a:xfrm>
            <a:off x="6071760" y="2030040"/>
            <a:ext cx="2778840" cy="1260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31"/>
          <p:cNvSpPr/>
          <p:nvPr/>
        </p:nvSpPr>
        <p:spPr>
          <a:xfrm>
            <a:off x="6071760" y="2030040"/>
            <a:ext cx="72000" cy="1260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32"/>
          <p:cNvSpPr/>
          <p:nvPr/>
        </p:nvSpPr>
        <p:spPr>
          <a:xfrm>
            <a:off x="6254640" y="2176200"/>
            <a:ext cx="309960" cy="3099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5" name="Image 3" descr="preencoded.png"/>
          <p:cNvPicPr/>
          <p:nvPr/>
        </p:nvPicPr>
        <p:blipFill>
          <a:blip r:embed="rId4"/>
          <a:stretch/>
        </p:blipFill>
        <p:spPr>
          <a:xfrm>
            <a:off x="6309360" y="223128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206" name="Text 33"/>
          <p:cNvSpPr/>
          <p:nvPr/>
        </p:nvSpPr>
        <p:spPr>
          <a:xfrm>
            <a:off x="6620400" y="2121480"/>
            <a:ext cx="21387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  <a:ea typeface="Calibri"/>
              </a:rPr>
              <a:t>Validation géo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34"/>
          <p:cNvSpPr/>
          <p:nvPr/>
        </p:nvSpPr>
        <p:spPr>
          <a:xfrm>
            <a:off x="6620400" y="2331720"/>
            <a:ext cx="2138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00" spc="-1" strike="noStrike">
                <a:solidFill>
                  <a:srgbClr val="22c55e"/>
                </a:solidFill>
                <a:latin typeface="Consolas"/>
                <a:ea typeface="Consolas"/>
              </a:rPr>
              <a:t>Google Maps API + Nominatim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35"/>
          <p:cNvSpPr/>
          <p:nvPr/>
        </p:nvSpPr>
        <p:spPr>
          <a:xfrm>
            <a:off x="6254280" y="2578320"/>
            <a:ext cx="2459880" cy="360"/>
          </a:xfrm>
          <a:prstGeom prst="line">
            <a:avLst/>
          </a:prstGeom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36"/>
          <p:cNvSpPr/>
          <p:nvPr/>
        </p:nvSpPr>
        <p:spPr>
          <a:xfrm>
            <a:off x="6254640" y="2624400"/>
            <a:ext cx="245880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1e293b"/>
                </a:solidFill>
                <a:latin typeface="Calibri"/>
                <a:ea typeface="Calibri"/>
              </a:rPr>
              <a:t>Géocodeur Google Maps primaire, fallback OSM si pas de clé. Seuils 15 / 25 km.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37"/>
          <p:cNvSpPr/>
          <p:nvPr/>
        </p:nvSpPr>
        <p:spPr>
          <a:xfrm>
            <a:off x="365760" y="3364920"/>
            <a:ext cx="2778840" cy="1260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38"/>
          <p:cNvSpPr/>
          <p:nvPr/>
        </p:nvSpPr>
        <p:spPr>
          <a:xfrm>
            <a:off x="365760" y="3364920"/>
            <a:ext cx="72000" cy="1260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39"/>
          <p:cNvSpPr/>
          <p:nvPr/>
        </p:nvSpPr>
        <p:spPr>
          <a:xfrm>
            <a:off x="548640" y="3511440"/>
            <a:ext cx="309960" cy="3099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3" name="Image 4" descr="preencoded.png"/>
          <p:cNvPicPr/>
          <p:nvPr/>
        </p:nvPicPr>
        <p:blipFill>
          <a:blip r:embed="rId5"/>
          <a:stretch/>
        </p:blipFill>
        <p:spPr>
          <a:xfrm>
            <a:off x="603360" y="356616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214" name="Text 40"/>
          <p:cNvSpPr/>
          <p:nvPr/>
        </p:nvSpPr>
        <p:spPr>
          <a:xfrm>
            <a:off x="914400" y="3456360"/>
            <a:ext cx="21387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  <a:ea typeface="Calibri"/>
              </a:rPr>
              <a:t>Qualité &amp; intégrité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41"/>
          <p:cNvSpPr/>
          <p:nvPr/>
        </p:nvSpPr>
        <p:spPr>
          <a:xfrm>
            <a:off x="914400" y="3666600"/>
            <a:ext cx="2138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00" spc="-1" strike="noStrike">
                <a:solidFill>
                  <a:srgbClr val="8b5cf6"/>
                </a:solidFill>
                <a:latin typeface="Consolas"/>
                <a:ea typeface="Consolas"/>
              </a:rPr>
              <a:t>Great Expectations · hashlib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42"/>
          <p:cNvSpPr/>
          <p:nvPr/>
        </p:nvSpPr>
        <p:spPr>
          <a:xfrm>
            <a:off x="548640" y="3913560"/>
            <a:ext cx="2459520" cy="360"/>
          </a:xfrm>
          <a:prstGeom prst="line">
            <a:avLst/>
          </a:prstGeom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43"/>
          <p:cNvSpPr/>
          <p:nvPr/>
        </p:nvSpPr>
        <p:spPr>
          <a:xfrm>
            <a:off x="548640" y="3959280"/>
            <a:ext cx="245880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1e293b"/>
                </a:solidFill>
                <a:latin typeface="Calibri"/>
                <a:ea typeface="Calibri"/>
              </a:rPr>
              <a:t>3 suites GE + scoring métier /100 bloquant à 80. MD5 row_hash, SHA-256 pseudonymisation.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44"/>
          <p:cNvSpPr/>
          <p:nvPr/>
        </p:nvSpPr>
        <p:spPr>
          <a:xfrm>
            <a:off x="3218760" y="3364920"/>
            <a:ext cx="2778840" cy="1260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45"/>
          <p:cNvSpPr/>
          <p:nvPr/>
        </p:nvSpPr>
        <p:spPr>
          <a:xfrm>
            <a:off x="3218760" y="3364920"/>
            <a:ext cx="72000" cy="1260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46"/>
          <p:cNvSpPr/>
          <p:nvPr/>
        </p:nvSpPr>
        <p:spPr>
          <a:xfrm>
            <a:off x="3401640" y="3511440"/>
            <a:ext cx="309960" cy="309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1" name="Image 5" descr="preencoded.png"/>
          <p:cNvPicPr/>
          <p:nvPr/>
        </p:nvPicPr>
        <p:blipFill>
          <a:blip r:embed="rId6"/>
          <a:stretch/>
        </p:blipFill>
        <p:spPr>
          <a:xfrm>
            <a:off x="3456360" y="356616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222" name="Text 47"/>
          <p:cNvSpPr/>
          <p:nvPr/>
        </p:nvSpPr>
        <p:spPr>
          <a:xfrm>
            <a:off x="3767400" y="3456360"/>
            <a:ext cx="21387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  <a:ea typeface="Calibri"/>
              </a:rPr>
              <a:t>Notifications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48"/>
          <p:cNvSpPr/>
          <p:nvPr/>
        </p:nvSpPr>
        <p:spPr>
          <a:xfrm>
            <a:off x="3767400" y="3666600"/>
            <a:ext cx="2138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00" spc="-1" strike="noStrike">
                <a:solidFill>
                  <a:srgbClr val="f59e0b"/>
                </a:solidFill>
                <a:latin typeface="Consolas"/>
                <a:ea typeface="Consolas"/>
              </a:rPr>
              <a:t>Slack Webhook · Block Kit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49"/>
          <p:cNvSpPr/>
          <p:nvPr/>
        </p:nvSpPr>
        <p:spPr>
          <a:xfrm>
            <a:off x="3401280" y="3913560"/>
            <a:ext cx="2459880" cy="360"/>
          </a:xfrm>
          <a:prstGeom prst="line">
            <a:avLst/>
          </a:prstGeom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50"/>
          <p:cNvSpPr/>
          <p:nvPr/>
        </p:nvSpPr>
        <p:spPr>
          <a:xfrm>
            <a:off x="3401640" y="3959280"/>
            <a:ext cx="245880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1e293b"/>
                </a:solidFill>
                <a:latin typeface="Calibri"/>
                <a:ea typeface="Calibri"/>
              </a:rPr>
              <a:t>Individuel par activité (émoji par sport) + récap par run. Mode simulation si vide.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51"/>
          <p:cNvSpPr/>
          <p:nvPr/>
        </p:nvSpPr>
        <p:spPr>
          <a:xfrm>
            <a:off x="6071760" y="3364920"/>
            <a:ext cx="2778840" cy="1260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52"/>
          <p:cNvSpPr/>
          <p:nvPr/>
        </p:nvSpPr>
        <p:spPr>
          <a:xfrm>
            <a:off x="6071760" y="3364920"/>
            <a:ext cx="72000" cy="1260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53"/>
          <p:cNvSpPr/>
          <p:nvPr/>
        </p:nvSpPr>
        <p:spPr>
          <a:xfrm>
            <a:off x="6254640" y="3511440"/>
            <a:ext cx="309960" cy="3099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9" name="Image 6" descr="preencoded.png"/>
          <p:cNvPicPr/>
          <p:nvPr/>
        </p:nvPicPr>
        <p:blipFill>
          <a:blip r:embed="rId7"/>
          <a:stretch/>
        </p:blipFill>
        <p:spPr>
          <a:xfrm>
            <a:off x="6309360" y="356616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230" name="Text 54"/>
          <p:cNvSpPr/>
          <p:nvPr/>
        </p:nvSpPr>
        <p:spPr>
          <a:xfrm>
            <a:off x="6620400" y="3456360"/>
            <a:ext cx="21387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  <a:ea typeface="Calibri"/>
              </a:rPr>
              <a:t>Restitution &amp; Monitoring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55"/>
          <p:cNvSpPr/>
          <p:nvPr/>
        </p:nvSpPr>
        <p:spPr>
          <a:xfrm>
            <a:off x="6620400" y="3666600"/>
            <a:ext cx="2138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00" spc="-1" strike="noStrike">
                <a:solidFill>
                  <a:srgbClr val="ef4444"/>
                </a:solidFill>
                <a:latin typeface="Consolas"/>
                <a:ea typeface="Consolas"/>
              </a:rPr>
              <a:t>PowerBI · JSON + Kestra UI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56"/>
          <p:cNvSpPr/>
          <p:nvPr/>
        </p:nvSpPr>
        <p:spPr>
          <a:xfrm>
            <a:off x="6254280" y="3913560"/>
            <a:ext cx="2459880" cy="360"/>
          </a:xfrm>
          <a:prstGeom prst="line">
            <a:avLst/>
          </a:prstGeom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57"/>
          <p:cNvSpPr/>
          <p:nvPr/>
        </p:nvSpPr>
        <p:spPr>
          <a:xfrm>
            <a:off x="6254640" y="3959280"/>
            <a:ext cx="245880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1e293b"/>
                </a:solidFill>
                <a:latin typeface="Calibri"/>
                <a:ea typeface="Calibri"/>
              </a:rPr>
              <a:t>Excel 8 feuilles (refresh 1-clic) + monitoring.pipeline_runs + timeline Kestra UI.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58"/>
          <p:cNvSpPr/>
          <p:nvPr/>
        </p:nvSpPr>
        <p:spPr>
          <a:xfrm>
            <a:off x="0" y="4617720"/>
            <a:ext cx="9142920" cy="29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59"/>
          <p:cNvSpPr/>
          <p:nvPr/>
        </p:nvSpPr>
        <p:spPr>
          <a:xfrm>
            <a:off x="0" y="4617720"/>
            <a:ext cx="30470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€   </a:t>
            </a: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Zéro coût — 100 % open source / free tier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60"/>
          <p:cNvSpPr/>
          <p:nvPr/>
        </p:nvSpPr>
        <p:spPr>
          <a:xfrm>
            <a:off x="3047760" y="4690800"/>
            <a:ext cx="360" cy="146160"/>
          </a:xfrm>
          <a:prstGeom prst="line">
            <a:avLst/>
          </a:prstGeom>
          <a:ln w="635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61"/>
          <p:cNvSpPr/>
          <p:nvPr/>
        </p:nvSpPr>
        <p:spPr>
          <a:xfrm>
            <a:off x="3048120" y="4617720"/>
            <a:ext cx="30470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⚙   </a:t>
            </a: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Zéro infra — docker compose up → ça tourne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62"/>
          <p:cNvSpPr/>
          <p:nvPr/>
        </p:nvSpPr>
        <p:spPr>
          <a:xfrm>
            <a:off x="6095880" y="4690800"/>
            <a:ext cx="360" cy="146160"/>
          </a:xfrm>
          <a:prstGeom prst="line">
            <a:avLst/>
          </a:prstGeom>
          <a:ln w="635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63"/>
          <p:cNvSpPr/>
          <p:nvPr/>
        </p:nvSpPr>
        <p:spPr>
          <a:xfrm>
            <a:off x="6095880" y="4617720"/>
            <a:ext cx="30470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↻   </a:t>
            </a: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Reprocessable — paramétrable depuis Kestra UI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1"/>
          <p:cNvSpPr/>
          <p:nvPr/>
        </p:nvSpPr>
        <p:spPr>
          <a:xfrm>
            <a:off x="365760" y="0"/>
            <a:ext cx="2742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293" strike="noStrike">
                <a:solidFill>
                  <a:srgbClr val="ffffff"/>
                </a:solidFill>
                <a:latin typeface="Calibri"/>
                <a:ea typeface="Calibri"/>
              </a:rPr>
              <a:t>SPORT DATA SOLUTION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"/>
          <p:cNvSpPr/>
          <p:nvPr/>
        </p:nvSpPr>
        <p:spPr>
          <a:xfrm>
            <a:off x="3200400" y="0"/>
            <a:ext cx="4113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194" strike="noStrike">
                <a:solidFill>
                  <a:srgbClr val="94c7e0"/>
                </a:solidFill>
                <a:latin typeface="Calibri"/>
                <a:ea typeface="Calibri"/>
              </a:rPr>
              <a:t>PARTIE II · DONNÉES SIMULÉES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3"/>
          <p:cNvSpPr/>
          <p:nvPr/>
        </p:nvSpPr>
        <p:spPr>
          <a:xfrm>
            <a:off x="7680960" y="0"/>
            <a:ext cx="12790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05 / 10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4"/>
          <p:cNvSpPr/>
          <p:nvPr/>
        </p:nvSpPr>
        <p:spPr>
          <a:xfrm>
            <a:off x="0" y="4974480"/>
            <a:ext cx="91429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750" spc="-1" strike="noStrike">
                <a:solidFill>
                  <a:srgbClr val="64748b"/>
                </a:solidFill>
                <a:latin typeface="Calibri"/>
                <a:ea typeface="Calibri"/>
              </a:rPr>
              <a:t>Sport Data Solution · POC Data Engineering · Avril 2026 · v3.1.0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5"/>
          <p:cNvSpPr/>
          <p:nvPr/>
        </p:nvSpPr>
        <p:spPr>
          <a:xfrm>
            <a:off x="365760" y="438840"/>
            <a:ext cx="841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1e293b"/>
                </a:solidFill>
                <a:latin typeface="Calibri"/>
                <a:ea typeface="Calibri"/>
              </a:rPr>
              <a:t>Générateur d'activités &amp; validation géographique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6"/>
          <p:cNvSpPr/>
          <p:nvPr/>
        </p:nvSpPr>
        <p:spPr>
          <a:xfrm>
            <a:off x="365760" y="896040"/>
            <a:ext cx="8411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100" spc="-1" strike="noStrike">
                <a:solidFill>
                  <a:srgbClr val="64748b"/>
                </a:solidFill>
                <a:latin typeface="Calibri"/>
                <a:ea typeface="Calibri"/>
              </a:rPr>
              <a:t>À défaut d'API Strava réelle, un simulateur reproductible filtré par la géographie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7"/>
          <p:cNvSpPr/>
          <p:nvPr/>
        </p:nvSpPr>
        <p:spPr>
          <a:xfrm>
            <a:off x="365760" y="1280160"/>
            <a:ext cx="4205160" cy="333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8"/>
          <p:cNvSpPr/>
          <p:nvPr/>
        </p:nvSpPr>
        <p:spPr>
          <a:xfrm>
            <a:off x="365760" y="1280160"/>
            <a:ext cx="4205160" cy="410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9"/>
          <p:cNvSpPr/>
          <p:nvPr/>
        </p:nvSpPr>
        <p:spPr>
          <a:xfrm>
            <a:off x="548640" y="1280160"/>
            <a:ext cx="28335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Générateur Strava-like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10"/>
          <p:cNvSpPr/>
          <p:nvPr/>
        </p:nvSpPr>
        <p:spPr>
          <a:xfrm>
            <a:off x="3383280" y="1280160"/>
            <a:ext cx="10047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-1" strike="noStrike">
                <a:solidFill>
                  <a:srgbClr val="ffffff"/>
                </a:solidFill>
                <a:latin typeface="Consolas"/>
                <a:ea typeface="Consolas"/>
              </a:rPr>
              <a:t>seed = 42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11"/>
          <p:cNvSpPr/>
          <p:nvPr/>
        </p:nvSpPr>
        <p:spPr>
          <a:xfrm>
            <a:off x="548640" y="1828800"/>
            <a:ext cx="19191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1c7293"/>
                </a:solidFill>
                <a:latin typeface="Calibri"/>
                <a:ea typeface="Calibri"/>
              </a:rPr>
              <a:t>2 040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12"/>
          <p:cNvSpPr/>
          <p:nvPr/>
        </p:nvSpPr>
        <p:spPr>
          <a:xfrm>
            <a:off x="548640" y="2194560"/>
            <a:ext cx="1919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activités générées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13"/>
          <p:cNvSpPr/>
          <p:nvPr/>
        </p:nvSpPr>
        <p:spPr>
          <a:xfrm>
            <a:off x="2560320" y="1828800"/>
            <a:ext cx="19191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1c7293"/>
                </a:solidFill>
                <a:latin typeface="Calibri"/>
                <a:ea typeface="Calibri"/>
              </a:rPr>
              <a:t>95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14"/>
          <p:cNvSpPr/>
          <p:nvPr/>
        </p:nvSpPr>
        <p:spPr>
          <a:xfrm>
            <a:off x="2560320" y="2194560"/>
            <a:ext cx="1919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salariés sportifs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15"/>
          <p:cNvSpPr/>
          <p:nvPr/>
        </p:nvSpPr>
        <p:spPr>
          <a:xfrm>
            <a:off x="548640" y="2395800"/>
            <a:ext cx="3839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194" strike="noStrike">
                <a:solidFill>
                  <a:srgbClr val="64748b"/>
                </a:solidFill>
                <a:latin typeface="Calibri"/>
                <a:ea typeface="Calibri"/>
              </a:rPr>
              <a:t>15 DISCIPLINES SIMULÉES SUR 12 MOIS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6"/>
          <p:cNvSpPr/>
          <p:nvPr/>
        </p:nvSpPr>
        <p:spPr>
          <a:xfrm>
            <a:off x="562320" y="2633400"/>
            <a:ext cx="291600" cy="291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7" name="Image 0" descr="preencoded.png"/>
          <p:cNvPicPr/>
          <p:nvPr/>
        </p:nvPicPr>
        <p:blipFill>
          <a:blip r:embed="rId1"/>
          <a:stretch/>
        </p:blipFill>
        <p:spPr>
          <a:xfrm>
            <a:off x="617400" y="268848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258" name="Shape 17"/>
          <p:cNvSpPr/>
          <p:nvPr/>
        </p:nvSpPr>
        <p:spPr>
          <a:xfrm>
            <a:off x="882360" y="2633400"/>
            <a:ext cx="291600" cy="291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9" name="Image 1" descr="preencoded.png"/>
          <p:cNvPicPr/>
          <p:nvPr/>
        </p:nvPicPr>
        <p:blipFill>
          <a:blip r:embed="rId2"/>
          <a:stretch/>
        </p:blipFill>
        <p:spPr>
          <a:xfrm>
            <a:off x="937440" y="268848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260" name="Shape 18"/>
          <p:cNvSpPr/>
          <p:nvPr/>
        </p:nvSpPr>
        <p:spPr>
          <a:xfrm>
            <a:off x="1202400" y="2633400"/>
            <a:ext cx="291600" cy="2916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1" name="Image 2" descr="preencoded.png"/>
          <p:cNvPicPr/>
          <p:nvPr/>
        </p:nvPicPr>
        <p:blipFill>
          <a:blip r:embed="rId3"/>
          <a:stretch/>
        </p:blipFill>
        <p:spPr>
          <a:xfrm>
            <a:off x="1257480" y="268848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262" name="Shape 19"/>
          <p:cNvSpPr/>
          <p:nvPr/>
        </p:nvSpPr>
        <p:spPr>
          <a:xfrm>
            <a:off x="1522440" y="2633400"/>
            <a:ext cx="291600" cy="2916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3" name="Image 3" descr="preencoded.png"/>
          <p:cNvPicPr/>
          <p:nvPr/>
        </p:nvPicPr>
        <p:blipFill>
          <a:blip r:embed="rId4"/>
          <a:stretch/>
        </p:blipFill>
        <p:spPr>
          <a:xfrm>
            <a:off x="1577520" y="268848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264" name="Shape 20"/>
          <p:cNvSpPr/>
          <p:nvPr/>
        </p:nvSpPr>
        <p:spPr>
          <a:xfrm>
            <a:off x="1842480" y="2633400"/>
            <a:ext cx="291600" cy="2916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5" name="Image 4" descr="preencoded.png"/>
          <p:cNvPicPr/>
          <p:nvPr/>
        </p:nvPicPr>
        <p:blipFill>
          <a:blip r:embed="rId5"/>
          <a:stretch/>
        </p:blipFill>
        <p:spPr>
          <a:xfrm>
            <a:off x="1897560" y="268848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266" name="Shape 21"/>
          <p:cNvSpPr/>
          <p:nvPr/>
        </p:nvSpPr>
        <p:spPr>
          <a:xfrm>
            <a:off x="2162520" y="2633400"/>
            <a:ext cx="291600" cy="291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7" name="Image 5" descr="preencoded.png"/>
          <p:cNvPicPr/>
          <p:nvPr/>
        </p:nvPicPr>
        <p:blipFill>
          <a:blip r:embed="rId6"/>
          <a:stretch/>
        </p:blipFill>
        <p:spPr>
          <a:xfrm>
            <a:off x="2217600" y="268848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268" name="Shape 22"/>
          <p:cNvSpPr/>
          <p:nvPr/>
        </p:nvSpPr>
        <p:spPr>
          <a:xfrm>
            <a:off x="2482560" y="2633400"/>
            <a:ext cx="291600" cy="291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9" name="Image 6" descr="preencoded.png"/>
          <p:cNvPicPr/>
          <p:nvPr/>
        </p:nvPicPr>
        <p:blipFill>
          <a:blip r:embed="rId7"/>
          <a:stretch/>
        </p:blipFill>
        <p:spPr>
          <a:xfrm>
            <a:off x="2537640" y="268848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270" name="Shape 23"/>
          <p:cNvSpPr/>
          <p:nvPr/>
        </p:nvSpPr>
        <p:spPr>
          <a:xfrm>
            <a:off x="2802600" y="2633400"/>
            <a:ext cx="291600" cy="291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1" name="Image 7" descr="preencoded.png"/>
          <p:cNvPicPr/>
          <p:nvPr/>
        </p:nvPicPr>
        <p:blipFill>
          <a:blip r:embed="rId8"/>
          <a:stretch/>
        </p:blipFill>
        <p:spPr>
          <a:xfrm>
            <a:off x="2857680" y="268848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272" name="Shape 24"/>
          <p:cNvSpPr/>
          <p:nvPr/>
        </p:nvSpPr>
        <p:spPr>
          <a:xfrm>
            <a:off x="3122640" y="2633400"/>
            <a:ext cx="291600" cy="2916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3" name="Image 8" descr="preencoded.png"/>
          <p:cNvPicPr/>
          <p:nvPr/>
        </p:nvPicPr>
        <p:blipFill>
          <a:blip r:embed="rId9"/>
          <a:stretch/>
        </p:blipFill>
        <p:spPr>
          <a:xfrm>
            <a:off x="3177720" y="268848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274" name="Shape 25"/>
          <p:cNvSpPr/>
          <p:nvPr/>
        </p:nvSpPr>
        <p:spPr>
          <a:xfrm>
            <a:off x="3442680" y="2633400"/>
            <a:ext cx="291600" cy="2916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5" name="Image 9" descr="preencoded.png"/>
          <p:cNvPicPr/>
          <p:nvPr/>
        </p:nvPicPr>
        <p:blipFill>
          <a:blip r:embed="rId10"/>
          <a:stretch/>
        </p:blipFill>
        <p:spPr>
          <a:xfrm>
            <a:off x="3497760" y="268848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276" name="Shape 26"/>
          <p:cNvSpPr/>
          <p:nvPr/>
        </p:nvSpPr>
        <p:spPr>
          <a:xfrm>
            <a:off x="3762720" y="2633400"/>
            <a:ext cx="291600" cy="2916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7" name="Image 10" descr="preencoded.png"/>
          <p:cNvPicPr/>
          <p:nvPr/>
        </p:nvPicPr>
        <p:blipFill>
          <a:blip r:embed="rId11"/>
          <a:stretch/>
        </p:blipFill>
        <p:spPr>
          <a:xfrm>
            <a:off x="3817800" y="268848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278" name="Shape 27"/>
          <p:cNvSpPr/>
          <p:nvPr/>
        </p:nvSpPr>
        <p:spPr>
          <a:xfrm>
            <a:off x="4082760" y="2633400"/>
            <a:ext cx="291600" cy="291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9" name="Image 11" descr="preencoded.png"/>
          <p:cNvPicPr/>
          <p:nvPr/>
        </p:nvPicPr>
        <p:blipFill>
          <a:blip r:embed="rId12"/>
          <a:stretch/>
        </p:blipFill>
        <p:spPr>
          <a:xfrm>
            <a:off x="4137840" y="268848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280" name="Text 28"/>
          <p:cNvSpPr/>
          <p:nvPr/>
        </p:nvSpPr>
        <p:spPr>
          <a:xfrm>
            <a:off x="548640" y="3108960"/>
            <a:ext cx="3839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194" strike="noStrike">
                <a:solidFill>
                  <a:srgbClr val="64748b"/>
                </a:solidFill>
                <a:latin typeface="Calibri"/>
                <a:ea typeface="Calibri"/>
              </a:rPr>
              <a:t>EXEMPLE MESSAGE SLACK GÉNÉRÉ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29"/>
          <p:cNvSpPr/>
          <p:nvPr/>
        </p:nvSpPr>
        <p:spPr>
          <a:xfrm>
            <a:off x="548640" y="3337560"/>
            <a:ext cx="3839400" cy="118764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30"/>
          <p:cNvSpPr/>
          <p:nvPr/>
        </p:nvSpPr>
        <p:spPr>
          <a:xfrm>
            <a:off x="685800" y="3474720"/>
            <a:ext cx="364680" cy="364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31"/>
          <p:cNvSpPr/>
          <p:nvPr/>
        </p:nvSpPr>
        <p:spPr>
          <a:xfrm>
            <a:off x="685800" y="347472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ffffff"/>
                </a:solidFill>
                <a:latin typeface="Calibri"/>
                <a:ea typeface="Calibri"/>
              </a:rPr>
              <a:t>SD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32"/>
          <p:cNvSpPr/>
          <p:nvPr/>
        </p:nvSpPr>
        <p:spPr>
          <a:xfrm>
            <a:off x="1143000" y="3401640"/>
            <a:ext cx="18277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1e293b"/>
                </a:solidFill>
                <a:latin typeface="Calibri"/>
                <a:ea typeface="Calibri"/>
              </a:rPr>
              <a:t>Sport Data Bot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33"/>
          <p:cNvSpPr/>
          <p:nvPr/>
        </p:nvSpPr>
        <p:spPr>
          <a:xfrm>
            <a:off x="1143000" y="3566160"/>
            <a:ext cx="2742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00" spc="-1" strike="noStrike">
                <a:solidFill>
                  <a:srgbClr val="64748b"/>
                </a:solidFill>
                <a:latin typeface="Calibri"/>
                <a:ea typeface="Calibri"/>
              </a:rPr>
              <a:t>14 h 32 · #sport-recompenses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34"/>
          <p:cNvSpPr/>
          <p:nvPr/>
        </p:nvSpPr>
        <p:spPr>
          <a:xfrm>
            <a:off x="685800" y="3886200"/>
            <a:ext cx="35650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-1" strike="noStrike">
                <a:solidFill>
                  <a:srgbClr val="1e293b"/>
                </a:solidFill>
                <a:latin typeface="Calibri"/>
                <a:ea typeface="Calibri"/>
              </a:rPr>
              <a:t>Bravo Juliette Mendes ! Tu viens de courir 10,8 km en 46 min. Quelle énergie ! 🏃 🔥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35"/>
          <p:cNvSpPr/>
          <p:nvPr/>
        </p:nvSpPr>
        <p:spPr>
          <a:xfrm>
            <a:off x="4709160" y="1280160"/>
            <a:ext cx="4068000" cy="333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36"/>
          <p:cNvSpPr/>
          <p:nvPr/>
        </p:nvSpPr>
        <p:spPr>
          <a:xfrm>
            <a:off x="4709160" y="1280160"/>
            <a:ext cx="4068000" cy="410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37"/>
          <p:cNvSpPr/>
          <p:nvPr/>
        </p:nvSpPr>
        <p:spPr>
          <a:xfrm>
            <a:off x="4892040" y="1280160"/>
            <a:ext cx="25135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Validation géographique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38"/>
          <p:cNvSpPr/>
          <p:nvPr/>
        </p:nvSpPr>
        <p:spPr>
          <a:xfrm>
            <a:off x="7223760" y="1280160"/>
            <a:ext cx="13705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-1" strike="noStrike">
                <a:solidFill>
                  <a:srgbClr val="ffffff"/>
                </a:solidFill>
                <a:latin typeface="Consolas"/>
                <a:ea typeface="Consolas"/>
              </a:rPr>
              <a:t>Google Maps + OSM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39"/>
          <p:cNvSpPr/>
          <p:nvPr/>
        </p:nvSpPr>
        <p:spPr>
          <a:xfrm>
            <a:off x="4892040" y="1783080"/>
            <a:ext cx="3702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194" strike="noStrike">
                <a:solidFill>
                  <a:srgbClr val="64748b"/>
                </a:solidFill>
                <a:latin typeface="Calibri"/>
                <a:ea typeface="Calibri"/>
              </a:rPr>
              <a:t>ADRESSE ENTREPRISE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40"/>
          <p:cNvSpPr/>
          <p:nvPr/>
        </p:nvSpPr>
        <p:spPr>
          <a:xfrm>
            <a:off x="4892040" y="1993320"/>
            <a:ext cx="3702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  <a:ea typeface="Calibri"/>
              </a:rPr>
              <a:t>1362 Av. des Platanes · 34970 Lattes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41"/>
          <p:cNvSpPr/>
          <p:nvPr/>
        </p:nvSpPr>
        <p:spPr>
          <a:xfrm>
            <a:off x="4892040" y="2331720"/>
            <a:ext cx="1827720" cy="684720"/>
          </a:xfrm>
          <a:prstGeom prst="rect">
            <a:avLst/>
          </a:prstGeom>
          <a:solidFill>
            <a:srgbClr val="ecfdf5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42"/>
          <p:cNvSpPr/>
          <p:nvPr/>
        </p:nvSpPr>
        <p:spPr>
          <a:xfrm>
            <a:off x="4983480" y="2395800"/>
            <a:ext cx="16448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1e293b"/>
                </a:solidFill>
                <a:latin typeface="Calibri"/>
                <a:ea typeface="Calibri"/>
              </a:rPr>
              <a:t>Marche / Running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43"/>
          <p:cNvSpPr/>
          <p:nvPr/>
        </p:nvSpPr>
        <p:spPr>
          <a:xfrm>
            <a:off x="4983480" y="2597040"/>
            <a:ext cx="1644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000" spc="-1" strike="noStrike">
                <a:solidFill>
                  <a:srgbClr val="22c55e"/>
                </a:solidFill>
                <a:latin typeface="Calibri"/>
                <a:ea typeface="Calibri"/>
              </a:rPr>
              <a:t>≤ </a:t>
            </a:r>
            <a:r>
              <a:rPr b="1" lang="fr-FR" sz="2000" spc="-1" strike="noStrike">
                <a:solidFill>
                  <a:srgbClr val="22c55e"/>
                </a:solidFill>
                <a:latin typeface="Calibri"/>
                <a:ea typeface="Calibri"/>
              </a:rPr>
              <a:t>15 km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44"/>
          <p:cNvSpPr/>
          <p:nvPr/>
        </p:nvSpPr>
        <p:spPr>
          <a:xfrm>
            <a:off x="6812280" y="2331720"/>
            <a:ext cx="1782000" cy="684720"/>
          </a:xfrm>
          <a:prstGeom prst="rect">
            <a:avLst/>
          </a:prstGeom>
          <a:solidFill>
            <a:srgbClr val="ecfdf5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45"/>
          <p:cNvSpPr/>
          <p:nvPr/>
        </p:nvSpPr>
        <p:spPr>
          <a:xfrm>
            <a:off x="6903720" y="2395800"/>
            <a:ext cx="16448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1e293b"/>
                </a:solidFill>
                <a:latin typeface="Calibri"/>
                <a:ea typeface="Calibri"/>
              </a:rPr>
              <a:t>Vélo / Trottinette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46"/>
          <p:cNvSpPr/>
          <p:nvPr/>
        </p:nvSpPr>
        <p:spPr>
          <a:xfrm>
            <a:off x="6903720" y="2597040"/>
            <a:ext cx="1644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000" spc="-1" strike="noStrike">
                <a:solidFill>
                  <a:srgbClr val="22c55e"/>
                </a:solidFill>
                <a:latin typeface="Calibri"/>
                <a:ea typeface="Calibri"/>
              </a:rPr>
              <a:t>≤ </a:t>
            </a:r>
            <a:r>
              <a:rPr b="1" lang="fr-FR" sz="2000" spc="-1" strike="noStrike">
                <a:solidFill>
                  <a:srgbClr val="22c55e"/>
                </a:solidFill>
                <a:latin typeface="Calibri"/>
                <a:ea typeface="Calibri"/>
              </a:rPr>
              <a:t>25 km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47"/>
          <p:cNvSpPr/>
          <p:nvPr/>
        </p:nvSpPr>
        <p:spPr>
          <a:xfrm>
            <a:off x="4892040" y="320040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22c55e"/>
                </a:solidFill>
                <a:latin typeface="Calibri"/>
                <a:ea typeface="Calibri"/>
              </a:rPr>
              <a:t>69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48"/>
          <p:cNvSpPr/>
          <p:nvPr/>
        </p:nvSpPr>
        <p:spPr>
          <a:xfrm>
            <a:off x="4892040" y="3520440"/>
            <a:ext cx="18277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éligibles bien-être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49"/>
          <p:cNvSpPr/>
          <p:nvPr/>
        </p:nvSpPr>
        <p:spPr>
          <a:xfrm>
            <a:off x="6812280" y="320040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22c55e"/>
                </a:solidFill>
                <a:latin typeface="Calibri"/>
                <a:ea typeface="Calibri"/>
              </a:rPr>
              <a:t>26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50"/>
          <p:cNvSpPr/>
          <p:nvPr/>
        </p:nvSpPr>
        <p:spPr>
          <a:xfrm>
            <a:off x="6812280" y="3520440"/>
            <a:ext cx="18277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64748b"/>
                </a:solidFill>
                <a:latin typeface="Calibri"/>
                <a:ea typeface="Calibri"/>
              </a:rPr>
              <a:t>exclus (&lt; 15 activités)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51"/>
          <p:cNvSpPr/>
          <p:nvPr/>
        </p:nvSpPr>
        <p:spPr>
          <a:xfrm>
            <a:off x="4892040" y="3794760"/>
            <a:ext cx="3702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194" strike="noStrike">
                <a:solidFill>
                  <a:srgbClr val="64748b"/>
                </a:solidFill>
                <a:latin typeface="Calibri"/>
                <a:ea typeface="Calibri"/>
              </a:rPr>
              <a:t>STRATÉGIE DE RÉSILIENCE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52"/>
          <p:cNvSpPr/>
          <p:nvPr/>
        </p:nvSpPr>
        <p:spPr>
          <a:xfrm>
            <a:off x="4892040" y="4005000"/>
            <a:ext cx="3702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900" spc="-1" strike="noStrike">
                <a:solidFill>
                  <a:srgbClr val="1e293b"/>
                </a:solidFill>
                <a:latin typeface="Calibri"/>
                <a:ea typeface="Calibri"/>
              </a:rPr>
              <a:t>Google Maps primaire → fallback Nominatim (OSM) auto si clé absente → cache JSON local évite re-géocodage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54"/>
          <p:cNvSpPr/>
          <p:nvPr/>
        </p:nvSpPr>
        <p:spPr>
          <a:xfrm>
            <a:off x="365760" y="4709160"/>
            <a:ext cx="8411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1"/>
          <p:cNvSpPr/>
          <p:nvPr/>
        </p:nvSpPr>
        <p:spPr>
          <a:xfrm>
            <a:off x="365760" y="0"/>
            <a:ext cx="2742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293" strike="noStrike">
                <a:solidFill>
                  <a:srgbClr val="ffffff"/>
                </a:solidFill>
                <a:latin typeface="Calibri"/>
                <a:ea typeface="Calibri"/>
              </a:rPr>
              <a:t>SPORT DATA SOLUTION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2"/>
          <p:cNvSpPr/>
          <p:nvPr/>
        </p:nvSpPr>
        <p:spPr>
          <a:xfrm>
            <a:off x="3200400" y="0"/>
            <a:ext cx="4113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194" strike="noStrike">
                <a:solidFill>
                  <a:srgbClr val="94c7e0"/>
                </a:solidFill>
                <a:latin typeface="Calibri"/>
                <a:ea typeface="Calibri"/>
              </a:rPr>
              <a:t>PARTIE II · QUALITÉ DES DONNÉES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3"/>
          <p:cNvSpPr/>
          <p:nvPr/>
        </p:nvSpPr>
        <p:spPr>
          <a:xfrm>
            <a:off x="7680960" y="0"/>
            <a:ext cx="12790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06 / 10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4"/>
          <p:cNvSpPr/>
          <p:nvPr/>
        </p:nvSpPr>
        <p:spPr>
          <a:xfrm>
            <a:off x="0" y="4974480"/>
            <a:ext cx="91429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750" spc="-1" strike="noStrike">
                <a:solidFill>
                  <a:srgbClr val="64748b"/>
                </a:solidFill>
                <a:latin typeface="Calibri"/>
                <a:ea typeface="Calibri"/>
              </a:rPr>
              <a:t>Sport Data Solution · POC Data Engineering · Avril 2026 · v3.1.0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5"/>
          <p:cNvSpPr/>
          <p:nvPr/>
        </p:nvSpPr>
        <p:spPr>
          <a:xfrm>
            <a:off x="365760" y="438840"/>
            <a:ext cx="841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1e293b"/>
                </a:solidFill>
                <a:latin typeface="Calibri"/>
                <a:ea typeface="Calibri"/>
              </a:rPr>
              <a:t>Data Quality — 7 contrôles automatiques bloquants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6"/>
          <p:cNvSpPr/>
          <p:nvPr/>
        </p:nvSpPr>
        <p:spPr>
          <a:xfrm>
            <a:off x="365760" y="896040"/>
            <a:ext cx="8411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100" spc="-1" strike="noStrike">
                <a:solidFill>
                  <a:srgbClr val="64748b"/>
                </a:solidFill>
                <a:latin typeface="Calibri"/>
                <a:ea typeface="Calibri"/>
              </a:rPr>
              <a:t>Chaque run exécute la batterie de contrôles avant transformation · pas de données sales dans PowerBI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7"/>
          <p:cNvSpPr/>
          <p:nvPr/>
        </p:nvSpPr>
        <p:spPr>
          <a:xfrm>
            <a:off x="365760" y="1280160"/>
            <a:ext cx="2010600" cy="2193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8"/>
          <p:cNvSpPr/>
          <p:nvPr/>
        </p:nvSpPr>
        <p:spPr>
          <a:xfrm>
            <a:off x="365760" y="1371600"/>
            <a:ext cx="2010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293" strike="noStrike">
                <a:solidFill>
                  <a:srgbClr val="ffffff"/>
                </a:solidFill>
                <a:latin typeface="Calibri"/>
                <a:ea typeface="Calibri"/>
              </a:rPr>
              <a:t>DQ SCORE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9"/>
          <p:cNvSpPr/>
          <p:nvPr/>
        </p:nvSpPr>
        <p:spPr>
          <a:xfrm>
            <a:off x="365760" y="1691640"/>
            <a:ext cx="201060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0" spc="-1" strike="noStrike">
                <a:solidFill>
                  <a:srgbClr val="ffffff"/>
                </a:solidFill>
                <a:latin typeface="Calibri"/>
                <a:ea typeface="Calibri"/>
              </a:rPr>
              <a:t>100</a:t>
            </a:r>
            <a:endParaRPr b="0" lang="fr-FR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10"/>
          <p:cNvSpPr/>
          <p:nvPr/>
        </p:nvSpPr>
        <p:spPr>
          <a:xfrm>
            <a:off x="365760" y="292608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600" spc="-1" strike="noStrike">
                <a:solidFill>
                  <a:srgbClr val="ffffff"/>
                </a:solidFill>
                <a:latin typeface="Calibri"/>
                <a:ea typeface="Calibri"/>
              </a:rPr>
              <a:t>/ 100   ✓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11"/>
          <p:cNvSpPr/>
          <p:nvPr/>
        </p:nvSpPr>
        <p:spPr>
          <a:xfrm>
            <a:off x="2514600" y="1280160"/>
            <a:ext cx="6262560" cy="300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12"/>
          <p:cNvSpPr/>
          <p:nvPr/>
        </p:nvSpPr>
        <p:spPr>
          <a:xfrm>
            <a:off x="2606040" y="1280160"/>
            <a:ext cx="41040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64748b"/>
                </a:solidFill>
                <a:latin typeface="Consolas"/>
                <a:ea typeface="Consolas"/>
              </a:rPr>
              <a:t>01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13"/>
          <p:cNvSpPr/>
          <p:nvPr/>
        </p:nvSpPr>
        <p:spPr>
          <a:xfrm>
            <a:off x="3063240" y="1280160"/>
            <a:ext cx="530244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1e293b"/>
                </a:solidFill>
                <a:latin typeface="Calibri"/>
                <a:ea typeface="Calibri"/>
              </a:rPr>
              <a:t>Doublons sur ID salarié (RH)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14"/>
          <p:cNvSpPr/>
          <p:nvPr/>
        </p:nvSpPr>
        <p:spPr>
          <a:xfrm>
            <a:off x="8321040" y="1334880"/>
            <a:ext cx="410400" cy="200160"/>
          </a:xfrm>
          <a:prstGeom prst="roundRect">
            <a:avLst>
              <a:gd name="adj" fmla="val 22727"/>
            </a:avLst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15"/>
          <p:cNvSpPr/>
          <p:nvPr/>
        </p:nvSpPr>
        <p:spPr>
          <a:xfrm>
            <a:off x="8321040" y="133488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-1" strike="noStrike">
                <a:solidFill>
                  <a:srgbClr val="ffffff"/>
                </a:solidFill>
                <a:latin typeface="Calibri"/>
                <a:ea typeface="Calibri"/>
              </a:rPr>
              <a:t>OK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16"/>
          <p:cNvSpPr/>
          <p:nvPr/>
        </p:nvSpPr>
        <p:spPr>
          <a:xfrm>
            <a:off x="2514600" y="1600200"/>
            <a:ext cx="6262560" cy="3006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17"/>
          <p:cNvSpPr/>
          <p:nvPr/>
        </p:nvSpPr>
        <p:spPr>
          <a:xfrm>
            <a:off x="2606040" y="1600200"/>
            <a:ext cx="41040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64748b"/>
                </a:solidFill>
                <a:latin typeface="Consolas"/>
                <a:ea typeface="Consolas"/>
              </a:rPr>
              <a:t>02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18"/>
          <p:cNvSpPr/>
          <p:nvPr/>
        </p:nvSpPr>
        <p:spPr>
          <a:xfrm>
            <a:off x="3063240" y="1600200"/>
            <a:ext cx="530244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1e293b"/>
                </a:solidFill>
                <a:latin typeface="Calibri"/>
                <a:ea typeface="Calibri"/>
              </a:rPr>
              <a:t>IDs sport sans correspondance RH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19"/>
          <p:cNvSpPr/>
          <p:nvPr/>
        </p:nvSpPr>
        <p:spPr>
          <a:xfrm>
            <a:off x="8321040" y="1654920"/>
            <a:ext cx="410400" cy="200160"/>
          </a:xfrm>
          <a:prstGeom prst="roundRect">
            <a:avLst>
              <a:gd name="adj" fmla="val 22727"/>
            </a:avLst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20"/>
          <p:cNvSpPr/>
          <p:nvPr/>
        </p:nvSpPr>
        <p:spPr>
          <a:xfrm>
            <a:off x="8321040" y="165492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-1" strike="noStrike">
                <a:solidFill>
                  <a:srgbClr val="ffffff"/>
                </a:solidFill>
                <a:latin typeface="Calibri"/>
                <a:ea typeface="Calibri"/>
              </a:rPr>
              <a:t>OK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21"/>
          <p:cNvSpPr/>
          <p:nvPr/>
        </p:nvSpPr>
        <p:spPr>
          <a:xfrm>
            <a:off x="2514600" y="1920240"/>
            <a:ext cx="6262560" cy="300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22"/>
          <p:cNvSpPr/>
          <p:nvPr/>
        </p:nvSpPr>
        <p:spPr>
          <a:xfrm>
            <a:off x="2606040" y="1920240"/>
            <a:ext cx="41040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64748b"/>
                </a:solidFill>
                <a:latin typeface="Consolas"/>
                <a:ea typeface="Consolas"/>
              </a:rPr>
              <a:t>03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23"/>
          <p:cNvSpPr/>
          <p:nvPr/>
        </p:nvSpPr>
        <p:spPr>
          <a:xfrm>
            <a:off x="3063240" y="1920240"/>
            <a:ext cx="530244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1e293b"/>
                </a:solidFill>
                <a:latin typeface="Calibri"/>
                <a:ea typeface="Calibri"/>
              </a:rPr>
              <a:t>Salaires invalides (null ou ≤ 0)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24"/>
          <p:cNvSpPr/>
          <p:nvPr/>
        </p:nvSpPr>
        <p:spPr>
          <a:xfrm>
            <a:off x="8321040" y="1974960"/>
            <a:ext cx="410400" cy="200160"/>
          </a:xfrm>
          <a:prstGeom prst="roundRect">
            <a:avLst>
              <a:gd name="adj" fmla="val 22727"/>
            </a:avLst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25"/>
          <p:cNvSpPr/>
          <p:nvPr/>
        </p:nvSpPr>
        <p:spPr>
          <a:xfrm>
            <a:off x="8321040" y="197496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-1" strike="noStrike">
                <a:solidFill>
                  <a:srgbClr val="ffffff"/>
                </a:solidFill>
                <a:latin typeface="Calibri"/>
                <a:ea typeface="Calibri"/>
              </a:rPr>
              <a:t>OK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26"/>
          <p:cNvSpPr/>
          <p:nvPr/>
        </p:nvSpPr>
        <p:spPr>
          <a:xfrm>
            <a:off x="2514600" y="2240280"/>
            <a:ext cx="6262560" cy="3006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27"/>
          <p:cNvSpPr/>
          <p:nvPr/>
        </p:nvSpPr>
        <p:spPr>
          <a:xfrm>
            <a:off x="2606040" y="2240280"/>
            <a:ext cx="41040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64748b"/>
                </a:solidFill>
                <a:latin typeface="Consolas"/>
                <a:ea typeface="Consolas"/>
              </a:rPr>
              <a:t>04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28"/>
          <p:cNvSpPr/>
          <p:nvPr/>
        </p:nvSpPr>
        <p:spPr>
          <a:xfrm>
            <a:off x="3063240" y="2240280"/>
            <a:ext cx="530244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1e293b"/>
                </a:solidFill>
                <a:latin typeface="Calibri"/>
                <a:ea typeface="Calibri"/>
              </a:rPr>
              <a:t>Modes de déplacement non reconnus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29"/>
          <p:cNvSpPr/>
          <p:nvPr/>
        </p:nvSpPr>
        <p:spPr>
          <a:xfrm>
            <a:off x="8321040" y="2295000"/>
            <a:ext cx="410400" cy="200160"/>
          </a:xfrm>
          <a:prstGeom prst="roundRect">
            <a:avLst>
              <a:gd name="adj" fmla="val 22727"/>
            </a:avLst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30"/>
          <p:cNvSpPr/>
          <p:nvPr/>
        </p:nvSpPr>
        <p:spPr>
          <a:xfrm>
            <a:off x="8321040" y="229500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-1" strike="noStrike">
                <a:solidFill>
                  <a:srgbClr val="ffffff"/>
                </a:solidFill>
                <a:latin typeface="Calibri"/>
                <a:ea typeface="Calibri"/>
              </a:rPr>
              <a:t>OK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31"/>
          <p:cNvSpPr/>
          <p:nvPr/>
        </p:nvSpPr>
        <p:spPr>
          <a:xfrm>
            <a:off x="2514600" y="2560320"/>
            <a:ext cx="6262560" cy="300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32"/>
          <p:cNvSpPr/>
          <p:nvPr/>
        </p:nvSpPr>
        <p:spPr>
          <a:xfrm>
            <a:off x="2606040" y="2560320"/>
            <a:ext cx="41040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64748b"/>
                </a:solidFill>
                <a:latin typeface="Consolas"/>
                <a:ea typeface="Consolas"/>
              </a:rPr>
              <a:t>05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33"/>
          <p:cNvSpPr/>
          <p:nvPr/>
        </p:nvSpPr>
        <p:spPr>
          <a:xfrm>
            <a:off x="3063240" y="2560320"/>
            <a:ext cx="530244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1e293b"/>
                </a:solidFill>
                <a:latin typeface="Calibri"/>
                <a:ea typeface="Calibri"/>
              </a:rPr>
              <a:t>Dates d'embauche dans le futur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34"/>
          <p:cNvSpPr/>
          <p:nvPr/>
        </p:nvSpPr>
        <p:spPr>
          <a:xfrm>
            <a:off x="8321040" y="2615040"/>
            <a:ext cx="410400" cy="200160"/>
          </a:xfrm>
          <a:prstGeom prst="roundRect">
            <a:avLst>
              <a:gd name="adj" fmla="val 22727"/>
            </a:avLst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35"/>
          <p:cNvSpPr/>
          <p:nvPr/>
        </p:nvSpPr>
        <p:spPr>
          <a:xfrm>
            <a:off x="8321040" y="261504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-1" strike="noStrike">
                <a:solidFill>
                  <a:srgbClr val="ffffff"/>
                </a:solidFill>
                <a:latin typeface="Calibri"/>
                <a:ea typeface="Calibri"/>
              </a:rPr>
              <a:t>OK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36"/>
          <p:cNvSpPr/>
          <p:nvPr/>
        </p:nvSpPr>
        <p:spPr>
          <a:xfrm>
            <a:off x="2514600" y="2880360"/>
            <a:ext cx="6262560" cy="3006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37"/>
          <p:cNvSpPr/>
          <p:nvPr/>
        </p:nvSpPr>
        <p:spPr>
          <a:xfrm>
            <a:off x="2606040" y="2880360"/>
            <a:ext cx="41040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64748b"/>
                </a:solidFill>
                <a:latin typeface="Consolas"/>
                <a:ea typeface="Consolas"/>
              </a:rPr>
              <a:t>06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38"/>
          <p:cNvSpPr/>
          <p:nvPr/>
        </p:nvSpPr>
        <p:spPr>
          <a:xfrm>
            <a:off x="3063240" y="2880360"/>
            <a:ext cx="530244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1e293b"/>
                </a:solidFill>
                <a:latin typeface="Calibri"/>
                <a:ea typeface="Calibri"/>
              </a:rPr>
              <a:t>Activités à distance négative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39"/>
          <p:cNvSpPr/>
          <p:nvPr/>
        </p:nvSpPr>
        <p:spPr>
          <a:xfrm>
            <a:off x="8321040" y="2935080"/>
            <a:ext cx="410400" cy="200160"/>
          </a:xfrm>
          <a:prstGeom prst="roundRect">
            <a:avLst>
              <a:gd name="adj" fmla="val 22727"/>
            </a:avLst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40"/>
          <p:cNvSpPr/>
          <p:nvPr/>
        </p:nvSpPr>
        <p:spPr>
          <a:xfrm>
            <a:off x="8321040" y="293508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-1" strike="noStrike">
                <a:solidFill>
                  <a:srgbClr val="ffffff"/>
                </a:solidFill>
                <a:latin typeface="Calibri"/>
                <a:ea typeface="Calibri"/>
              </a:rPr>
              <a:t>OK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41"/>
          <p:cNvSpPr/>
          <p:nvPr/>
        </p:nvSpPr>
        <p:spPr>
          <a:xfrm>
            <a:off x="2514600" y="3200400"/>
            <a:ext cx="6262560" cy="300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42"/>
          <p:cNvSpPr/>
          <p:nvPr/>
        </p:nvSpPr>
        <p:spPr>
          <a:xfrm>
            <a:off x="2606040" y="3200400"/>
            <a:ext cx="41040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64748b"/>
                </a:solidFill>
                <a:latin typeface="Consolas"/>
                <a:ea typeface="Consolas"/>
              </a:rPr>
              <a:t>07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43"/>
          <p:cNvSpPr/>
          <p:nvPr/>
        </p:nvSpPr>
        <p:spPr>
          <a:xfrm>
            <a:off x="3063240" y="3200400"/>
            <a:ext cx="530244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1e293b"/>
                </a:solidFill>
                <a:latin typeface="Calibri"/>
                <a:ea typeface="Calibri"/>
              </a:rPr>
              <a:t>Déclarations géographiques suspectes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44"/>
          <p:cNvSpPr/>
          <p:nvPr/>
        </p:nvSpPr>
        <p:spPr>
          <a:xfrm>
            <a:off x="8321040" y="3255120"/>
            <a:ext cx="410400" cy="200160"/>
          </a:xfrm>
          <a:prstGeom prst="roundRect">
            <a:avLst>
              <a:gd name="adj" fmla="val 22727"/>
            </a:avLst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45"/>
          <p:cNvSpPr/>
          <p:nvPr/>
        </p:nvSpPr>
        <p:spPr>
          <a:xfrm>
            <a:off x="8321040" y="3255120"/>
            <a:ext cx="410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-1" strike="noStrike">
                <a:solidFill>
                  <a:srgbClr val="ffffff"/>
                </a:solidFill>
                <a:latin typeface="Calibri"/>
                <a:ea typeface="Calibri"/>
              </a:rPr>
              <a:t>OK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46"/>
          <p:cNvSpPr/>
          <p:nvPr/>
        </p:nvSpPr>
        <p:spPr>
          <a:xfrm>
            <a:off x="365760" y="3611880"/>
            <a:ext cx="8411400" cy="100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47"/>
          <p:cNvSpPr/>
          <p:nvPr/>
        </p:nvSpPr>
        <p:spPr>
          <a:xfrm>
            <a:off x="365760" y="3611880"/>
            <a:ext cx="72000" cy="1004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48"/>
          <p:cNvSpPr/>
          <p:nvPr/>
        </p:nvSpPr>
        <p:spPr>
          <a:xfrm>
            <a:off x="548640" y="3767400"/>
            <a:ext cx="364680" cy="3646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5" name="Image 0" descr="preencoded.png"/>
          <p:cNvPicPr/>
          <p:nvPr/>
        </p:nvPicPr>
        <p:blipFill>
          <a:blip r:embed="rId1"/>
          <a:stretch/>
        </p:blipFill>
        <p:spPr>
          <a:xfrm>
            <a:off x="612720" y="383148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356" name="Text 49"/>
          <p:cNvSpPr/>
          <p:nvPr/>
        </p:nvSpPr>
        <p:spPr>
          <a:xfrm>
            <a:off x="1005840" y="3703320"/>
            <a:ext cx="7679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  <a:ea typeface="Calibri"/>
              </a:rPr>
              <a:t>Slack — #sport-recompenses · 2 types de notifications à chaque run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50"/>
          <p:cNvSpPr/>
          <p:nvPr/>
        </p:nvSpPr>
        <p:spPr>
          <a:xfrm>
            <a:off x="1005840" y="4005000"/>
            <a:ext cx="3656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92" strike="noStrike">
                <a:solidFill>
                  <a:srgbClr val="f59e0b"/>
                </a:solidFill>
                <a:latin typeface="Calibri"/>
                <a:ea typeface="Calibri"/>
              </a:rPr>
              <a:t>TYPE 1 · Récap global / run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51"/>
          <p:cNvSpPr/>
          <p:nvPr/>
        </p:nvSpPr>
        <p:spPr>
          <a:xfrm>
            <a:off x="1005840" y="418788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1e293b"/>
                </a:solidFill>
                <a:latin typeface="Calibri"/>
                <a:ea typeface="Calibri"/>
              </a:rPr>
              <a:t>161 salariés · 68 prime · 69 bien-être · 172 482 € / an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52"/>
          <p:cNvSpPr/>
          <p:nvPr/>
        </p:nvSpPr>
        <p:spPr>
          <a:xfrm>
            <a:off x="4937760" y="4005000"/>
            <a:ext cx="3839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92" strike="noStrike">
                <a:solidFill>
                  <a:srgbClr val="f59e0b"/>
                </a:solidFill>
                <a:latin typeface="Calibri"/>
                <a:ea typeface="Calibri"/>
              </a:rPr>
              <a:t>TYPE 2 · Individuel / activité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53"/>
          <p:cNvSpPr/>
          <p:nvPr/>
        </p:nvSpPr>
        <p:spPr>
          <a:xfrm>
            <a:off x="4937760" y="4187880"/>
            <a:ext cx="3839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1e293b"/>
                </a:solidFill>
                <a:latin typeface="Calibri"/>
                <a:ea typeface="Calibri"/>
              </a:rPr>
              <a:t>« Bravo Juliette Mendes ! Tu viens de courir 10,8 km... »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54"/>
          <p:cNvSpPr/>
          <p:nvPr/>
        </p:nvSpPr>
        <p:spPr>
          <a:xfrm>
            <a:off x="365760" y="4709160"/>
            <a:ext cx="8411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ef4444"/>
                </a:solidFill>
                <a:latin typeface="Calibri"/>
                <a:ea typeface="Calibri"/>
              </a:rPr>
              <a:t>Le pipeline s'arrête si le score tombe sous 80. Le run précédent reste la vérité dans PowerBI.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1"/>
          <p:cNvSpPr/>
          <p:nvPr/>
        </p:nvSpPr>
        <p:spPr>
          <a:xfrm>
            <a:off x="640080" y="1645920"/>
            <a:ext cx="8228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00" spc="593" strike="noStrike">
                <a:solidFill>
                  <a:srgbClr val="ec4899"/>
                </a:solidFill>
                <a:latin typeface="Calibri"/>
                <a:ea typeface="Calibri"/>
              </a:rPr>
              <a:t>PARTIE III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2"/>
          <p:cNvSpPr/>
          <p:nvPr/>
        </p:nvSpPr>
        <p:spPr>
          <a:xfrm>
            <a:off x="640080" y="1965960"/>
            <a:ext cx="82285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4000" spc="-1" strike="noStrike">
                <a:solidFill>
                  <a:srgbClr val="ffffff"/>
                </a:solidFill>
                <a:latin typeface="Calibri"/>
                <a:ea typeface="Calibri"/>
              </a:rPr>
              <a:t>Robuste, sécurisé, reproductible.</a:t>
            </a:r>
            <a:endParaRPr b="0" lang="fr-FR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3"/>
          <p:cNvSpPr/>
          <p:nvPr/>
        </p:nvSpPr>
        <p:spPr>
          <a:xfrm>
            <a:off x="640080" y="3017520"/>
            <a:ext cx="822852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500" spc="-1" strike="noStrike">
                <a:solidFill>
                  <a:srgbClr val="cadcfc"/>
                </a:solidFill>
                <a:latin typeface="Calibri"/>
                <a:ea typeface="Calibri"/>
              </a:rPr>
              <a:t>Les réponses aux questions que le jury posera forcément :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500" spc="-1" strike="noStrike">
                <a:solidFill>
                  <a:srgbClr val="cadcfc"/>
                </a:solidFill>
                <a:latin typeface="Calibri"/>
                <a:ea typeface="Calibri"/>
              </a:rPr>
              <a:t>reprocessing sans doublons, droits RGPD, et démo live pour prouver que ça tourne.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Shape 4"/>
          <p:cNvSpPr/>
          <p:nvPr/>
        </p:nvSpPr>
        <p:spPr>
          <a:xfrm>
            <a:off x="640080" y="4160520"/>
            <a:ext cx="8229600" cy="360"/>
          </a:xfrm>
          <a:prstGeom prst="line">
            <a:avLst/>
          </a:prstGeom>
          <a:ln w="12700">
            <a:solidFill>
              <a:srgbClr val="2a36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5"/>
          <p:cNvSpPr/>
          <p:nvPr/>
        </p:nvSpPr>
        <p:spPr>
          <a:xfrm>
            <a:off x="640080" y="425196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92" strike="noStrike">
                <a:solidFill>
                  <a:srgbClr val="94c7e0"/>
                </a:solidFill>
                <a:latin typeface="Calibri"/>
                <a:ea typeface="Calibri"/>
              </a:rPr>
              <a:t>Slides 07 → 10        ·        Durée orale ~ 8 min        ·        Points clés  MD5 · RGPD · Démo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1"/>
          <p:cNvSpPr/>
          <p:nvPr/>
        </p:nvSpPr>
        <p:spPr>
          <a:xfrm>
            <a:off x="365760" y="0"/>
            <a:ext cx="2742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293" strike="noStrike">
                <a:solidFill>
                  <a:srgbClr val="ffffff"/>
                </a:solidFill>
                <a:latin typeface="Calibri"/>
                <a:ea typeface="Calibri"/>
              </a:rPr>
              <a:t>SPORT DATA SOLUTION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2"/>
          <p:cNvSpPr/>
          <p:nvPr/>
        </p:nvSpPr>
        <p:spPr>
          <a:xfrm>
            <a:off x="3200400" y="0"/>
            <a:ext cx="4113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194" strike="noStrike">
                <a:solidFill>
                  <a:srgbClr val="94c7e0"/>
                </a:solidFill>
                <a:latin typeface="Calibri"/>
                <a:ea typeface="Calibri"/>
              </a:rPr>
              <a:t>PARTIE III · REPROCESSING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3"/>
          <p:cNvSpPr/>
          <p:nvPr/>
        </p:nvSpPr>
        <p:spPr>
          <a:xfrm>
            <a:off x="7680960" y="0"/>
            <a:ext cx="12790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07 / 10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4"/>
          <p:cNvSpPr/>
          <p:nvPr/>
        </p:nvSpPr>
        <p:spPr>
          <a:xfrm>
            <a:off x="0" y="4974480"/>
            <a:ext cx="91429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750" spc="-1" strike="noStrike">
                <a:solidFill>
                  <a:srgbClr val="64748b"/>
                </a:solidFill>
                <a:latin typeface="Calibri"/>
                <a:ea typeface="Calibri"/>
              </a:rPr>
              <a:t>Sport Data Solution · POC Data Engineering · Avril 2026 · v3.1.0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5"/>
          <p:cNvSpPr/>
          <p:nvPr/>
        </p:nvSpPr>
        <p:spPr>
          <a:xfrm>
            <a:off x="365760" y="438840"/>
            <a:ext cx="841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1e293b"/>
                </a:solidFill>
                <a:latin typeface="Calibri"/>
                <a:ea typeface="Calibri"/>
              </a:rPr>
              <a:t>Scalabilité &amp; reprocessing — la réponse à Juliette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6"/>
          <p:cNvSpPr/>
          <p:nvPr/>
        </p:nvSpPr>
        <p:spPr>
          <a:xfrm>
            <a:off x="365760" y="896040"/>
            <a:ext cx="8411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100" spc="-1" strike="noStrike">
                <a:solidFill>
                  <a:srgbClr val="64748b"/>
                </a:solidFill>
                <a:latin typeface="Calibri"/>
                <a:ea typeface="Calibri"/>
              </a:rPr>
              <a:t>Relancer l'historique après une modification de règle, sans doublon, sans ligne orpheline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7"/>
          <p:cNvSpPr/>
          <p:nvPr/>
        </p:nvSpPr>
        <p:spPr>
          <a:xfrm>
            <a:off x="365760" y="1280160"/>
            <a:ext cx="8411400" cy="639000"/>
          </a:xfrm>
          <a:prstGeom prst="rect">
            <a:avLst/>
          </a:prstGeom>
          <a:solidFill>
            <a:srgbClr val="fff4e6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8"/>
          <p:cNvSpPr/>
          <p:nvPr/>
        </p:nvSpPr>
        <p:spPr>
          <a:xfrm>
            <a:off x="365760" y="1280160"/>
            <a:ext cx="72000" cy="639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9"/>
          <p:cNvSpPr/>
          <p:nvPr/>
        </p:nvSpPr>
        <p:spPr>
          <a:xfrm>
            <a:off x="502920" y="128016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rgbClr val="f59e0b"/>
                </a:solidFill>
                <a:latin typeface="Calibri"/>
                <a:ea typeface="Calibri"/>
              </a:rPr>
              <a:t>"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10"/>
          <p:cNvSpPr/>
          <p:nvPr/>
        </p:nvSpPr>
        <p:spPr>
          <a:xfrm>
            <a:off x="822960" y="1325880"/>
            <a:ext cx="78170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000" spc="-1" strike="noStrike">
                <a:solidFill>
                  <a:srgbClr val="1e293b"/>
                </a:solidFill>
                <a:latin typeface="Calibri"/>
                <a:ea typeface="Calibri"/>
              </a:rPr>
              <a:t>Pense à permettre de relancer l'historique des indicateurs si jamais une source est modifiée (nous ne sommes pas à l'abri d'une modification du taux ou des données entrantes).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11"/>
          <p:cNvSpPr/>
          <p:nvPr/>
        </p:nvSpPr>
        <p:spPr>
          <a:xfrm>
            <a:off x="822960" y="1710000"/>
            <a:ext cx="78170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00" spc="-1" strike="noStrike">
                <a:solidFill>
                  <a:srgbClr val="64748b"/>
                </a:solidFill>
                <a:latin typeface="Calibri"/>
                <a:ea typeface="Calibri"/>
              </a:rPr>
              <a:t>— </a:t>
            </a:r>
            <a:r>
              <a:rPr b="0" lang="fr-FR" sz="800" spc="-1" strike="noStrike">
                <a:solidFill>
                  <a:srgbClr val="64748b"/>
                </a:solidFill>
                <a:latin typeface="Calibri"/>
                <a:ea typeface="Calibri"/>
              </a:rPr>
              <a:t>Juliette Mendes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12"/>
          <p:cNvSpPr/>
          <p:nvPr/>
        </p:nvSpPr>
        <p:spPr>
          <a:xfrm>
            <a:off x="365760" y="2057400"/>
            <a:ext cx="4205160" cy="2559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13"/>
          <p:cNvSpPr/>
          <p:nvPr/>
        </p:nvSpPr>
        <p:spPr>
          <a:xfrm>
            <a:off x="365760" y="2057400"/>
            <a:ext cx="72000" cy="2559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14"/>
          <p:cNvSpPr/>
          <p:nvPr/>
        </p:nvSpPr>
        <p:spPr>
          <a:xfrm>
            <a:off x="548640" y="2148840"/>
            <a:ext cx="2833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00" spc="-1" strike="noStrike">
                <a:solidFill>
                  <a:srgbClr val="1e293b"/>
                </a:solidFill>
                <a:latin typeface="Calibri"/>
                <a:ea typeface="Calibri"/>
              </a:rPr>
              <a:t>Mécanisme d'idempotency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15"/>
          <p:cNvSpPr/>
          <p:nvPr/>
        </p:nvSpPr>
        <p:spPr>
          <a:xfrm>
            <a:off x="3200400" y="214884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-1" strike="noStrike">
                <a:solidFill>
                  <a:srgbClr val="8b5cf6"/>
                </a:solidFill>
                <a:latin typeface="Consolas"/>
                <a:ea typeface="Consolas"/>
              </a:rPr>
              <a:t>MD5 row_hash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16"/>
          <p:cNvSpPr/>
          <p:nvPr/>
        </p:nvSpPr>
        <p:spPr>
          <a:xfrm>
            <a:off x="548640" y="2468880"/>
            <a:ext cx="38394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alibri"/>
                <a:ea typeface="Calibri"/>
              </a:rPr>
              <a:t>Un hash MD5 est calculé par salarié sur :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17"/>
          <p:cNvSpPr/>
          <p:nvPr/>
        </p:nvSpPr>
        <p:spPr>
          <a:xfrm>
            <a:off x="548640" y="2715840"/>
            <a:ext cx="3839400" cy="5018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18"/>
          <p:cNvSpPr/>
          <p:nvPr/>
        </p:nvSpPr>
        <p:spPr>
          <a:xfrm>
            <a:off x="640080" y="2761560"/>
            <a:ext cx="36565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onsolas"/>
                <a:ea typeface="Consolas"/>
              </a:rPr>
              <a:t>row_hash = md5(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onsolas"/>
                <a:ea typeface="Consolas"/>
              </a:rPr>
              <a:t>  </a:t>
            </a:r>
            <a:r>
              <a:rPr b="0" lang="fr-FR" sz="900" spc="-1" strike="noStrike">
                <a:solidFill>
                  <a:srgbClr val="1e293b"/>
                </a:solidFill>
                <a:latin typeface="Consolas"/>
                <a:ea typeface="Consolas"/>
              </a:rPr>
              <a:t>ID · Salaire · Mode · Sport · NbActivités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onsolas"/>
                <a:ea typeface="Consolas"/>
              </a:rPr>
              <a:t>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19"/>
          <p:cNvSpPr/>
          <p:nvPr/>
        </p:nvSpPr>
        <p:spPr>
          <a:xfrm>
            <a:off x="548640" y="324612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alibri"/>
                <a:ea typeface="Calibri"/>
              </a:rPr>
              <a:t>Un changement de données source (salaire, mode, sport, nb activités) change le row_hash → PowerBI recharge les lignes modifiées. Un changement de paramètre (taux) produit un nouveau run_id → Historique_Runs s'enrichit.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20"/>
          <p:cNvSpPr/>
          <p:nvPr/>
        </p:nvSpPr>
        <p:spPr>
          <a:xfrm>
            <a:off x="548640" y="3657600"/>
            <a:ext cx="1827720" cy="639000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21"/>
          <p:cNvSpPr/>
          <p:nvPr/>
        </p:nvSpPr>
        <p:spPr>
          <a:xfrm>
            <a:off x="640080" y="3712320"/>
            <a:ext cx="16448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92" strike="noStrike">
                <a:solidFill>
                  <a:srgbClr val="ef4444"/>
                </a:solidFill>
                <a:latin typeface="Calibri"/>
                <a:ea typeface="Calibri"/>
              </a:rPr>
              <a:t>AVANT RUN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22"/>
          <p:cNvSpPr/>
          <p:nvPr/>
        </p:nvSpPr>
        <p:spPr>
          <a:xfrm>
            <a:off x="640080" y="3886200"/>
            <a:ext cx="16448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onsolas"/>
                <a:ea typeface="Consolas"/>
              </a:rPr>
              <a:t>prime = 0.05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23"/>
          <p:cNvSpPr/>
          <p:nvPr/>
        </p:nvSpPr>
        <p:spPr>
          <a:xfrm>
            <a:off x="640080" y="4069080"/>
            <a:ext cx="16448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onsolas"/>
                <a:ea typeface="Consolas"/>
              </a:rPr>
              <a:t>run_id = #001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24"/>
          <p:cNvSpPr/>
          <p:nvPr/>
        </p:nvSpPr>
        <p:spPr>
          <a:xfrm>
            <a:off x="2560320" y="3657600"/>
            <a:ext cx="1827720" cy="639000"/>
          </a:xfrm>
          <a:prstGeom prst="rect">
            <a:avLst/>
          </a:prstGeom>
          <a:solidFill>
            <a:srgbClr val="d1fae5"/>
          </a:solidFill>
          <a:ln w="635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25"/>
          <p:cNvSpPr/>
          <p:nvPr/>
        </p:nvSpPr>
        <p:spPr>
          <a:xfrm>
            <a:off x="2651760" y="3712320"/>
            <a:ext cx="16448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00" spc="92" strike="noStrike">
                <a:solidFill>
                  <a:srgbClr val="22c55e"/>
                </a:solidFill>
                <a:latin typeface="Calibri"/>
                <a:ea typeface="Calibri"/>
              </a:rPr>
              <a:t>APRÈS RUN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26"/>
          <p:cNvSpPr/>
          <p:nvPr/>
        </p:nvSpPr>
        <p:spPr>
          <a:xfrm>
            <a:off x="2651760" y="3886200"/>
            <a:ext cx="16448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onsolas"/>
                <a:ea typeface="Consolas"/>
              </a:rPr>
              <a:t>prime = 0.07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27"/>
          <p:cNvSpPr/>
          <p:nvPr/>
        </p:nvSpPr>
        <p:spPr>
          <a:xfrm>
            <a:off x="2651760" y="4069080"/>
            <a:ext cx="16448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onsolas"/>
                <a:ea typeface="Consolas"/>
              </a:rPr>
              <a:t>run_id = #002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28"/>
          <p:cNvSpPr/>
          <p:nvPr/>
        </p:nvSpPr>
        <p:spPr>
          <a:xfrm>
            <a:off x="4709160" y="2057400"/>
            <a:ext cx="4068000" cy="2559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29"/>
          <p:cNvSpPr/>
          <p:nvPr/>
        </p:nvSpPr>
        <p:spPr>
          <a:xfrm>
            <a:off x="4709160" y="2057400"/>
            <a:ext cx="72000" cy="2559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30"/>
          <p:cNvSpPr/>
          <p:nvPr/>
        </p:nvSpPr>
        <p:spPr>
          <a:xfrm>
            <a:off x="4892040" y="2148840"/>
            <a:ext cx="2422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200" spc="-1" strike="noStrike">
                <a:solidFill>
                  <a:srgbClr val="1e293b"/>
                </a:solidFill>
                <a:latin typeface="Calibri"/>
                <a:ea typeface="Calibri"/>
              </a:rPr>
              <a:t>Export Excel — 8 feuilles structurées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31"/>
          <p:cNvSpPr/>
          <p:nvPr/>
        </p:nvSpPr>
        <p:spPr>
          <a:xfrm>
            <a:off x="7132320" y="2148840"/>
            <a:ext cx="1461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00" spc="-1" strike="noStrike">
                <a:solidFill>
                  <a:srgbClr val="f59e0b"/>
                </a:solidFill>
                <a:latin typeface="Consolas"/>
                <a:ea typeface="Consolas"/>
              </a:rPr>
              <a:t>sortie PowerBI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32"/>
          <p:cNvSpPr/>
          <p:nvPr/>
        </p:nvSpPr>
        <p:spPr>
          <a:xfrm>
            <a:off x="4892040" y="2560320"/>
            <a:ext cx="1782000" cy="36468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33"/>
          <p:cNvSpPr/>
          <p:nvPr/>
        </p:nvSpPr>
        <p:spPr>
          <a:xfrm>
            <a:off x="4983480" y="2560320"/>
            <a:ext cx="318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59e0b"/>
                </a:solidFill>
                <a:latin typeface="Consolas"/>
                <a:ea typeface="Consolas"/>
              </a:rPr>
              <a:t>01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34"/>
          <p:cNvSpPr/>
          <p:nvPr/>
        </p:nvSpPr>
        <p:spPr>
          <a:xfrm>
            <a:off x="5303520" y="2560320"/>
            <a:ext cx="1324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onsolas"/>
                <a:ea typeface="Consolas"/>
              </a:rPr>
              <a:t>Salariés_Complet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35"/>
          <p:cNvSpPr/>
          <p:nvPr/>
        </p:nvSpPr>
        <p:spPr>
          <a:xfrm>
            <a:off x="6766560" y="2560320"/>
            <a:ext cx="1782000" cy="36468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36"/>
          <p:cNvSpPr/>
          <p:nvPr/>
        </p:nvSpPr>
        <p:spPr>
          <a:xfrm>
            <a:off x="6858000" y="2560320"/>
            <a:ext cx="318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59e0b"/>
                </a:solidFill>
                <a:latin typeface="Consolas"/>
                <a:ea typeface="Consolas"/>
              </a:rPr>
              <a:t>02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37"/>
          <p:cNvSpPr/>
          <p:nvPr/>
        </p:nvSpPr>
        <p:spPr>
          <a:xfrm>
            <a:off x="7178040" y="2560320"/>
            <a:ext cx="1324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onsolas"/>
                <a:ea typeface="Consolas"/>
              </a:rPr>
              <a:t>Éligibles_Prime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38"/>
          <p:cNvSpPr/>
          <p:nvPr/>
        </p:nvSpPr>
        <p:spPr>
          <a:xfrm>
            <a:off x="4892040" y="3017520"/>
            <a:ext cx="1782000" cy="36468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39"/>
          <p:cNvSpPr/>
          <p:nvPr/>
        </p:nvSpPr>
        <p:spPr>
          <a:xfrm>
            <a:off x="4983480" y="3017520"/>
            <a:ext cx="318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59e0b"/>
                </a:solidFill>
                <a:latin typeface="Consolas"/>
                <a:ea typeface="Consolas"/>
              </a:rPr>
              <a:t>03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40"/>
          <p:cNvSpPr/>
          <p:nvPr/>
        </p:nvSpPr>
        <p:spPr>
          <a:xfrm>
            <a:off x="5303520" y="3017520"/>
            <a:ext cx="1324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onsolas"/>
                <a:ea typeface="Consolas"/>
              </a:rPr>
              <a:t>Éligibles_BienEtre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41"/>
          <p:cNvSpPr/>
          <p:nvPr/>
        </p:nvSpPr>
        <p:spPr>
          <a:xfrm>
            <a:off x="6766560" y="3017520"/>
            <a:ext cx="1782000" cy="36468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42"/>
          <p:cNvSpPr/>
          <p:nvPr/>
        </p:nvSpPr>
        <p:spPr>
          <a:xfrm>
            <a:off x="6858000" y="3017520"/>
            <a:ext cx="318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59e0b"/>
                </a:solidFill>
                <a:latin typeface="Consolas"/>
                <a:ea typeface="Consolas"/>
              </a:rPr>
              <a:t>04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43"/>
          <p:cNvSpPr/>
          <p:nvPr/>
        </p:nvSpPr>
        <p:spPr>
          <a:xfrm>
            <a:off x="7178040" y="3017520"/>
            <a:ext cx="1324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onsolas"/>
                <a:ea typeface="Consolas"/>
              </a:rPr>
              <a:t>Alertes_Geo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44"/>
          <p:cNvSpPr/>
          <p:nvPr/>
        </p:nvSpPr>
        <p:spPr>
          <a:xfrm>
            <a:off x="4892040" y="3474720"/>
            <a:ext cx="1782000" cy="36468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45"/>
          <p:cNvSpPr/>
          <p:nvPr/>
        </p:nvSpPr>
        <p:spPr>
          <a:xfrm>
            <a:off x="4983480" y="3474720"/>
            <a:ext cx="318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59e0b"/>
                </a:solidFill>
                <a:latin typeface="Consolas"/>
                <a:ea typeface="Consolas"/>
              </a:rPr>
              <a:t>05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 46"/>
          <p:cNvSpPr/>
          <p:nvPr/>
        </p:nvSpPr>
        <p:spPr>
          <a:xfrm>
            <a:off x="5303520" y="3474720"/>
            <a:ext cx="1324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onsolas"/>
                <a:ea typeface="Consolas"/>
              </a:rPr>
              <a:t>KPI_Synthèse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47"/>
          <p:cNvSpPr/>
          <p:nvPr/>
        </p:nvSpPr>
        <p:spPr>
          <a:xfrm>
            <a:off x="6766560" y="3474720"/>
            <a:ext cx="1782000" cy="36468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 48"/>
          <p:cNvSpPr/>
          <p:nvPr/>
        </p:nvSpPr>
        <p:spPr>
          <a:xfrm>
            <a:off x="6858000" y="3474720"/>
            <a:ext cx="318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59e0b"/>
                </a:solidFill>
                <a:latin typeface="Consolas"/>
                <a:ea typeface="Consolas"/>
              </a:rPr>
              <a:t>06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49"/>
          <p:cNvSpPr/>
          <p:nvPr/>
        </p:nvSpPr>
        <p:spPr>
          <a:xfrm>
            <a:off x="7178040" y="3474720"/>
            <a:ext cx="1324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onsolas"/>
                <a:ea typeface="Consolas"/>
              </a:rPr>
              <a:t>Activités_Strava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50"/>
          <p:cNvSpPr/>
          <p:nvPr/>
        </p:nvSpPr>
        <p:spPr>
          <a:xfrm>
            <a:off x="4892040" y="3931920"/>
            <a:ext cx="1782000" cy="36468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51"/>
          <p:cNvSpPr/>
          <p:nvPr/>
        </p:nvSpPr>
        <p:spPr>
          <a:xfrm>
            <a:off x="4983480" y="3931920"/>
            <a:ext cx="318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59e0b"/>
                </a:solidFill>
                <a:latin typeface="Consolas"/>
                <a:ea typeface="Consolas"/>
              </a:rPr>
              <a:t>07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52"/>
          <p:cNvSpPr/>
          <p:nvPr/>
        </p:nvSpPr>
        <p:spPr>
          <a:xfrm>
            <a:off x="5303520" y="3931920"/>
            <a:ext cx="1324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onsolas"/>
                <a:ea typeface="Consolas"/>
              </a:rPr>
              <a:t>Data_Quality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53"/>
          <p:cNvSpPr/>
          <p:nvPr/>
        </p:nvSpPr>
        <p:spPr>
          <a:xfrm>
            <a:off x="6766560" y="3931920"/>
            <a:ext cx="1782000" cy="36468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54"/>
          <p:cNvSpPr/>
          <p:nvPr/>
        </p:nvSpPr>
        <p:spPr>
          <a:xfrm>
            <a:off x="6858000" y="3931920"/>
            <a:ext cx="318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f59e0b"/>
                </a:solidFill>
                <a:latin typeface="Consolas"/>
                <a:ea typeface="Consolas"/>
              </a:rPr>
              <a:t>08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55"/>
          <p:cNvSpPr/>
          <p:nvPr/>
        </p:nvSpPr>
        <p:spPr>
          <a:xfrm>
            <a:off x="7178040" y="3931920"/>
            <a:ext cx="1324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onsolas"/>
                <a:ea typeface="Consolas"/>
              </a:rPr>
              <a:t>Historique_Runs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56"/>
          <p:cNvSpPr/>
          <p:nvPr/>
        </p:nvSpPr>
        <p:spPr>
          <a:xfrm>
            <a:off x="365760" y="4709160"/>
            <a:ext cx="8411400" cy="200160"/>
          </a:xfrm>
          <a:prstGeom prst="rect">
            <a:avLst/>
          </a:prstGeom>
          <a:solidFill>
            <a:srgbClr val="d1fae5"/>
          </a:solidFill>
          <a:ln w="635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57"/>
          <p:cNvSpPr/>
          <p:nvPr/>
        </p:nvSpPr>
        <p:spPr>
          <a:xfrm>
            <a:off x="365760" y="4709160"/>
            <a:ext cx="8411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850" spc="-1" strike="noStrike">
                <a:solidFill>
                  <a:srgbClr val="1e293b"/>
                </a:solidFill>
                <a:latin typeface="Calibri"/>
                <a:ea typeface="Calibri"/>
              </a:rPr>
              <a:t>✓ </a:t>
            </a:r>
            <a:r>
              <a:rPr b="1" lang="fr-FR" sz="850" spc="-1" strike="noStrike">
                <a:solidFill>
                  <a:srgbClr val="1e293b"/>
                </a:solidFill>
                <a:latin typeface="Calibri"/>
                <a:ea typeface="Calibri"/>
              </a:rPr>
              <a:t>0 doublon — 0 ligne orpheline        ·        UI :8089 · sds_pipeline → nouveau run, hashs recalculés, PowerBI à jour automatiquement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 1"/>
          <p:cNvSpPr/>
          <p:nvPr/>
        </p:nvSpPr>
        <p:spPr>
          <a:xfrm>
            <a:off x="365760" y="0"/>
            <a:ext cx="2742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293" strike="noStrike">
                <a:solidFill>
                  <a:srgbClr val="ffffff"/>
                </a:solidFill>
                <a:latin typeface="Calibri"/>
                <a:ea typeface="Calibri"/>
              </a:rPr>
              <a:t>SPORT DATA SOLUTION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 2"/>
          <p:cNvSpPr/>
          <p:nvPr/>
        </p:nvSpPr>
        <p:spPr>
          <a:xfrm>
            <a:off x="3200400" y="0"/>
            <a:ext cx="4113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194" strike="noStrike">
                <a:solidFill>
                  <a:srgbClr val="94c7e0"/>
                </a:solidFill>
                <a:latin typeface="Calibri"/>
                <a:ea typeface="Calibri"/>
              </a:rPr>
              <a:t>PARTIE III · RGPD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3"/>
          <p:cNvSpPr/>
          <p:nvPr/>
        </p:nvSpPr>
        <p:spPr>
          <a:xfrm>
            <a:off x="7680960" y="0"/>
            <a:ext cx="12790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08 / 10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4"/>
          <p:cNvSpPr/>
          <p:nvPr/>
        </p:nvSpPr>
        <p:spPr>
          <a:xfrm>
            <a:off x="0" y="4974480"/>
            <a:ext cx="91429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750" spc="-1" strike="noStrike">
                <a:solidFill>
                  <a:srgbClr val="64748b"/>
                </a:solidFill>
                <a:latin typeface="Calibri"/>
                <a:ea typeface="Calibri"/>
              </a:rPr>
              <a:t>Sport Data Solution · POC Data Engineering · Avril 2026 · v3.1.0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5"/>
          <p:cNvSpPr/>
          <p:nvPr/>
        </p:nvSpPr>
        <p:spPr>
          <a:xfrm>
            <a:off x="365760" y="438840"/>
            <a:ext cx="841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1e293b"/>
                </a:solidFill>
                <a:latin typeface="Calibri"/>
                <a:ea typeface="Calibri"/>
              </a:rPr>
              <a:t>Architecture RGPD — 3 couches d'accès décroissant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6"/>
          <p:cNvSpPr/>
          <p:nvPr/>
        </p:nvSpPr>
        <p:spPr>
          <a:xfrm>
            <a:off x="365760" y="896040"/>
            <a:ext cx="8411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100" spc="-1" strike="noStrike">
                <a:solidFill>
                  <a:srgbClr val="64748b"/>
                </a:solidFill>
                <a:latin typeface="Calibri"/>
                <a:ea typeface="Calibri"/>
              </a:rPr>
              <a:t>Schémas cloisonnés, rôles GRANT et vues SHA-256 en DB · POC : pipeline en user DBA · Prod : flux PowerBI via presentation.*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7"/>
          <p:cNvSpPr/>
          <p:nvPr/>
        </p:nvSpPr>
        <p:spPr>
          <a:xfrm>
            <a:off x="365760" y="1280160"/>
            <a:ext cx="2787840" cy="201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8"/>
          <p:cNvSpPr/>
          <p:nvPr/>
        </p:nvSpPr>
        <p:spPr>
          <a:xfrm>
            <a:off x="365760" y="1280160"/>
            <a:ext cx="2787840" cy="501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9"/>
          <p:cNvSpPr/>
          <p:nvPr/>
        </p:nvSpPr>
        <p:spPr>
          <a:xfrm>
            <a:off x="502920" y="1280160"/>
            <a:ext cx="456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ffffff"/>
                </a:solidFill>
                <a:latin typeface="Consolas"/>
                <a:ea typeface="Consolas"/>
              </a:rPr>
              <a:t>01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10"/>
          <p:cNvSpPr/>
          <p:nvPr/>
        </p:nvSpPr>
        <p:spPr>
          <a:xfrm>
            <a:off x="960120" y="1280160"/>
            <a:ext cx="20563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300" spc="293" strike="noStrike">
                <a:solidFill>
                  <a:srgbClr val="ffffff"/>
                </a:solidFill>
                <a:latin typeface="Calibri"/>
                <a:ea typeface="Calibri"/>
              </a:rPr>
              <a:t>BRUTE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11"/>
          <p:cNvSpPr/>
          <p:nvPr/>
        </p:nvSpPr>
        <p:spPr>
          <a:xfrm>
            <a:off x="1504080" y="1965960"/>
            <a:ext cx="510840" cy="5108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8" name="Image 0" descr="preencoded.png"/>
          <p:cNvPicPr/>
          <p:nvPr/>
        </p:nvPicPr>
        <p:blipFill>
          <a:blip r:embed="rId1"/>
          <a:stretch/>
        </p:blipFill>
        <p:spPr>
          <a:xfrm>
            <a:off x="1595520" y="2057400"/>
            <a:ext cx="327960" cy="327960"/>
          </a:xfrm>
          <a:prstGeom prst="rect">
            <a:avLst/>
          </a:prstGeom>
          <a:ln w="0">
            <a:noFill/>
          </a:ln>
        </p:spPr>
      </p:pic>
      <p:sp>
        <p:nvSpPr>
          <p:cNvPr id="439" name="Text 12"/>
          <p:cNvSpPr/>
          <p:nvPr/>
        </p:nvSpPr>
        <p:spPr>
          <a:xfrm>
            <a:off x="548640" y="2560320"/>
            <a:ext cx="24220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  <a:ea typeface="Calibri"/>
              </a:rPr>
              <a:t>PII complète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13"/>
          <p:cNvSpPr/>
          <p:nvPr/>
        </p:nvSpPr>
        <p:spPr>
          <a:xfrm>
            <a:off x="548640" y="2788920"/>
            <a:ext cx="24220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64748b"/>
                </a:solidFill>
                <a:latin typeface="Calibri"/>
                <a:ea typeface="Calibri"/>
              </a:rPr>
              <a:t>Nom, prénom, adresse, salaire brut, sport déclaré.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14"/>
          <p:cNvSpPr/>
          <p:nvPr/>
        </p:nvSpPr>
        <p:spPr>
          <a:xfrm>
            <a:off x="3246120" y="1280160"/>
            <a:ext cx="2787840" cy="201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15"/>
          <p:cNvSpPr/>
          <p:nvPr/>
        </p:nvSpPr>
        <p:spPr>
          <a:xfrm>
            <a:off x="3246120" y="1280160"/>
            <a:ext cx="2787840" cy="50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16"/>
          <p:cNvSpPr/>
          <p:nvPr/>
        </p:nvSpPr>
        <p:spPr>
          <a:xfrm>
            <a:off x="3383280" y="1280160"/>
            <a:ext cx="456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ffffff"/>
                </a:solidFill>
                <a:latin typeface="Consolas"/>
                <a:ea typeface="Consolas"/>
              </a:rPr>
              <a:t>02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 17"/>
          <p:cNvSpPr/>
          <p:nvPr/>
        </p:nvSpPr>
        <p:spPr>
          <a:xfrm>
            <a:off x="3840480" y="1280160"/>
            <a:ext cx="20563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300" spc="293" strike="noStrike">
                <a:solidFill>
                  <a:srgbClr val="ffffff"/>
                </a:solidFill>
                <a:latin typeface="Calibri"/>
                <a:ea typeface="Calibri"/>
              </a:rPr>
              <a:t>ANALYTIQUE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18"/>
          <p:cNvSpPr/>
          <p:nvPr/>
        </p:nvSpPr>
        <p:spPr>
          <a:xfrm>
            <a:off x="4384440" y="1965960"/>
            <a:ext cx="510840" cy="510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6" name="Image 1" descr="preencoded.png"/>
          <p:cNvPicPr/>
          <p:nvPr/>
        </p:nvPicPr>
        <p:blipFill>
          <a:blip r:embed="rId2"/>
          <a:stretch/>
        </p:blipFill>
        <p:spPr>
          <a:xfrm>
            <a:off x="4475880" y="2057400"/>
            <a:ext cx="327960" cy="327960"/>
          </a:xfrm>
          <a:prstGeom prst="rect">
            <a:avLst/>
          </a:prstGeom>
          <a:ln w="0">
            <a:noFill/>
          </a:ln>
        </p:spPr>
      </p:pic>
      <p:sp>
        <p:nvSpPr>
          <p:cNvPr id="447" name="Text 19"/>
          <p:cNvSpPr/>
          <p:nvPr/>
        </p:nvSpPr>
        <p:spPr>
          <a:xfrm>
            <a:off x="3429000" y="2560320"/>
            <a:ext cx="24220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  <a:ea typeface="Calibri"/>
              </a:rPr>
              <a:t>Pseudonymisée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 20"/>
          <p:cNvSpPr/>
          <p:nvPr/>
        </p:nvSpPr>
        <p:spPr>
          <a:xfrm>
            <a:off x="3429000" y="2788920"/>
            <a:ext cx="24220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64748b"/>
                </a:solidFill>
                <a:latin typeface="Calibri"/>
                <a:ea typeface="Calibri"/>
              </a:rPr>
              <a:t>ID pseudo SHA-256, BU, éligibilité, montant. Nom / prénom absents.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21"/>
          <p:cNvSpPr/>
          <p:nvPr/>
        </p:nvSpPr>
        <p:spPr>
          <a:xfrm>
            <a:off x="6126480" y="1280160"/>
            <a:ext cx="2787840" cy="201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22"/>
          <p:cNvSpPr/>
          <p:nvPr/>
        </p:nvSpPr>
        <p:spPr>
          <a:xfrm>
            <a:off x="6126480" y="1280160"/>
            <a:ext cx="2787840" cy="501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23"/>
          <p:cNvSpPr/>
          <p:nvPr/>
        </p:nvSpPr>
        <p:spPr>
          <a:xfrm>
            <a:off x="6263640" y="1280160"/>
            <a:ext cx="456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ffffff"/>
                </a:solidFill>
                <a:latin typeface="Consolas"/>
                <a:ea typeface="Consolas"/>
              </a:rPr>
              <a:t>03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 24"/>
          <p:cNvSpPr/>
          <p:nvPr/>
        </p:nvSpPr>
        <p:spPr>
          <a:xfrm>
            <a:off x="6720840" y="1280160"/>
            <a:ext cx="20563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300" spc="293" strike="noStrike">
                <a:solidFill>
                  <a:srgbClr val="ffffff"/>
                </a:solidFill>
                <a:latin typeface="Calibri"/>
                <a:ea typeface="Calibri"/>
              </a:rPr>
              <a:t>PRÉSENTATION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25"/>
          <p:cNvSpPr/>
          <p:nvPr/>
        </p:nvSpPr>
        <p:spPr>
          <a:xfrm>
            <a:off x="7264800" y="1965960"/>
            <a:ext cx="510840" cy="5108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4" name="Image 2" descr="preencoded.png"/>
          <p:cNvPicPr/>
          <p:nvPr/>
        </p:nvPicPr>
        <p:blipFill>
          <a:blip r:embed="rId3"/>
          <a:stretch/>
        </p:blipFill>
        <p:spPr>
          <a:xfrm>
            <a:off x="7356240" y="2057400"/>
            <a:ext cx="327960" cy="327960"/>
          </a:xfrm>
          <a:prstGeom prst="rect">
            <a:avLst/>
          </a:prstGeom>
          <a:ln w="0">
            <a:noFill/>
          </a:ln>
        </p:spPr>
      </p:pic>
      <p:sp>
        <p:nvSpPr>
          <p:cNvPr id="455" name="Text 26"/>
          <p:cNvSpPr/>
          <p:nvPr/>
        </p:nvSpPr>
        <p:spPr>
          <a:xfrm>
            <a:off x="6309360" y="2560320"/>
            <a:ext cx="24220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  <a:ea typeface="Calibri"/>
              </a:rPr>
              <a:t>Agrégée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27"/>
          <p:cNvSpPr/>
          <p:nvPr/>
        </p:nvSpPr>
        <p:spPr>
          <a:xfrm>
            <a:off x="6309360" y="2788920"/>
            <a:ext cx="24220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64748b"/>
                </a:solidFill>
                <a:latin typeface="Calibri"/>
                <a:ea typeface="Calibri"/>
              </a:rPr>
              <a:t>Agrégats par BU uniquement. Aucun individu identifiable.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28"/>
          <p:cNvSpPr/>
          <p:nvPr/>
        </p:nvSpPr>
        <p:spPr>
          <a:xfrm>
            <a:off x="365760" y="3383280"/>
            <a:ext cx="2787840" cy="29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 29"/>
          <p:cNvSpPr/>
          <p:nvPr/>
        </p:nvSpPr>
        <p:spPr>
          <a:xfrm>
            <a:off x="365760" y="3383280"/>
            <a:ext cx="27878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Accès — DBA seul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30"/>
          <p:cNvSpPr/>
          <p:nvPr/>
        </p:nvSpPr>
        <p:spPr>
          <a:xfrm>
            <a:off x="3246120" y="3383280"/>
            <a:ext cx="2787840" cy="29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31"/>
          <p:cNvSpPr/>
          <p:nvPr/>
        </p:nvSpPr>
        <p:spPr>
          <a:xfrm>
            <a:off x="3246120" y="3383280"/>
            <a:ext cx="27878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Accès — Analystes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32"/>
          <p:cNvSpPr/>
          <p:nvPr/>
        </p:nvSpPr>
        <p:spPr>
          <a:xfrm>
            <a:off x="6126480" y="3383280"/>
            <a:ext cx="2787840" cy="291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Text 33"/>
          <p:cNvSpPr/>
          <p:nvPr/>
        </p:nvSpPr>
        <p:spPr>
          <a:xfrm>
            <a:off x="6126480" y="3383280"/>
            <a:ext cx="27878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Accès — Managers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 34"/>
          <p:cNvSpPr/>
          <p:nvPr/>
        </p:nvSpPr>
        <p:spPr>
          <a:xfrm>
            <a:off x="365760" y="3840480"/>
            <a:ext cx="8411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194" strike="noStrike">
                <a:solidFill>
                  <a:srgbClr val="065a82"/>
                </a:solidFill>
                <a:latin typeface="Calibri"/>
                <a:ea typeface="Calibri"/>
              </a:rPr>
              <a:t>RÉPONSE AUX DROITS RGPD — IMPLÉMENTATION TECHNIQUE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35"/>
          <p:cNvSpPr/>
          <p:nvPr/>
        </p:nvSpPr>
        <p:spPr>
          <a:xfrm>
            <a:off x="365760" y="4069080"/>
            <a:ext cx="8411400" cy="2548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 36"/>
          <p:cNvSpPr/>
          <p:nvPr/>
        </p:nvSpPr>
        <p:spPr>
          <a:xfrm>
            <a:off x="502920" y="4069080"/>
            <a:ext cx="3016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065a82"/>
                </a:solidFill>
                <a:latin typeface="Calibri"/>
                <a:ea typeface="Calibri"/>
              </a:rPr>
              <a:t>Droit à l'effacement (art. 17)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 37"/>
          <p:cNvSpPr/>
          <p:nvPr/>
        </p:nvSpPr>
        <p:spPr>
          <a:xfrm>
            <a:off x="3566160" y="4069080"/>
            <a:ext cx="5165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1e293b"/>
                </a:solidFill>
                <a:latin typeface="Calibri"/>
                <a:ea typeface="Calibri"/>
              </a:rPr>
              <a:t>Suppression ligne source RH → reprocess → DB purgée (cascade FK). Excels historiques &amp; logs : purge manuelle au POC.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38"/>
          <p:cNvSpPr/>
          <p:nvPr/>
        </p:nvSpPr>
        <p:spPr>
          <a:xfrm>
            <a:off x="365760" y="4343400"/>
            <a:ext cx="8411400" cy="25488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39"/>
          <p:cNvSpPr/>
          <p:nvPr/>
        </p:nvSpPr>
        <p:spPr>
          <a:xfrm>
            <a:off x="502920" y="4343400"/>
            <a:ext cx="3016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065a82"/>
                </a:solidFill>
                <a:latin typeface="Calibri"/>
                <a:ea typeface="Calibri"/>
              </a:rPr>
              <a:t>Droit d'accès (art. 15)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40"/>
          <p:cNvSpPr/>
          <p:nvPr/>
        </p:nvSpPr>
        <p:spPr>
          <a:xfrm>
            <a:off x="3566160" y="4343400"/>
            <a:ext cx="5165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1e293b"/>
                </a:solidFill>
                <a:latin typeface="Calibri"/>
                <a:ea typeface="Calibri"/>
              </a:rPr>
              <a:t>Seule la couche agrégée est exposée aux managers — brute cloisonnée DBA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41"/>
          <p:cNvSpPr/>
          <p:nvPr/>
        </p:nvSpPr>
        <p:spPr>
          <a:xfrm>
            <a:off x="365760" y="4617720"/>
            <a:ext cx="8411400" cy="2548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42"/>
          <p:cNvSpPr/>
          <p:nvPr/>
        </p:nvSpPr>
        <p:spPr>
          <a:xfrm>
            <a:off x="502920" y="4617720"/>
            <a:ext cx="3016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-1" strike="noStrike">
                <a:solidFill>
                  <a:srgbClr val="065a82"/>
                </a:solidFill>
                <a:latin typeface="Calibri"/>
                <a:ea typeface="Calibri"/>
              </a:rPr>
              <a:t>Droit de rectification (art. 16)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43"/>
          <p:cNvSpPr/>
          <p:nvPr/>
        </p:nvSpPr>
        <p:spPr>
          <a:xfrm>
            <a:off x="3566160" y="4617720"/>
            <a:ext cx="5165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1e293b"/>
                </a:solidFill>
                <a:latin typeface="Calibri"/>
                <a:ea typeface="Calibri"/>
              </a:rPr>
              <a:t>Modification source → reprocess → row_hash recalculé, PowerBI voit la nouvelle valeur via run_id.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1"/>
          <p:cNvSpPr/>
          <p:nvPr/>
        </p:nvSpPr>
        <p:spPr>
          <a:xfrm>
            <a:off x="365760" y="0"/>
            <a:ext cx="2742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293" strike="noStrike">
                <a:solidFill>
                  <a:srgbClr val="ffffff"/>
                </a:solidFill>
                <a:latin typeface="Calibri"/>
                <a:ea typeface="Calibri"/>
              </a:rPr>
              <a:t>SPORT DATA SOLUTION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 2"/>
          <p:cNvSpPr/>
          <p:nvPr/>
        </p:nvSpPr>
        <p:spPr>
          <a:xfrm>
            <a:off x="3200400" y="0"/>
            <a:ext cx="4113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194" strike="noStrike">
                <a:solidFill>
                  <a:srgbClr val="94c7e0"/>
                </a:solidFill>
                <a:latin typeface="Calibri"/>
                <a:ea typeface="Calibri"/>
              </a:rPr>
              <a:t>PARTIE III · DÉMO LIVE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 3"/>
          <p:cNvSpPr/>
          <p:nvPr/>
        </p:nvSpPr>
        <p:spPr>
          <a:xfrm>
            <a:off x="7680960" y="0"/>
            <a:ext cx="12790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09 / 10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4"/>
          <p:cNvSpPr/>
          <p:nvPr/>
        </p:nvSpPr>
        <p:spPr>
          <a:xfrm>
            <a:off x="0" y="4974480"/>
            <a:ext cx="91429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750" spc="-1" strike="noStrike">
                <a:solidFill>
                  <a:srgbClr val="64748b"/>
                </a:solidFill>
                <a:latin typeface="Calibri"/>
                <a:ea typeface="Calibri"/>
              </a:rPr>
              <a:t>Sport Data Solution · POC Data Engineering · Avril 2026 · v3.1.0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5"/>
          <p:cNvSpPr/>
          <p:nvPr/>
        </p:nvSpPr>
        <p:spPr>
          <a:xfrm>
            <a:off x="365760" y="438840"/>
            <a:ext cx="841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1e293b"/>
                </a:solidFill>
                <a:latin typeface="Calibri"/>
                <a:ea typeface="Calibri"/>
              </a:rPr>
              <a:t>Démonstration live — 5 étapes narrables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6"/>
          <p:cNvSpPr/>
          <p:nvPr/>
        </p:nvSpPr>
        <p:spPr>
          <a:xfrm>
            <a:off x="365760" y="896040"/>
            <a:ext cx="8411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100" spc="-1" strike="noStrike">
                <a:solidFill>
                  <a:srgbClr val="64748b"/>
                </a:solidFill>
                <a:latin typeface="Calibri"/>
                <a:ea typeface="Calibri"/>
              </a:rPr>
              <a:t>Une séquence pour donner au jury la preuve que chaque brique fonctionne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7"/>
          <p:cNvSpPr/>
          <p:nvPr/>
        </p:nvSpPr>
        <p:spPr>
          <a:xfrm>
            <a:off x="365760" y="1280160"/>
            <a:ext cx="8411400" cy="6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8"/>
          <p:cNvSpPr/>
          <p:nvPr/>
        </p:nvSpPr>
        <p:spPr>
          <a:xfrm>
            <a:off x="365760" y="1280160"/>
            <a:ext cx="501840" cy="620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 9"/>
          <p:cNvSpPr/>
          <p:nvPr/>
        </p:nvSpPr>
        <p:spPr>
          <a:xfrm>
            <a:off x="365760" y="1280160"/>
            <a:ext cx="50184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10"/>
          <p:cNvSpPr/>
          <p:nvPr/>
        </p:nvSpPr>
        <p:spPr>
          <a:xfrm>
            <a:off x="1005840" y="1454040"/>
            <a:ext cx="291600" cy="2916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4" name="Image 0" descr="preencoded.png"/>
          <p:cNvPicPr/>
          <p:nvPr/>
        </p:nvPicPr>
        <p:blipFill>
          <a:blip r:embed="rId1"/>
          <a:stretch/>
        </p:blipFill>
        <p:spPr>
          <a:xfrm>
            <a:off x="1060560" y="150876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485" name="Text 11"/>
          <p:cNvSpPr/>
          <p:nvPr/>
        </p:nvSpPr>
        <p:spPr>
          <a:xfrm>
            <a:off x="1417320" y="1334880"/>
            <a:ext cx="53481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  <a:ea typeface="Calibri"/>
              </a:rPr>
              <a:t>Ouvrir les sources Excel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12"/>
          <p:cNvSpPr/>
          <p:nvPr/>
        </p:nvSpPr>
        <p:spPr>
          <a:xfrm>
            <a:off x="1417320" y="1572840"/>
            <a:ext cx="5348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alibri"/>
                <a:ea typeface="Calibri"/>
              </a:rPr>
              <a:t>Base RH — 161 salariés, colonnes sport déclaré, mode déplacement, salaire brut.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13"/>
          <p:cNvSpPr/>
          <p:nvPr/>
        </p:nvSpPr>
        <p:spPr>
          <a:xfrm>
            <a:off x="6858000" y="1454040"/>
            <a:ext cx="1827720" cy="291600"/>
          </a:xfrm>
          <a:prstGeom prst="roundRect">
            <a:avLst>
              <a:gd name="adj" fmla="val 15625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 14"/>
          <p:cNvSpPr/>
          <p:nvPr/>
        </p:nvSpPr>
        <p:spPr>
          <a:xfrm>
            <a:off x="6858000" y="1454040"/>
            <a:ext cx="1827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ffffff"/>
                </a:solidFill>
                <a:latin typeface="Consolas"/>
                <a:ea typeface="Consolas"/>
              </a:rPr>
              <a:t>rh.xlsx · sports.xlsx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15"/>
          <p:cNvSpPr/>
          <p:nvPr/>
        </p:nvSpPr>
        <p:spPr>
          <a:xfrm>
            <a:off x="365760" y="1974960"/>
            <a:ext cx="8411400" cy="6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16"/>
          <p:cNvSpPr/>
          <p:nvPr/>
        </p:nvSpPr>
        <p:spPr>
          <a:xfrm>
            <a:off x="365760" y="1974960"/>
            <a:ext cx="501840" cy="6206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Text 17"/>
          <p:cNvSpPr/>
          <p:nvPr/>
        </p:nvSpPr>
        <p:spPr>
          <a:xfrm>
            <a:off x="365760" y="1974960"/>
            <a:ext cx="50184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18"/>
          <p:cNvSpPr/>
          <p:nvPr/>
        </p:nvSpPr>
        <p:spPr>
          <a:xfrm>
            <a:off x="1005840" y="2148840"/>
            <a:ext cx="291600" cy="2916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3" name="Image 1" descr="preencoded.png"/>
          <p:cNvPicPr/>
          <p:nvPr/>
        </p:nvPicPr>
        <p:blipFill>
          <a:blip r:embed="rId2"/>
          <a:stretch/>
        </p:blipFill>
        <p:spPr>
          <a:xfrm>
            <a:off x="1060560" y="220356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494" name="Text 19"/>
          <p:cNvSpPr/>
          <p:nvPr/>
        </p:nvSpPr>
        <p:spPr>
          <a:xfrm>
            <a:off x="1417320" y="2030040"/>
            <a:ext cx="53481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  <a:ea typeface="Calibri"/>
              </a:rPr>
              <a:t>Lancer le flow Kestra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 20"/>
          <p:cNvSpPr/>
          <p:nvPr/>
        </p:nvSpPr>
        <p:spPr>
          <a:xfrm>
            <a:off x="1417320" y="2267640"/>
            <a:ext cx="5348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alibri"/>
                <a:ea typeface="Calibri"/>
              </a:rPr>
              <a:t>UI Kestra http://localhost:8089 → flow sds_pipeline → Execute. DAG visuel, 8 tâches, ~1 min.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21"/>
          <p:cNvSpPr/>
          <p:nvPr/>
        </p:nvSpPr>
        <p:spPr>
          <a:xfrm>
            <a:off x="6858000" y="2148840"/>
            <a:ext cx="1827720" cy="291600"/>
          </a:xfrm>
          <a:prstGeom prst="roundRect">
            <a:avLst>
              <a:gd name="adj" fmla="val 15625"/>
            </a:avLst>
          </a:prstGeom>
          <a:solidFill>
            <a:srgbClr val="ec4899"/>
          </a:solidFill>
          <a:ln w="12700">
            <a:solidFill>
              <a:srgbClr val="ec48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 22"/>
          <p:cNvSpPr/>
          <p:nvPr/>
        </p:nvSpPr>
        <p:spPr>
          <a:xfrm>
            <a:off x="6858000" y="2148840"/>
            <a:ext cx="1827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ffffff"/>
                </a:solidFill>
                <a:latin typeface="Consolas"/>
                <a:ea typeface="Consolas"/>
              </a:rPr>
              <a:t>UI :8089 · sds_pipeline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23"/>
          <p:cNvSpPr/>
          <p:nvPr/>
        </p:nvSpPr>
        <p:spPr>
          <a:xfrm>
            <a:off x="365760" y="2670120"/>
            <a:ext cx="8411400" cy="6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24"/>
          <p:cNvSpPr/>
          <p:nvPr/>
        </p:nvSpPr>
        <p:spPr>
          <a:xfrm>
            <a:off x="365760" y="2670120"/>
            <a:ext cx="501840" cy="620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 25"/>
          <p:cNvSpPr/>
          <p:nvPr/>
        </p:nvSpPr>
        <p:spPr>
          <a:xfrm>
            <a:off x="365760" y="2670120"/>
            <a:ext cx="50184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26"/>
          <p:cNvSpPr/>
          <p:nvPr/>
        </p:nvSpPr>
        <p:spPr>
          <a:xfrm>
            <a:off x="1005840" y="2843640"/>
            <a:ext cx="291600" cy="291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2" name="Image 2" descr="preencoded.png"/>
          <p:cNvPicPr/>
          <p:nvPr/>
        </p:nvPicPr>
        <p:blipFill>
          <a:blip r:embed="rId3"/>
          <a:stretch/>
        </p:blipFill>
        <p:spPr>
          <a:xfrm>
            <a:off x="1060560" y="289872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503" name="Text 27"/>
          <p:cNvSpPr/>
          <p:nvPr/>
        </p:nvSpPr>
        <p:spPr>
          <a:xfrm>
            <a:off x="1417320" y="2724840"/>
            <a:ext cx="53481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  <a:ea typeface="Calibri"/>
              </a:rPr>
              <a:t>Notifications Slack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 28"/>
          <p:cNvSpPr/>
          <p:nvPr/>
        </p:nvSpPr>
        <p:spPr>
          <a:xfrm>
            <a:off x="1417320" y="2962800"/>
            <a:ext cx="5348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alibri"/>
                <a:ea typeface="Calibri"/>
              </a:rPr>
              <a:t>Terminal en mode simulation — récap global + message individuel par activité.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29"/>
          <p:cNvSpPr/>
          <p:nvPr/>
        </p:nvSpPr>
        <p:spPr>
          <a:xfrm>
            <a:off x="6858000" y="2843640"/>
            <a:ext cx="1827720" cy="291600"/>
          </a:xfrm>
          <a:prstGeom prst="roundRect">
            <a:avLst>
              <a:gd name="adj" fmla="val 15625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 30"/>
          <p:cNvSpPr/>
          <p:nvPr/>
        </p:nvSpPr>
        <p:spPr>
          <a:xfrm>
            <a:off x="6858000" y="2843640"/>
            <a:ext cx="1827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ffffff"/>
                </a:solidFill>
                <a:latin typeface="Consolas"/>
                <a:ea typeface="Consolas"/>
              </a:rPr>
              <a:t>[SLACK] 1 récap + 3 individuels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31"/>
          <p:cNvSpPr/>
          <p:nvPr/>
        </p:nvSpPr>
        <p:spPr>
          <a:xfrm>
            <a:off x="365760" y="3364920"/>
            <a:ext cx="8411400" cy="6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32"/>
          <p:cNvSpPr/>
          <p:nvPr/>
        </p:nvSpPr>
        <p:spPr>
          <a:xfrm>
            <a:off x="365760" y="3364920"/>
            <a:ext cx="501840" cy="620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33"/>
          <p:cNvSpPr/>
          <p:nvPr/>
        </p:nvSpPr>
        <p:spPr>
          <a:xfrm>
            <a:off x="365760" y="3364920"/>
            <a:ext cx="50184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34"/>
          <p:cNvSpPr/>
          <p:nvPr/>
        </p:nvSpPr>
        <p:spPr>
          <a:xfrm>
            <a:off x="1005840" y="3538800"/>
            <a:ext cx="291600" cy="291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1" name="Image 3" descr="preencoded.png"/>
          <p:cNvPicPr/>
          <p:nvPr/>
        </p:nvPicPr>
        <p:blipFill>
          <a:blip r:embed="rId4"/>
          <a:stretch/>
        </p:blipFill>
        <p:spPr>
          <a:xfrm>
            <a:off x="1060560" y="359352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512" name="Text 35"/>
          <p:cNvSpPr/>
          <p:nvPr/>
        </p:nvSpPr>
        <p:spPr>
          <a:xfrm>
            <a:off x="1417320" y="3420000"/>
            <a:ext cx="53481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  <a:ea typeface="Calibri"/>
              </a:rPr>
              <a:t>Ouvrir le rapport Excel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 36"/>
          <p:cNvSpPr/>
          <p:nvPr/>
        </p:nvSpPr>
        <p:spPr>
          <a:xfrm>
            <a:off x="1417320" y="3657600"/>
            <a:ext cx="5348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alibri"/>
                <a:ea typeface="Calibri"/>
              </a:rPr>
              <a:t>Parcours : KPI_Synthèse → Éligibles_Prime → Alertes_Geo → Historique_Runs.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37"/>
          <p:cNvSpPr/>
          <p:nvPr/>
        </p:nvSpPr>
        <p:spPr>
          <a:xfrm>
            <a:off x="6858000" y="3538800"/>
            <a:ext cx="1827720" cy="291600"/>
          </a:xfrm>
          <a:prstGeom prst="roundRect">
            <a:avLst>
              <a:gd name="adj" fmla="val 15625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38"/>
          <p:cNvSpPr/>
          <p:nvPr/>
        </p:nvSpPr>
        <p:spPr>
          <a:xfrm>
            <a:off x="6858000" y="3538800"/>
            <a:ext cx="1827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ffffff"/>
                </a:solidFill>
                <a:latin typeface="Consolas"/>
                <a:ea typeface="Consolas"/>
              </a:rPr>
              <a:t>output_2026-04.xlsx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39"/>
          <p:cNvSpPr/>
          <p:nvPr/>
        </p:nvSpPr>
        <p:spPr>
          <a:xfrm>
            <a:off x="365760" y="4060080"/>
            <a:ext cx="8411400" cy="6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40"/>
          <p:cNvSpPr/>
          <p:nvPr/>
        </p:nvSpPr>
        <p:spPr>
          <a:xfrm>
            <a:off x="365760" y="4060080"/>
            <a:ext cx="501840" cy="620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 41"/>
          <p:cNvSpPr/>
          <p:nvPr/>
        </p:nvSpPr>
        <p:spPr>
          <a:xfrm>
            <a:off x="365760" y="4060080"/>
            <a:ext cx="50184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42"/>
          <p:cNvSpPr/>
          <p:nvPr/>
        </p:nvSpPr>
        <p:spPr>
          <a:xfrm>
            <a:off x="1005840" y="4233600"/>
            <a:ext cx="291600" cy="291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0" name="Image 4" descr="preencoded.png"/>
          <p:cNvPicPr/>
          <p:nvPr/>
        </p:nvPicPr>
        <p:blipFill>
          <a:blip r:embed="rId5"/>
          <a:stretch/>
        </p:blipFill>
        <p:spPr>
          <a:xfrm>
            <a:off x="1060560" y="428868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521" name="Text 43"/>
          <p:cNvSpPr/>
          <p:nvPr/>
        </p:nvSpPr>
        <p:spPr>
          <a:xfrm>
            <a:off x="1417320" y="4114800"/>
            <a:ext cx="53481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-1" strike="noStrike">
                <a:solidFill>
                  <a:srgbClr val="1e293b"/>
                </a:solidFill>
                <a:latin typeface="Calibri"/>
                <a:ea typeface="Calibri"/>
              </a:rPr>
              <a:t>Démo du reprocessing UI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Text 44"/>
          <p:cNvSpPr/>
          <p:nvPr/>
        </p:nvSpPr>
        <p:spPr>
          <a:xfrm>
            <a:off x="1417320" y="4352400"/>
            <a:ext cx="5348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1e293b"/>
                </a:solidFill>
                <a:latin typeface="Calibri"/>
                <a:ea typeface="Calibri"/>
              </a:rPr>
              <a:t>Dans l'UI Kestra, changer taux_prime de 0.05 à 0.07, Execute. Nouveau run_id, Historique_Runs s'enrichit, 0 doublon.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45"/>
          <p:cNvSpPr/>
          <p:nvPr/>
        </p:nvSpPr>
        <p:spPr>
          <a:xfrm>
            <a:off x="6858000" y="4233600"/>
            <a:ext cx="1827720" cy="291600"/>
          </a:xfrm>
          <a:prstGeom prst="roundRect">
            <a:avLst>
              <a:gd name="adj" fmla="val 15625"/>
            </a:avLst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Text 46"/>
          <p:cNvSpPr/>
          <p:nvPr/>
        </p:nvSpPr>
        <p:spPr>
          <a:xfrm>
            <a:off x="6858000" y="4233600"/>
            <a:ext cx="1827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-1" strike="noStrike">
                <a:solidFill>
                  <a:srgbClr val="ffffff"/>
                </a:solidFill>
                <a:latin typeface="Consolas"/>
                <a:ea typeface="Consolas"/>
              </a:rPr>
              <a:t>taux_prime = 0.07 · via UI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 47"/>
          <p:cNvSpPr/>
          <p:nvPr/>
        </p:nvSpPr>
        <p:spPr>
          <a:xfrm>
            <a:off x="365760" y="4754880"/>
            <a:ext cx="8411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fr-FR" sz="900" spc="-1" strike="noStrike">
                <a:solidFill>
                  <a:srgbClr val="ec4899"/>
                </a:solidFill>
                <a:latin typeface="Calibri"/>
                <a:ea typeface="Calibri"/>
              </a:rPr>
              <a:t>⚡ </a:t>
            </a:r>
            <a:r>
              <a:rPr b="1" i="1" lang="fr-FR" sz="900" spc="-1" strike="noStrike">
                <a:solidFill>
                  <a:srgbClr val="ec4899"/>
                </a:solidFill>
                <a:latin typeface="Calibri"/>
                <a:ea typeface="Calibri"/>
              </a:rPr>
              <a:t>Clé de la démo : changer le taux depuis l'UI Kestra, sans toucher au code — preuve visuelle de l'idempotency.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Shape 0"/>
          <p:cNvSpPr/>
          <p:nvPr/>
        </p:nvSpPr>
        <p:spPr>
          <a:xfrm>
            <a:off x="0" y="0"/>
            <a:ext cx="9142920" cy="291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1"/>
          <p:cNvSpPr/>
          <p:nvPr/>
        </p:nvSpPr>
        <p:spPr>
          <a:xfrm>
            <a:off x="365760" y="0"/>
            <a:ext cx="2742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900" spc="293" strike="noStrike">
                <a:solidFill>
                  <a:srgbClr val="ffffff"/>
                </a:solidFill>
                <a:latin typeface="Calibri"/>
                <a:ea typeface="Calibri"/>
              </a:rPr>
              <a:t>SPORT DATA SOLUTION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 2"/>
          <p:cNvSpPr/>
          <p:nvPr/>
        </p:nvSpPr>
        <p:spPr>
          <a:xfrm>
            <a:off x="3200400" y="0"/>
            <a:ext cx="4113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00" spc="194" strike="noStrike">
                <a:solidFill>
                  <a:srgbClr val="94c7e0"/>
                </a:solidFill>
                <a:latin typeface="Calibri"/>
                <a:ea typeface="Calibri"/>
              </a:rPr>
              <a:t>PARTIE III · CONCLUSION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 3"/>
          <p:cNvSpPr/>
          <p:nvPr/>
        </p:nvSpPr>
        <p:spPr>
          <a:xfrm>
            <a:off x="7680960" y="0"/>
            <a:ext cx="12790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10 / 10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 4"/>
          <p:cNvSpPr/>
          <p:nvPr/>
        </p:nvSpPr>
        <p:spPr>
          <a:xfrm>
            <a:off x="0" y="4974480"/>
            <a:ext cx="91429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750" spc="-1" strike="noStrike">
                <a:solidFill>
                  <a:srgbClr val="64748b"/>
                </a:solidFill>
                <a:latin typeface="Calibri"/>
                <a:ea typeface="Calibri"/>
              </a:rPr>
              <a:t>Sport Data Solution · POC Data Engineering · Avril 2026 · v3.1.0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 5"/>
          <p:cNvSpPr/>
          <p:nvPr/>
        </p:nvSpPr>
        <p:spPr>
          <a:xfrm>
            <a:off x="365760" y="438840"/>
            <a:ext cx="841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200" spc="-1" strike="noStrike">
                <a:solidFill>
                  <a:srgbClr val="1e293b"/>
                </a:solidFill>
                <a:latin typeface="Calibri"/>
                <a:ea typeface="Calibri"/>
              </a:rPr>
              <a:t>Conclusion &amp; prochaines étapes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6"/>
          <p:cNvSpPr/>
          <p:nvPr/>
        </p:nvSpPr>
        <p:spPr>
          <a:xfrm>
            <a:off x="365760" y="896040"/>
            <a:ext cx="8411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1100" spc="-1" strike="noStrike">
                <a:solidFill>
                  <a:srgbClr val="64748b"/>
                </a:solidFill>
                <a:latin typeface="Calibri"/>
                <a:ea typeface="Calibri"/>
              </a:rPr>
              <a:t>Un POC aligné avec la note de cadrage, et une feuille de route claire pour passer en production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 7"/>
          <p:cNvSpPr/>
          <p:nvPr/>
        </p:nvSpPr>
        <p:spPr>
          <a:xfrm>
            <a:off x="365760" y="1280160"/>
            <a:ext cx="42051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194" strike="noStrike">
                <a:solidFill>
                  <a:srgbClr val="22c55e"/>
                </a:solidFill>
                <a:latin typeface="Calibri"/>
                <a:ea typeface="Calibri"/>
              </a:rPr>
              <a:t>CE POC DÉMONTRE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8"/>
          <p:cNvSpPr/>
          <p:nvPr/>
        </p:nvSpPr>
        <p:spPr>
          <a:xfrm>
            <a:off x="365760" y="1600200"/>
            <a:ext cx="218520" cy="2185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 9"/>
          <p:cNvSpPr/>
          <p:nvPr/>
        </p:nvSpPr>
        <p:spPr>
          <a:xfrm>
            <a:off x="365760" y="1600200"/>
            <a:ext cx="2185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 10"/>
          <p:cNvSpPr/>
          <p:nvPr/>
        </p:nvSpPr>
        <p:spPr>
          <a:xfrm>
            <a:off x="658440" y="1554480"/>
            <a:ext cx="39308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1e293b"/>
                </a:solidFill>
                <a:latin typeface="Calibri"/>
                <a:ea typeface="Calibri"/>
              </a:rPr>
              <a:t>Pipeline ETL 7 étapes orchestré par Kestra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11"/>
          <p:cNvSpPr/>
          <p:nvPr/>
        </p:nvSpPr>
        <p:spPr>
          <a:xfrm>
            <a:off x="658440" y="1783080"/>
            <a:ext cx="39308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64748b"/>
                </a:solidFill>
                <a:latin typeface="Calibri"/>
                <a:ea typeface="Calibri"/>
              </a:rPr>
              <a:t>Extract · Generate · Géo · DQ · Transform · Load · Slack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12"/>
          <p:cNvSpPr/>
          <p:nvPr/>
        </p:nvSpPr>
        <p:spPr>
          <a:xfrm>
            <a:off x="365760" y="2084760"/>
            <a:ext cx="218520" cy="2185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 13"/>
          <p:cNvSpPr/>
          <p:nvPr/>
        </p:nvSpPr>
        <p:spPr>
          <a:xfrm>
            <a:off x="365760" y="2084760"/>
            <a:ext cx="2185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14"/>
          <p:cNvSpPr/>
          <p:nvPr/>
        </p:nvSpPr>
        <p:spPr>
          <a:xfrm>
            <a:off x="658440" y="2039040"/>
            <a:ext cx="39308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1e293b"/>
                </a:solidFill>
                <a:latin typeface="Calibri"/>
                <a:ea typeface="Calibri"/>
              </a:rPr>
              <a:t>Règles métier conformes à la note de cadrage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 15"/>
          <p:cNvSpPr/>
          <p:nvPr/>
        </p:nvSpPr>
        <p:spPr>
          <a:xfrm>
            <a:off x="658440" y="2267640"/>
            <a:ext cx="39308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64748b"/>
                </a:solidFill>
                <a:latin typeface="Calibri"/>
                <a:ea typeface="Calibri"/>
              </a:rPr>
              <a:t>Prime 5 % · 5 jours bien-être · seuils géographiques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16"/>
          <p:cNvSpPr/>
          <p:nvPr/>
        </p:nvSpPr>
        <p:spPr>
          <a:xfrm>
            <a:off x="365760" y="2569320"/>
            <a:ext cx="218520" cy="2185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Text 17"/>
          <p:cNvSpPr/>
          <p:nvPr/>
        </p:nvSpPr>
        <p:spPr>
          <a:xfrm>
            <a:off x="365760" y="2569320"/>
            <a:ext cx="2185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 18"/>
          <p:cNvSpPr/>
          <p:nvPr/>
        </p:nvSpPr>
        <p:spPr>
          <a:xfrm>
            <a:off x="658440" y="2523600"/>
            <a:ext cx="39308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1e293b"/>
                </a:solidFill>
                <a:latin typeface="Calibri"/>
                <a:ea typeface="Calibri"/>
              </a:rPr>
              <a:t>2 040 activités Strava simulées sur 12 mois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 19"/>
          <p:cNvSpPr/>
          <p:nvPr/>
        </p:nvSpPr>
        <p:spPr>
          <a:xfrm>
            <a:off x="658440" y="2752200"/>
            <a:ext cx="39308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64748b"/>
                </a:solidFill>
                <a:latin typeface="Calibri"/>
                <a:ea typeface="Calibri"/>
              </a:rPr>
              <a:t>Seed fixe · 95 salariés · 15 disciplines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20"/>
          <p:cNvSpPr/>
          <p:nvPr/>
        </p:nvSpPr>
        <p:spPr>
          <a:xfrm>
            <a:off x="365760" y="3054240"/>
            <a:ext cx="218520" cy="2185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Text 21"/>
          <p:cNvSpPr/>
          <p:nvPr/>
        </p:nvSpPr>
        <p:spPr>
          <a:xfrm>
            <a:off x="365760" y="3054240"/>
            <a:ext cx="2185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 22"/>
          <p:cNvSpPr/>
          <p:nvPr/>
        </p:nvSpPr>
        <p:spPr>
          <a:xfrm>
            <a:off x="658440" y="3008520"/>
            <a:ext cx="39308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1e293b"/>
                </a:solidFill>
                <a:latin typeface="Calibri"/>
                <a:ea typeface="Calibri"/>
              </a:rPr>
              <a:t>DQ Score 100 / 100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 23"/>
          <p:cNvSpPr/>
          <p:nvPr/>
        </p:nvSpPr>
        <p:spPr>
          <a:xfrm>
            <a:off x="658440" y="3237120"/>
            <a:ext cx="39308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64748b"/>
                </a:solidFill>
                <a:latin typeface="Calibri"/>
                <a:ea typeface="Calibri"/>
              </a:rPr>
              <a:t>7 contrôles automatiques, 0 anomalie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24"/>
          <p:cNvSpPr/>
          <p:nvPr/>
        </p:nvSpPr>
        <p:spPr>
          <a:xfrm>
            <a:off x="365760" y="3538800"/>
            <a:ext cx="218520" cy="2185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 25"/>
          <p:cNvSpPr/>
          <p:nvPr/>
        </p:nvSpPr>
        <p:spPr>
          <a:xfrm>
            <a:off x="365760" y="3538800"/>
            <a:ext cx="2185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 26"/>
          <p:cNvSpPr/>
          <p:nvPr/>
        </p:nvSpPr>
        <p:spPr>
          <a:xfrm>
            <a:off x="658440" y="3493080"/>
            <a:ext cx="39308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1e293b"/>
                </a:solidFill>
                <a:latin typeface="Calibri"/>
                <a:ea typeface="Calibri"/>
              </a:rPr>
              <a:t>Reprocessing paramétrable depuis Kestra UI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27"/>
          <p:cNvSpPr/>
          <p:nvPr/>
        </p:nvSpPr>
        <p:spPr>
          <a:xfrm>
            <a:off x="658440" y="3721680"/>
            <a:ext cx="39308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64748b"/>
                </a:solidFill>
                <a:latin typeface="Calibri"/>
                <a:ea typeface="Calibri"/>
              </a:rPr>
              <a:t>row_hash MD5 + inputs Kestra — réponse au brief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28"/>
          <p:cNvSpPr/>
          <p:nvPr/>
        </p:nvSpPr>
        <p:spPr>
          <a:xfrm>
            <a:off x="365760" y="4023360"/>
            <a:ext cx="218520" cy="2185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29"/>
          <p:cNvSpPr/>
          <p:nvPr/>
        </p:nvSpPr>
        <p:spPr>
          <a:xfrm>
            <a:off x="365760" y="4023360"/>
            <a:ext cx="2185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 30"/>
          <p:cNvSpPr/>
          <p:nvPr/>
        </p:nvSpPr>
        <p:spPr>
          <a:xfrm>
            <a:off x="658440" y="3977640"/>
            <a:ext cx="39308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1e293b"/>
                </a:solidFill>
                <a:latin typeface="Calibri"/>
                <a:ea typeface="Calibri"/>
              </a:rPr>
              <a:t>Architecture RGPD 3 couches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31"/>
          <p:cNvSpPr/>
          <p:nvPr/>
        </p:nvSpPr>
        <p:spPr>
          <a:xfrm>
            <a:off x="658440" y="4206240"/>
            <a:ext cx="39308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64748b"/>
                </a:solidFill>
                <a:latin typeface="Calibri"/>
                <a:ea typeface="Calibri"/>
              </a:rPr>
              <a:t>Brute · Analytique · Présentation + GRANT Postgres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Text 32"/>
          <p:cNvSpPr/>
          <p:nvPr/>
        </p:nvSpPr>
        <p:spPr>
          <a:xfrm>
            <a:off x="4709160" y="1280160"/>
            <a:ext cx="4068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100" spc="194" strike="noStrike">
                <a:solidFill>
                  <a:srgbClr val="f59e0b"/>
                </a:solidFill>
                <a:latin typeface="Calibri"/>
                <a:ea typeface="Calibri"/>
              </a:rPr>
              <a:t>RECOMMANDATIONS PRODUCTION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33"/>
          <p:cNvSpPr/>
          <p:nvPr/>
        </p:nvSpPr>
        <p:spPr>
          <a:xfrm>
            <a:off x="4709160" y="1572840"/>
            <a:ext cx="273240" cy="273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0" name="Image 0" descr="preencoded.png"/>
          <p:cNvPicPr/>
          <p:nvPr/>
        </p:nvPicPr>
        <p:blipFill>
          <a:blip r:embed="rId1"/>
          <a:stretch/>
        </p:blipFill>
        <p:spPr>
          <a:xfrm>
            <a:off x="4763880" y="1627560"/>
            <a:ext cx="163440" cy="163440"/>
          </a:xfrm>
          <a:prstGeom prst="rect">
            <a:avLst/>
          </a:prstGeom>
          <a:ln w="0">
            <a:noFill/>
          </a:ln>
        </p:spPr>
      </p:pic>
      <p:sp>
        <p:nvSpPr>
          <p:cNvPr id="561" name="Text 34"/>
          <p:cNvSpPr/>
          <p:nvPr/>
        </p:nvSpPr>
        <p:spPr>
          <a:xfrm>
            <a:off x="5074920" y="1554480"/>
            <a:ext cx="3702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1e293b"/>
                </a:solidFill>
                <a:latin typeface="Calibri"/>
                <a:ea typeface="Calibri"/>
              </a:rPr>
              <a:t>PostgreSQL managé + Row-Level Security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Text 35"/>
          <p:cNvSpPr/>
          <p:nvPr/>
        </p:nvSpPr>
        <p:spPr>
          <a:xfrm>
            <a:off x="5074920" y="1783080"/>
            <a:ext cx="3702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64748b"/>
                </a:solidFill>
                <a:latin typeface="Calibri"/>
                <a:ea typeface="Calibri"/>
              </a:rPr>
              <a:t>RDS / Cloud SQL · SSL forcé · backups auto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36"/>
          <p:cNvSpPr/>
          <p:nvPr/>
        </p:nvSpPr>
        <p:spPr>
          <a:xfrm>
            <a:off x="4709160" y="2057400"/>
            <a:ext cx="273240" cy="273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4" name="Image 1" descr="preencoded.png"/>
          <p:cNvPicPr/>
          <p:nvPr/>
        </p:nvPicPr>
        <p:blipFill>
          <a:blip r:embed="rId2"/>
          <a:stretch/>
        </p:blipFill>
        <p:spPr>
          <a:xfrm>
            <a:off x="4763880" y="2112120"/>
            <a:ext cx="163440" cy="163440"/>
          </a:xfrm>
          <a:prstGeom prst="rect">
            <a:avLst/>
          </a:prstGeom>
          <a:ln w="0">
            <a:noFill/>
          </a:ln>
        </p:spPr>
      </p:pic>
      <p:sp>
        <p:nvSpPr>
          <p:cNvPr id="565" name="Text 37"/>
          <p:cNvSpPr/>
          <p:nvPr/>
        </p:nvSpPr>
        <p:spPr>
          <a:xfrm>
            <a:off x="5074920" y="2039040"/>
            <a:ext cx="3702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1e293b"/>
                </a:solidFill>
                <a:latin typeface="Calibri"/>
                <a:ea typeface="Calibri"/>
              </a:rPr>
              <a:t>Kestra cluster mode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 38"/>
          <p:cNvSpPr/>
          <p:nvPr/>
        </p:nvSpPr>
        <p:spPr>
          <a:xfrm>
            <a:off x="5074920" y="2267640"/>
            <a:ext cx="3702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64748b"/>
                </a:solidFill>
                <a:latin typeface="Calibri"/>
                <a:ea typeface="Calibri"/>
              </a:rPr>
              <a:t>Backend JDBC Postgres · multi-workers · metrics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39"/>
          <p:cNvSpPr/>
          <p:nvPr/>
        </p:nvSpPr>
        <p:spPr>
          <a:xfrm>
            <a:off x="4709160" y="2541960"/>
            <a:ext cx="273240" cy="273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8" name="Image 2" descr="preencoded.png"/>
          <p:cNvPicPr/>
          <p:nvPr/>
        </p:nvPicPr>
        <p:blipFill>
          <a:blip r:embed="rId3"/>
          <a:stretch/>
        </p:blipFill>
        <p:spPr>
          <a:xfrm>
            <a:off x="4763880" y="2597040"/>
            <a:ext cx="163440" cy="163440"/>
          </a:xfrm>
          <a:prstGeom prst="rect">
            <a:avLst/>
          </a:prstGeom>
          <a:ln w="0">
            <a:noFill/>
          </a:ln>
        </p:spPr>
      </p:pic>
      <p:sp>
        <p:nvSpPr>
          <p:cNvPr id="569" name="Text 40"/>
          <p:cNvSpPr/>
          <p:nvPr/>
        </p:nvSpPr>
        <p:spPr>
          <a:xfrm>
            <a:off x="5074920" y="2523600"/>
            <a:ext cx="3702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1e293b"/>
                </a:solidFill>
                <a:latin typeface="Calibri"/>
                <a:ea typeface="Calibri"/>
              </a:rPr>
              <a:t>API Strava réelle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 41"/>
          <p:cNvSpPr/>
          <p:nvPr/>
        </p:nvSpPr>
        <p:spPr>
          <a:xfrm>
            <a:off x="5074920" y="2752200"/>
            <a:ext cx="3702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64748b"/>
                </a:solidFill>
                <a:latin typeface="Calibri"/>
                <a:ea typeface="Calibri"/>
              </a:rPr>
              <a:t>OAuth 2.0 · webhooks activités temps réel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42"/>
          <p:cNvSpPr/>
          <p:nvPr/>
        </p:nvSpPr>
        <p:spPr>
          <a:xfrm>
            <a:off x="4709160" y="3026520"/>
            <a:ext cx="273240" cy="273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2" name="Image 3" descr="preencoded.png"/>
          <p:cNvPicPr/>
          <p:nvPr/>
        </p:nvPicPr>
        <p:blipFill>
          <a:blip r:embed="rId4"/>
          <a:stretch/>
        </p:blipFill>
        <p:spPr>
          <a:xfrm>
            <a:off x="4763880" y="3081600"/>
            <a:ext cx="163440" cy="163440"/>
          </a:xfrm>
          <a:prstGeom prst="rect">
            <a:avLst/>
          </a:prstGeom>
          <a:ln w="0">
            <a:noFill/>
          </a:ln>
        </p:spPr>
      </p:pic>
      <p:sp>
        <p:nvSpPr>
          <p:cNvPr id="573" name="Text 43"/>
          <p:cNvSpPr/>
          <p:nvPr/>
        </p:nvSpPr>
        <p:spPr>
          <a:xfrm>
            <a:off x="5074920" y="3008520"/>
            <a:ext cx="3702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1e293b"/>
                </a:solidFill>
                <a:latin typeface="Calibri"/>
                <a:ea typeface="Calibri"/>
              </a:rPr>
              <a:t>PowerBI Service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 44"/>
          <p:cNvSpPr/>
          <p:nvPr/>
        </p:nvSpPr>
        <p:spPr>
          <a:xfrm>
            <a:off x="5074920" y="3237120"/>
            <a:ext cx="3702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850" spc="-1" strike="noStrike">
                <a:solidFill>
                  <a:srgbClr val="64748b"/>
                </a:solidFill>
                <a:latin typeface="Calibri"/>
                <a:ea typeface="Calibri"/>
              </a:rPr>
              <a:t>Refresh planifié · partage RLS · publication contrôlée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45"/>
          <p:cNvSpPr/>
          <p:nvPr/>
        </p:nvSpPr>
        <p:spPr>
          <a:xfrm>
            <a:off x="365760" y="4572000"/>
            <a:ext cx="8411400" cy="346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 46"/>
          <p:cNvSpPr/>
          <p:nvPr/>
        </p:nvSpPr>
        <p:spPr>
          <a:xfrm>
            <a:off x="365760" y="4572000"/>
            <a:ext cx="84114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300" spc="392" strike="noStrike">
                <a:solidFill>
                  <a:srgbClr val="ffffff"/>
                </a:solidFill>
                <a:latin typeface="Calibri"/>
                <a:ea typeface="Calibri"/>
              </a:rPr>
              <a:t>Merci ·  Questions ?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2026-04-22T12:57:14Z</dcterms:created>
  <dc:creator>Sport Data Solution</dc:creator>
  <dc:description/>
  <dc:language>fr-FR</dc:language>
  <cp:lastModifiedBy/>
  <dcterms:modified xsi:type="dcterms:W3CDTF">2026-04-24T10:26:23Z</dcterms:modified>
  <cp:revision>4</cp:revision>
  <dc:subject>PptxGenJS Presentation</dc:subject>
  <dc:title>Sport Data Solution — Soutenance v3.2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