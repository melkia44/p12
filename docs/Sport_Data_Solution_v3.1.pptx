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fr-FR" sz="1800" spc="-1" strike="noStrike">
                <a:solidFill>
                  <a:schemeClr val="dk1"/>
                </a:solidFill>
                <a:latin typeface="Calibri"/>
              </a:rPr>
              <a:t>Cliquez pour déplacer la diapo</a:t>
            </a: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modifier le format 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5CCFE3A-B75B-4A06-BF2F-B70453F904AE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1E2BDF-B8BC-4E28-89D1-8F4BE2B785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A63E0E-EA93-46A4-8C24-829BF95D134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C179DA-0322-4472-BCEC-17BEF9FC421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5EE9E4-1D85-4E69-B3F7-507604167BF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46731E-60C8-47EC-8B3D-518234F76F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2973C2-4C02-473A-92ED-6EE70BA3BE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277FF2-4C6A-4AB0-BCE7-D44442B9370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8A7204-FAA8-44B2-B50B-5607ECCA3A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F04A4D-A148-482E-860C-39979FC4A9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F8EDAE-CB65-4F7E-AFD5-DF334E07774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36CDF8-CD0B-4BBA-AB6D-C4384BF8058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2344A3-063B-4D05-9273-7C3D66C6F8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chemeClr val="dk1"/>
                </a:solidFill>
                <a:latin typeface="Calibri"/>
              </a:rPr>
              <a:t>Cliquez pour éditer le format du texte-titre</a:t>
            </a: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05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chemeClr val="dk1"/>
                </a:solidFill>
                <a:latin typeface="Calibri"/>
              </a:rPr>
              <a:t>Cliquez pour éditer le format du plan de texte</a:t>
            </a:r>
            <a:endParaRPr b="0" lang="fr-FR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400" spc="-1" strike="noStrike">
                <a:solidFill>
                  <a:schemeClr val="dk1"/>
                </a:solidFill>
                <a:latin typeface="Calibri"/>
              </a:rPr>
              <a:t>Second niveau de plan</a:t>
            </a:r>
            <a:endParaRPr b="0" lang="fr-FR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Troisième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Quatrième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Cinquième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Sixième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chemeClr val="dk1"/>
                </a:solidFill>
                <a:latin typeface="Calibri"/>
              </a:rPr>
              <a:t>Septième niveau de plan</a:t>
            </a:r>
            <a:endParaRPr b="0" lang="fr-FR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1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2.png"/><Relationship Id="rId12" Type="http://schemas.openxmlformats.org/officeDocument/2006/relationships/image" Target="../media/image33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22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40080" y="685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ec4899"/>
                </a:solidFill>
                <a:latin typeface="Calibri"/>
                <a:ea typeface="Calibri"/>
              </a:rPr>
              <a:t>POC · DATA ENGINEERING · SOUTENANCE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640080" y="105156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Calibri"/>
                <a:ea typeface="Calibri"/>
              </a:rPr>
              <a:t>Sport Data Solution.</a:t>
            </a:r>
            <a:endParaRPr b="0" lang="fr-FR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640080" y="2057400"/>
            <a:ext cx="8229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Pipeline ETL bout en bout — automatisation du système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de récompenses sportives. Robuste, sécurisé, idempotent.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640080" y="3246120"/>
            <a:ext cx="1874160" cy="1188360"/>
          </a:xfrm>
          <a:prstGeom prst="rect">
            <a:avLst/>
          </a:prstGeom>
          <a:solidFill>
            <a:srgbClr val="132152"/>
          </a:solidFill>
          <a:ln w="12700">
            <a:solidFill>
              <a:srgbClr val="1321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640080" y="3246120"/>
            <a:ext cx="1874160" cy="3196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" name="Image 0" descr="preencoded.png"/>
          <p:cNvPicPr/>
          <p:nvPr/>
        </p:nvPicPr>
        <p:blipFill>
          <a:blip r:embed="rId1"/>
          <a:stretch/>
        </p:blipFill>
        <p:spPr>
          <a:xfrm>
            <a:off x="1463040" y="33008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5" name="Text 6"/>
          <p:cNvSpPr/>
          <p:nvPr/>
        </p:nvSpPr>
        <p:spPr>
          <a:xfrm>
            <a:off x="640080" y="3584520"/>
            <a:ext cx="187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161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640080" y="4023360"/>
            <a:ext cx="1874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7" strike="noStrike">
                <a:solidFill>
                  <a:srgbClr val="ec4899"/>
                </a:solidFill>
                <a:latin typeface="Calibri"/>
                <a:ea typeface="Calibri"/>
              </a:rPr>
              <a:t>salariés analysés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8"/>
          <p:cNvSpPr/>
          <p:nvPr/>
        </p:nvSpPr>
        <p:spPr>
          <a:xfrm>
            <a:off x="640080" y="4224600"/>
            <a:ext cx="1874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94c7e0"/>
                </a:solidFill>
                <a:latin typeface="Calibri"/>
                <a:ea typeface="Calibri"/>
              </a:rPr>
              <a:t>Base RH complète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9"/>
          <p:cNvSpPr/>
          <p:nvPr/>
        </p:nvSpPr>
        <p:spPr>
          <a:xfrm>
            <a:off x="2697480" y="3246120"/>
            <a:ext cx="1874160" cy="1188360"/>
          </a:xfrm>
          <a:prstGeom prst="rect">
            <a:avLst/>
          </a:prstGeom>
          <a:solidFill>
            <a:srgbClr val="132152"/>
          </a:solidFill>
          <a:ln w="12700">
            <a:solidFill>
              <a:srgbClr val="1321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0"/>
          <p:cNvSpPr/>
          <p:nvPr/>
        </p:nvSpPr>
        <p:spPr>
          <a:xfrm>
            <a:off x="2697480" y="3246120"/>
            <a:ext cx="1874160" cy="3196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" name="Image 1" descr="preencoded.png"/>
          <p:cNvPicPr/>
          <p:nvPr/>
        </p:nvPicPr>
        <p:blipFill>
          <a:blip r:embed="rId2"/>
          <a:stretch/>
        </p:blipFill>
        <p:spPr>
          <a:xfrm>
            <a:off x="3520440" y="33008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21" name="Text 11"/>
          <p:cNvSpPr/>
          <p:nvPr/>
        </p:nvSpPr>
        <p:spPr>
          <a:xfrm>
            <a:off x="2697480" y="3584520"/>
            <a:ext cx="187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68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2697480" y="4023360"/>
            <a:ext cx="1874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7" strike="noStrike">
                <a:solidFill>
                  <a:srgbClr val="22c55e"/>
                </a:solidFill>
                <a:latin typeface="Calibri"/>
                <a:ea typeface="Calibri"/>
              </a:rPr>
              <a:t>éligibles prime 5 %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2697480" y="4224600"/>
            <a:ext cx="1874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94c7e0"/>
                </a:solidFill>
                <a:latin typeface="Calibri"/>
                <a:ea typeface="Calibri"/>
              </a:rPr>
              <a:t>Transport actif validé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754880" y="3246120"/>
            <a:ext cx="1874160" cy="1188360"/>
          </a:xfrm>
          <a:prstGeom prst="rect">
            <a:avLst/>
          </a:prstGeom>
          <a:solidFill>
            <a:srgbClr val="132152"/>
          </a:solidFill>
          <a:ln w="12700">
            <a:solidFill>
              <a:srgbClr val="1321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5"/>
          <p:cNvSpPr/>
          <p:nvPr/>
        </p:nvSpPr>
        <p:spPr>
          <a:xfrm>
            <a:off x="4754880" y="3246120"/>
            <a:ext cx="1874160" cy="319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" name="Image 2" descr="preencoded.png"/>
          <p:cNvPicPr/>
          <p:nvPr/>
        </p:nvPicPr>
        <p:blipFill>
          <a:blip r:embed="rId3"/>
          <a:stretch/>
        </p:blipFill>
        <p:spPr>
          <a:xfrm>
            <a:off x="5577840" y="33008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27" name="Text 16"/>
          <p:cNvSpPr/>
          <p:nvPr/>
        </p:nvSpPr>
        <p:spPr>
          <a:xfrm>
            <a:off x="4754880" y="3584520"/>
            <a:ext cx="187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69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7"/>
          <p:cNvSpPr/>
          <p:nvPr/>
        </p:nvSpPr>
        <p:spPr>
          <a:xfrm>
            <a:off x="4754880" y="4023360"/>
            <a:ext cx="1874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7" strike="noStrike">
                <a:solidFill>
                  <a:srgbClr val="f59e0b"/>
                </a:solidFill>
                <a:latin typeface="Calibri"/>
                <a:ea typeface="Calibri"/>
              </a:rPr>
              <a:t>éligibles bien-être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18"/>
          <p:cNvSpPr/>
          <p:nvPr/>
        </p:nvSpPr>
        <p:spPr>
          <a:xfrm>
            <a:off x="4754880" y="4224600"/>
            <a:ext cx="1874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94c7e0"/>
                </a:solidFill>
                <a:latin typeface="Calibri"/>
                <a:ea typeface="Calibri"/>
              </a:rPr>
              <a:t>≥ </a:t>
            </a:r>
            <a:r>
              <a:rPr b="0" i="1" lang="en-US" sz="850" spc="-1" strike="noStrike">
                <a:solidFill>
                  <a:srgbClr val="94c7e0"/>
                </a:solidFill>
                <a:latin typeface="Calibri"/>
                <a:ea typeface="Calibri"/>
              </a:rPr>
              <a:t>15 activités / 12 mois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19"/>
          <p:cNvSpPr/>
          <p:nvPr/>
        </p:nvSpPr>
        <p:spPr>
          <a:xfrm>
            <a:off x="6812280" y="3246120"/>
            <a:ext cx="1874160" cy="1188360"/>
          </a:xfrm>
          <a:prstGeom prst="rect">
            <a:avLst/>
          </a:prstGeom>
          <a:solidFill>
            <a:srgbClr val="132152"/>
          </a:solidFill>
          <a:ln w="12700">
            <a:solidFill>
              <a:srgbClr val="1321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0"/>
          <p:cNvSpPr/>
          <p:nvPr/>
        </p:nvSpPr>
        <p:spPr>
          <a:xfrm>
            <a:off x="6812280" y="3246120"/>
            <a:ext cx="1874160" cy="319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2" name="Image 3" descr="preencoded.png"/>
          <p:cNvPicPr/>
          <p:nvPr/>
        </p:nvPicPr>
        <p:blipFill>
          <a:blip r:embed="rId4"/>
          <a:stretch/>
        </p:blipFill>
        <p:spPr>
          <a:xfrm>
            <a:off x="7635240" y="33008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33" name="Text 21"/>
          <p:cNvSpPr/>
          <p:nvPr/>
        </p:nvSpPr>
        <p:spPr>
          <a:xfrm>
            <a:off x="6812280" y="3584520"/>
            <a:ext cx="1874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172 482 €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22"/>
          <p:cNvSpPr/>
          <p:nvPr/>
        </p:nvSpPr>
        <p:spPr>
          <a:xfrm>
            <a:off x="6812280" y="4023360"/>
            <a:ext cx="1874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7" strike="noStrike">
                <a:solidFill>
                  <a:srgbClr val="1c7293"/>
                </a:solidFill>
                <a:latin typeface="Calibri"/>
                <a:ea typeface="Calibri"/>
              </a:rPr>
              <a:t>budget annuel primes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23"/>
          <p:cNvSpPr/>
          <p:nvPr/>
        </p:nvSpPr>
        <p:spPr>
          <a:xfrm>
            <a:off x="6812280" y="4224600"/>
            <a:ext cx="1874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94c7e0"/>
                </a:solidFill>
                <a:latin typeface="Calibri"/>
                <a:ea typeface="Calibri"/>
              </a:rPr>
              <a:t>Calcul automatisé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6" name="Image 4" descr="preencoded.png"/>
          <p:cNvPicPr/>
          <p:nvPr/>
        </p:nvPicPr>
        <p:blipFill>
          <a:blip r:embed="rId5">
            <a:alphaModFix amt="30000"/>
          </a:blip>
          <a:stretch/>
        </p:blipFill>
        <p:spPr>
          <a:xfrm>
            <a:off x="6858000" y="274320"/>
            <a:ext cx="2285640" cy="2285640"/>
          </a:xfrm>
          <a:prstGeom prst="rect">
            <a:avLst/>
          </a:prstGeom>
          <a:ln w="0">
            <a:noFill/>
          </a:ln>
        </p:spPr>
      </p:pic>
      <p:sp>
        <p:nvSpPr>
          <p:cNvPr id="37" name="Text 24"/>
          <p:cNvSpPr/>
          <p:nvPr/>
        </p:nvSpPr>
        <p:spPr>
          <a:xfrm>
            <a:off x="640080" y="466344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94c7e0"/>
                </a:solidFill>
                <a:latin typeface="Calibri"/>
                <a:ea typeface="Calibri"/>
              </a:rPr>
              <a:t>Master 2 Data Engineering · Avril 2026 · v3.1.0 · Stack Python · Kestra · Open Source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365760" y="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299" strike="noStrike">
                <a:solidFill>
                  <a:srgbClr val="ffffff"/>
                </a:solidFill>
                <a:latin typeface="Calibri"/>
                <a:ea typeface="Calibri"/>
              </a:rPr>
              <a:t>SPORT DATA SOLUTION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2"/>
          <p:cNvSpPr/>
          <p:nvPr/>
        </p:nvSpPr>
        <p:spPr>
          <a:xfrm>
            <a:off x="3200400" y="0"/>
            <a:ext cx="4114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199" strike="noStrike">
                <a:solidFill>
                  <a:srgbClr val="94c7e0"/>
                </a:solidFill>
                <a:latin typeface="Calibri"/>
                <a:ea typeface="Calibri"/>
              </a:rPr>
              <a:t>PARTIE I · CONTEXTE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3"/>
          <p:cNvSpPr/>
          <p:nvPr/>
        </p:nvSpPr>
        <p:spPr>
          <a:xfrm>
            <a:off x="7680960" y="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02 / 10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4"/>
          <p:cNvSpPr/>
          <p:nvPr/>
        </p:nvSpPr>
        <p:spPr>
          <a:xfrm>
            <a:off x="0" y="4974480"/>
            <a:ext cx="9143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Sport Data Solution · POC Data Engineering · Avril 2026 · v3.1.0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5"/>
          <p:cNvSpPr/>
          <p:nvPr/>
        </p:nvSpPr>
        <p:spPr>
          <a:xfrm>
            <a:off x="365760" y="43884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93b"/>
                </a:solidFill>
                <a:latin typeface="Calibri"/>
                <a:ea typeface="Calibri"/>
              </a:rPr>
              <a:t>Le brief de Juliette, et les 6 chantiers qu'il impose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6"/>
          <p:cNvSpPr/>
          <p:nvPr/>
        </p:nvSpPr>
        <p:spPr>
          <a:xfrm>
            <a:off x="365760" y="89604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Du socle RGPD au dashboard PowerBI — bout en bout, reproductible, zéro intervention manuelle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7"/>
          <p:cNvSpPr/>
          <p:nvPr/>
        </p:nvSpPr>
        <p:spPr>
          <a:xfrm>
            <a:off x="365760" y="1325880"/>
            <a:ext cx="8412120" cy="776880"/>
          </a:xfrm>
          <a:prstGeom prst="rect">
            <a:avLst/>
          </a:prstGeom>
          <a:solidFill>
            <a:srgbClr val="fff4e6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8"/>
          <p:cNvSpPr/>
          <p:nvPr/>
        </p:nvSpPr>
        <p:spPr>
          <a:xfrm>
            <a:off x="365760" y="1325880"/>
            <a:ext cx="91080" cy="776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9"/>
          <p:cNvSpPr/>
          <p:nvPr/>
        </p:nvSpPr>
        <p:spPr>
          <a:xfrm>
            <a:off x="594360" y="1481400"/>
            <a:ext cx="502560" cy="5025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" name="Image 0" descr="preencoded.png"/>
          <p:cNvPicPr/>
          <p:nvPr/>
        </p:nvPicPr>
        <p:blipFill>
          <a:blip r:embed="rId1"/>
          <a:stretch/>
        </p:blipFill>
        <p:spPr>
          <a:xfrm>
            <a:off x="704160" y="1572840"/>
            <a:ext cx="282960" cy="282960"/>
          </a:xfrm>
          <a:prstGeom prst="rect">
            <a:avLst/>
          </a:prstGeom>
          <a:ln w="0">
            <a:noFill/>
          </a:ln>
        </p:spPr>
      </p:pic>
      <p:sp>
        <p:nvSpPr>
          <p:cNvPr id="49" name="Text 10"/>
          <p:cNvSpPr/>
          <p:nvPr/>
        </p:nvSpPr>
        <p:spPr>
          <a:xfrm>
            <a:off x="1234440" y="13716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1e293b"/>
                </a:solidFill>
                <a:latin typeface="Calibri"/>
                <a:ea typeface="Calibri"/>
              </a:rPr>
              <a:t>Je souhaite récompenser les salariés qui s'engagent dans des pratiques sportives régulières. Une prime pour les trajets actifs, 5 jours bien-être pour les sportifs réguliers. L'essentiel c'est que l'ensemble du projet soit robuste, sécurisé et fonctionnel.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1234440" y="1828800"/>
            <a:ext cx="7452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— </a:t>
            </a: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Juliette Mendes · Co-fondatrice · extrait brief de cadrage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12"/>
          <p:cNvSpPr/>
          <p:nvPr/>
        </p:nvSpPr>
        <p:spPr>
          <a:xfrm>
            <a:off x="365760" y="2286000"/>
            <a:ext cx="2724480" cy="1115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13"/>
          <p:cNvSpPr/>
          <p:nvPr/>
        </p:nvSpPr>
        <p:spPr>
          <a:xfrm>
            <a:off x="365760" y="2286000"/>
            <a:ext cx="72720" cy="1115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2541960" y="2359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65a82"/>
                </a:solidFill>
                <a:latin typeface="Consolas"/>
                <a:ea typeface="Consolas"/>
              </a:rPr>
              <a:t>01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15"/>
          <p:cNvSpPr/>
          <p:nvPr/>
        </p:nvSpPr>
        <p:spPr>
          <a:xfrm>
            <a:off x="548640" y="2395800"/>
            <a:ext cx="328680" cy="32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5" name="Image 1" descr="preencoded.png"/>
          <p:cNvPicPr/>
          <p:nvPr/>
        </p:nvPicPr>
        <p:blipFill>
          <a:blip r:embed="rId2"/>
          <a:stretch/>
        </p:blipFill>
        <p:spPr>
          <a:xfrm>
            <a:off x="612720" y="24598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56" name="Text 16"/>
          <p:cNvSpPr/>
          <p:nvPr/>
        </p:nvSpPr>
        <p:spPr>
          <a:xfrm>
            <a:off x="548640" y="2770560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e293b"/>
                </a:solidFill>
                <a:latin typeface="Calibri"/>
                <a:ea typeface="Calibri"/>
              </a:rPr>
              <a:t>Infrastructure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17"/>
          <p:cNvSpPr/>
          <p:nvPr/>
        </p:nvSpPr>
        <p:spPr>
          <a:xfrm>
            <a:off x="548640" y="3035520"/>
            <a:ext cx="23590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8"/>
          <p:cNvSpPr/>
          <p:nvPr/>
        </p:nvSpPr>
        <p:spPr>
          <a:xfrm>
            <a:off x="548640" y="3072240"/>
            <a:ext cx="2450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PostgreSQL 16 cloisonné en 3 schémas RGPD · rôles DBA / analyste / manager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19"/>
          <p:cNvSpPr/>
          <p:nvPr/>
        </p:nvSpPr>
        <p:spPr>
          <a:xfrm>
            <a:off x="3191400" y="2286000"/>
            <a:ext cx="2724480" cy="1115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20"/>
          <p:cNvSpPr/>
          <p:nvPr/>
        </p:nvSpPr>
        <p:spPr>
          <a:xfrm>
            <a:off x="3191400" y="2286000"/>
            <a:ext cx="72720" cy="1115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5367600" y="2359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c7293"/>
                </a:solidFill>
                <a:latin typeface="Consolas"/>
                <a:ea typeface="Consolas"/>
              </a:rPr>
              <a:t>02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22"/>
          <p:cNvSpPr/>
          <p:nvPr/>
        </p:nvSpPr>
        <p:spPr>
          <a:xfrm>
            <a:off x="3374280" y="2395800"/>
            <a:ext cx="328680" cy="32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3" name="Image 2" descr="preencoded.png"/>
          <p:cNvPicPr/>
          <p:nvPr/>
        </p:nvPicPr>
        <p:blipFill>
          <a:blip r:embed="rId3"/>
          <a:stretch/>
        </p:blipFill>
        <p:spPr>
          <a:xfrm>
            <a:off x="3438000" y="24598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64" name="Text 23"/>
          <p:cNvSpPr/>
          <p:nvPr/>
        </p:nvSpPr>
        <p:spPr>
          <a:xfrm>
            <a:off x="3374280" y="2770560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e293b"/>
                </a:solidFill>
                <a:latin typeface="Calibri"/>
                <a:ea typeface="Calibri"/>
              </a:rPr>
              <a:t>Générateur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24"/>
          <p:cNvSpPr/>
          <p:nvPr/>
        </p:nvSpPr>
        <p:spPr>
          <a:xfrm>
            <a:off x="3373920" y="3035520"/>
            <a:ext cx="23590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25"/>
          <p:cNvSpPr/>
          <p:nvPr/>
        </p:nvSpPr>
        <p:spPr>
          <a:xfrm>
            <a:off x="3374280" y="3072240"/>
            <a:ext cx="2450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Simulateur Strava-like · 2 040 activités · 15 disciplines · seed reproductible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26"/>
          <p:cNvSpPr/>
          <p:nvPr/>
        </p:nvSpPr>
        <p:spPr>
          <a:xfrm>
            <a:off x="6016680" y="2286000"/>
            <a:ext cx="2724480" cy="1115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27"/>
          <p:cNvSpPr/>
          <p:nvPr/>
        </p:nvSpPr>
        <p:spPr>
          <a:xfrm>
            <a:off x="6016680" y="2286000"/>
            <a:ext cx="72720" cy="11152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28"/>
          <p:cNvSpPr/>
          <p:nvPr/>
        </p:nvSpPr>
        <p:spPr>
          <a:xfrm>
            <a:off x="8192880" y="2359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2c55e"/>
                </a:solidFill>
                <a:latin typeface="Consolas"/>
                <a:ea typeface="Consolas"/>
              </a:rPr>
              <a:t>03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29"/>
          <p:cNvSpPr/>
          <p:nvPr/>
        </p:nvSpPr>
        <p:spPr>
          <a:xfrm>
            <a:off x="6199560" y="2395800"/>
            <a:ext cx="328680" cy="3286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1" name="Image 3" descr="preencoded.png"/>
          <p:cNvPicPr/>
          <p:nvPr/>
        </p:nvPicPr>
        <p:blipFill>
          <a:blip r:embed="rId4"/>
          <a:stretch/>
        </p:blipFill>
        <p:spPr>
          <a:xfrm>
            <a:off x="6263640" y="24598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72" name="Text 30"/>
          <p:cNvSpPr/>
          <p:nvPr/>
        </p:nvSpPr>
        <p:spPr>
          <a:xfrm>
            <a:off x="6199560" y="2770560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e293b"/>
                </a:solidFill>
                <a:latin typeface="Calibri"/>
                <a:ea typeface="Calibri"/>
              </a:rPr>
              <a:t>Data Quality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31"/>
          <p:cNvSpPr/>
          <p:nvPr/>
        </p:nvSpPr>
        <p:spPr>
          <a:xfrm>
            <a:off x="6199560" y="3035520"/>
            <a:ext cx="23590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32"/>
          <p:cNvSpPr/>
          <p:nvPr/>
        </p:nvSpPr>
        <p:spPr>
          <a:xfrm>
            <a:off x="6199560" y="3072240"/>
            <a:ext cx="2450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Great Expectations + scoring /100 · bloquant si score &lt; 80 · 7 checks métier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33"/>
          <p:cNvSpPr/>
          <p:nvPr/>
        </p:nvSpPr>
        <p:spPr>
          <a:xfrm>
            <a:off x="365760" y="3493080"/>
            <a:ext cx="2724480" cy="1115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34"/>
          <p:cNvSpPr/>
          <p:nvPr/>
        </p:nvSpPr>
        <p:spPr>
          <a:xfrm>
            <a:off x="365760" y="3493080"/>
            <a:ext cx="72720" cy="11152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35"/>
          <p:cNvSpPr/>
          <p:nvPr/>
        </p:nvSpPr>
        <p:spPr>
          <a:xfrm>
            <a:off x="2541960" y="3566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8b5cf6"/>
                </a:solidFill>
                <a:latin typeface="Consolas"/>
                <a:ea typeface="Consolas"/>
              </a:rPr>
              <a:t>04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36"/>
          <p:cNvSpPr/>
          <p:nvPr/>
        </p:nvSpPr>
        <p:spPr>
          <a:xfrm>
            <a:off x="548640" y="3602880"/>
            <a:ext cx="328680" cy="3286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9" name="Image 4" descr="preencoded.png"/>
          <p:cNvPicPr/>
          <p:nvPr/>
        </p:nvPicPr>
        <p:blipFill>
          <a:blip r:embed="rId5"/>
          <a:stretch/>
        </p:blipFill>
        <p:spPr>
          <a:xfrm>
            <a:off x="612720" y="366660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80" name="Text 37"/>
          <p:cNvSpPr/>
          <p:nvPr/>
        </p:nvSpPr>
        <p:spPr>
          <a:xfrm>
            <a:off x="548640" y="3977640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e293b"/>
                </a:solidFill>
                <a:latin typeface="Calibri"/>
                <a:ea typeface="Calibri"/>
              </a:rPr>
              <a:t>Pipeline ETL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38"/>
          <p:cNvSpPr/>
          <p:nvPr/>
        </p:nvSpPr>
        <p:spPr>
          <a:xfrm>
            <a:off x="548640" y="4242600"/>
            <a:ext cx="23590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39"/>
          <p:cNvSpPr/>
          <p:nvPr/>
        </p:nvSpPr>
        <p:spPr>
          <a:xfrm>
            <a:off x="548640" y="4279320"/>
            <a:ext cx="2450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Extract · Generate · Geo · DQ · Transform · Load · Slack — 7 étapes isolées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40"/>
          <p:cNvSpPr/>
          <p:nvPr/>
        </p:nvSpPr>
        <p:spPr>
          <a:xfrm>
            <a:off x="3191400" y="3493080"/>
            <a:ext cx="2724480" cy="1115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41"/>
          <p:cNvSpPr/>
          <p:nvPr/>
        </p:nvSpPr>
        <p:spPr>
          <a:xfrm>
            <a:off x="3191400" y="3493080"/>
            <a:ext cx="72720" cy="11152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42"/>
          <p:cNvSpPr/>
          <p:nvPr/>
        </p:nvSpPr>
        <p:spPr>
          <a:xfrm>
            <a:off x="5367600" y="3566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c4899"/>
                </a:solidFill>
                <a:latin typeface="Consolas"/>
                <a:ea typeface="Consolas"/>
              </a:rPr>
              <a:t>05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43"/>
          <p:cNvSpPr/>
          <p:nvPr/>
        </p:nvSpPr>
        <p:spPr>
          <a:xfrm>
            <a:off x="3374280" y="3602880"/>
            <a:ext cx="328680" cy="3286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7" name="Image 5" descr="preencoded.png"/>
          <p:cNvPicPr/>
          <p:nvPr/>
        </p:nvPicPr>
        <p:blipFill>
          <a:blip r:embed="rId6"/>
          <a:stretch/>
        </p:blipFill>
        <p:spPr>
          <a:xfrm>
            <a:off x="3438000" y="366660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88" name="Text 44"/>
          <p:cNvSpPr/>
          <p:nvPr/>
        </p:nvSpPr>
        <p:spPr>
          <a:xfrm>
            <a:off x="3374280" y="3977640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e293b"/>
                </a:solidFill>
                <a:latin typeface="Calibri"/>
                <a:ea typeface="Calibri"/>
              </a:rPr>
              <a:t>Orchestration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45"/>
          <p:cNvSpPr/>
          <p:nvPr/>
        </p:nvSpPr>
        <p:spPr>
          <a:xfrm>
            <a:off x="3373920" y="4242600"/>
            <a:ext cx="23590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46"/>
          <p:cNvSpPr/>
          <p:nvPr/>
        </p:nvSpPr>
        <p:spPr>
          <a:xfrm>
            <a:off x="3374280" y="4279320"/>
            <a:ext cx="2450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Kestra · UI paramétrable · retries automatiques · schedule quotidien 02:00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47"/>
          <p:cNvSpPr/>
          <p:nvPr/>
        </p:nvSpPr>
        <p:spPr>
          <a:xfrm>
            <a:off x="6016680" y="3493080"/>
            <a:ext cx="2724480" cy="1115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48"/>
          <p:cNvSpPr/>
          <p:nvPr/>
        </p:nvSpPr>
        <p:spPr>
          <a:xfrm>
            <a:off x="6016680" y="3493080"/>
            <a:ext cx="72720" cy="1115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49"/>
          <p:cNvSpPr/>
          <p:nvPr/>
        </p:nvSpPr>
        <p:spPr>
          <a:xfrm>
            <a:off x="8192880" y="3566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59e0b"/>
                </a:solidFill>
                <a:latin typeface="Consolas"/>
                <a:ea typeface="Consolas"/>
              </a:rPr>
              <a:t>06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50"/>
          <p:cNvSpPr/>
          <p:nvPr/>
        </p:nvSpPr>
        <p:spPr>
          <a:xfrm>
            <a:off x="6199560" y="3602880"/>
            <a:ext cx="328680" cy="3286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Image 6" descr="preencoded.png"/>
          <p:cNvPicPr/>
          <p:nvPr/>
        </p:nvPicPr>
        <p:blipFill>
          <a:blip r:embed="rId7"/>
          <a:stretch/>
        </p:blipFill>
        <p:spPr>
          <a:xfrm>
            <a:off x="6263640" y="366660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6" name="Text 51"/>
          <p:cNvSpPr/>
          <p:nvPr/>
        </p:nvSpPr>
        <p:spPr>
          <a:xfrm>
            <a:off x="6199560" y="3977640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e293b"/>
                </a:solidFill>
                <a:latin typeface="Calibri"/>
                <a:ea typeface="Calibri"/>
              </a:rPr>
              <a:t>Dashboard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52"/>
          <p:cNvSpPr/>
          <p:nvPr/>
        </p:nvSpPr>
        <p:spPr>
          <a:xfrm>
            <a:off x="6199560" y="4242600"/>
            <a:ext cx="23590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53"/>
          <p:cNvSpPr/>
          <p:nvPr/>
        </p:nvSpPr>
        <p:spPr>
          <a:xfrm>
            <a:off x="6199560" y="4279320"/>
            <a:ext cx="2450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PowerBI Desktop · 8 feuilles Excel · Historique_Runs pour le reprocessing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365760" y="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299" strike="noStrike">
                <a:solidFill>
                  <a:srgbClr val="ffffff"/>
                </a:solidFill>
                <a:latin typeface="Calibri"/>
                <a:ea typeface="Calibri"/>
              </a:rPr>
              <a:t>SPORT DATA SOLUTION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2"/>
          <p:cNvSpPr/>
          <p:nvPr/>
        </p:nvSpPr>
        <p:spPr>
          <a:xfrm>
            <a:off x="3200400" y="0"/>
            <a:ext cx="4114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199" strike="noStrike">
                <a:solidFill>
                  <a:srgbClr val="94c7e0"/>
                </a:solidFill>
                <a:latin typeface="Calibri"/>
                <a:ea typeface="Calibri"/>
              </a:rPr>
              <a:t>PARTIE I · RÈGLES MÉTIER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3"/>
          <p:cNvSpPr/>
          <p:nvPr/>
        </p:nvSpPr>
        <p:spPr>
          <a:xfrm>
            <a:off x="7680960" y="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03 / 10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"/>
          <p:cNvSpPr/>
          <p:nvPr/>
        </p:nvSpPr>
        <p:spPr>
          <a:xfrm>
            <a:off x="0" y="4974480"/>
            <a:ext cx="9143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Sport Data Solution · POC Data Engineering · Avril 2026 · v3.1.0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365760" y="43884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93b"/>
                </a:solidFill>
                <a:latin typeface="Calibri"/>
                <a:ea typeface="Calibri"/>
              </a:rPr>
              <a:t>Du brief à la règle de calcul — deux avantages indépendants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365760" y="89604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108 salariés touchés par au moins une des deux règles · 29 bénéficient des deux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7"/>
          <p:cNvSpPr/>
          <p:nvPr/>
        </p:nvSpPr>
        <p:spPr>
          <a:xfrm>
            <a:off x="365760" y="1280160"/>
            <a:ext cx="4068720" cy="2239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365760" y="1280160"/>
            <a:ext cx="4068720" cy="411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128016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199" strike="noStrike">
                <a:solidFill>
                  <a:srgbClr val="ffffff"/>
                </a:solidFill>
                <a:latin typeface="Calibri"/>
                <a:ea typeface="Calibri"/>
              </a:rPr>
              <a:t>RÈGLE 01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011680" y="128016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68 bénéf. · 172 482 €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548640" y="1737360"/>
            <a:ext cx="3702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  <a:ea typeface="Calibri"/>
              </a:rPr>
              <a:t>Prime de 5 % du salaire brut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548640" y="2084760"/>
            <a:ext cx="273960" cy="273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2" name="Image 0" descr="preencoded.png"/>
          <p:cNvPicPr/>
          <p:nvPr/>
        </p:nvPicPr>
        <p:blipFill>
          <a:blip r:embed="rId1"/>
          <a:stretch/>
        </p:blipFill>
        <p:spPr>
          <a:xfrm>
            <a:off x="589680" y="2126160"/>
            <a:ext cx="191520" cy="191520"/>
          </a:xfrm>
          <a:prstGeom prst="rect">
            <a:avLst/>
          </a:prstGeom>
          <a:ln w="0">
            <a:noFill/>
          </a:ln>
        </p:spPr>
      </p:pic>
      <p:sp>
        <p:nvSpPr>
          <p:cNvPr id="113" name="Text 13"/>
          <p:cNvSpPr/>
          <p:nvPr/>
        </p:nvSpPr>
        <p:spPr>
          <a:xfrm>
            <a:off x="868680" y="2103120"/>
            <a:ext cx="3382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Mode de déplacement actif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14"/>
          <p:cNvSpPr/>
          <p:nvPr/>
        </p:nvSpPr>
        <p:spPr>
          <a:xfrm>
            <a:off x="868680" y="2295000"/>
            <a:ext cx="3382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Vélo · Trottinette · Marche · Course à pied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15"/>
          <p:cNvSpPr/>
          <p:nvPr/>
        </p:nvSpPr>
        <p:spPr>
          <a:xfrm>
            <a:off x="548640" y="2560320"/>
            <a:ext cx="273960" cy="273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6" name="Image 1" descr="preencoded.png"/>
          <p:cNvPicPr/>
          <p:nvPr/>
        </p:nvPicPr>
        <p:blipFill>
          <a:blip r:embed="rId2"/>
          <a:stretch/>
        </p:blipFill>
        <p:spPr>
          <a:xfrm>
            <a:off x="589680" y="2601360"/>
            <a:ext cx="191520" cy="191520"/>
          </a:xfrm>
          <a:prstGeom prst="rect">
            <a:avLst/>
          </a:prstGeom>
          <a:ln w="0">
            <a:noFill/>
          </a:ln>
        </p:spPr>
      </p:pic>
      <p:sp>
        <p:nvSpPr>
          <p:cNvPr id="117" name="Text 16"/>
          <p:cNvSpPr/>
          <p:nvPr/>
        </p:nvSpPr>
        <p:spPr>
          <a:xfrm>
            <a:off x="868680" y="2578680"/>
            <a:ext cx="3382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Distance domicile — travail cohérente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17"/>
          <p:cNvSpPr/>
          <p:nvPr/>
        </p:nvSpPr>
        <p:spPr>
          <a:xfrm>
            <a:off x="868680" y="2770560"/>
            <a:ext cx="3382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Marche / running ≤ 15 km · Vélo ≤ 25 km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18"/>
          <p:cNvSpPr/>
          <p:nvPr/>
        </p:nvSpPr>
        <p:spPr>
          <a:xfrm>
            <a:off x="548640" y="3127320"/>
            <a:ext cx="3702960" cy="347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640080" y="3127320"/>
            <a:ext cx="1188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Calcul appliqué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1554480" y="3127320"/>
            <a:ext cx="2605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65a82"/>
                </a:solidFill>
                <a:latin typeface="Consolas"/>
                <a:ea typeface="Consolas"/>
              </a:rPr>
              <a:t>prime = salaire_brut × 0.05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1"/>
          <p:cNvSpPr/>
          <p:nvPr/>
        </p:nvSpPr>
        <p:spPr>
          <a:xfrm>
            <a:off x="4709160" y="1280160"/>
            <a:ext cx="4068720" cy="2239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2"/>
          <p:cNvSpPr/>
          <p:nvPr/>
        </p:nvSpPr>
        <p:spPr>
          <a:xfrm>
            <a:off x="4709160" y="1280160"/>
            <a:ext cx="4068720" cy="411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23"/>
          <p:cNvSpPr/>
          <p:nvPr/>
        </p:nvSpPr>
        <p:spPr>
          <a:xfrm>
            <a:off x="4892040" y="128016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199" strike="noStrike">
                <a:solidFill>
                  <a:srgbClr val="ffffff"/>
                </a:solidFill>
                <a:latin typeface="Calibri"/>
                <a:ea typeface="Calibri"/>
              </a:rPr>
              <a:t>RÈGLE 02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24"/>
          <p:cNvSpPr/>
          <p:nvPr/>
        </p:nvSpPr>
        <p:spPr>
          <a:xfrm>
            <a:off x="6355080" y="128016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69 bénéf. · 42,9 %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5"/>
          <p:cNvSpPr/>
          <p:nvPr/>
        </p:nvSpPr>
        <p:spPr>
          <a:xfrm>
            <a:off x="4892040" y="1737360"/>
            <a:ext cx="3702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  <a:ea typeface="Calibri"/>
              </a:rPr>
              <a:t>5 jours de congés bien-être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26"/>
          <p:cNvSpPr/>
          <p:nvPr/>
        </p:nvSpPr>
        <p:spPr>
          <a:xfrm>
            <a:off x="4892040" y="2084760"/>
            <a:ext cx="273960" cy="273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8" name="Image 2" descr="preencoded.png"/>
          <p:cNvPicPr/>
          <p:nvPr/>
        </p:nvPicPr>
        <p:blipFill>
          <a:blip r:embed="rId3"/>
          <a:stretch/>
        </p:blipFill>
        <p:spPr>
          <a:xfrm>
            <a:off x="4933080" y="2126160"/>
            <a:ext cx="191520" cy="191520"/>
          </a:xfrm>
          <a:prstGeom prst="rect">
            <a:avLst/>
          </a:prstGeom>
          <a:ln w="0">
            <a:noFill/>
          </a:ln>
        </p:spPr>
      </p:pic>
      <p:sp>
        <p:nvSpPr>
          <p:cNvPr id="129" name="Text 27"/>
          <p:cNvSpPr/>
          <p:nvPr/>
        </p:nvSpPr>
        <p:spPr>
          <a:xfrm>
            <a:off x="5212080" y="2103120"/>
            <a:ext cx="3382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Sport déclaré dans le référentiel RH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28"/>
          <p:cNvSpPr/>
          <p:nvPr/>
        </p:nvSpPr>
        <p:spPr>
          <a:xfrm>
            <a:off x="5212080" y="2295000"/>
            <a:ext cx="3382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Colonne 'Pratique d'un sport' ≠ NULL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29"/>
          <p:cNvSpPr/>
          <p:nvPr/>
        </p:nvSpPr>
        <p:spPr>
          <a:xfrm>
            <a:off x="4892040" y="2560320"/>
            <a:ext cx="273960" cy="273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" name="Image 3" descr="preencoded.png"/>
          <p:cNvPicPr/>
          <p:nvPr/>
        </p:nvPicPr>
        <p:blipFill>
          <a:blip r:embed="rId4"/>
          <a:stretch/>
        </p:blipFill>
        <p:spPr>
          <a:xfrm>
            <a:off x="4933080" y="2601360"/>
            <a:ext cx="191520" cy="191520"/>
          </a:xfrm>
          <a:prstGeom prst="rect">
            <a:avLst/>
          </a:prstGeom>
          <a:ln w="0">
            <a:noFill/>
          </a:ln>
        </p:spPr>
      </p:pic>
      <p:sp>
        <p:nvSpPr>
          <p:cNvPr id="133" name="Text 30"/>
          <p:cNvSpPr/>
          <p:nvPr/>
        </p:nvSpPr>
        <p:spPr>
          <a:xfrm>
            <a:off x="5212080" y="2578680"/>
            <a:ext cx="3382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Activité mesurée sur 12 mois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31"/>
          <p:cNvSpPr/>
          <p:nvPr/>
        </p:nvSpPr>
        <p:spPr>
          <a:xfrm>
            <a:off x="5212080" y="2770560"/>
            <a:ext cx="3382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≥ </a:t>
            </a: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15 activités / an (flux Strava-like)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32"/>
          <p:cNvSpPr/>
          <p:nvPr/>
        </p:nvSpPr>
        <p:spPr>
          <a:xfrm>
            <a:off x="4892040" y="3127320"/>
            <a:ext cx="3702960" cy="347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33"/>
          <p:cNvSpPr/>
          <p:nvPr/>
        </p:nvSpPr>
        <p:spPr>
          <a:xfrm>
            <a:off x="4983480" y="3127320"/>
            <a:ext cx="1188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Attribution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34"/>
          <p:cNvSpPr/>
          <p:nvPr/>
        </p:nvSpPr>
        <p:spPr>
          <a:xfrm>
            <a:off x="5897880" y="3127320"/>
            <a:ext cx="2605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59e0b"/>
                </a:solidFill>
                <a:latin typeface="Consolas"/>
                <a:ea typeface="Consolas"/>
              </a:rPr>
              <a:t>attribution += 5 jours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35"/>
          <p:cNvSpPr/>
          <p:nvPr/>
        </p:nvSpPr>
        <p:spPr>
          <a:xfrm>
            <a:off x="365760" y="365760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065a82"/>
                </a:solidFill>
                <a:latin typeface="Calibri"/>
                <a:ea typeface="Calibri"/>
              </a:rPr>
              <a:t>MATRICE DE RÉPARTITION — 161 salariés · règles croisées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36"/>
          <p:cNvSpPr/>
          <p:nvPr/>
        </p:nvSpPr>
        <p:spPr>
          <a:xfrm>
            <a:off x="365760" y="3931920"/>
            <a:ext cx="2029680" cy="914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37"/>
          <p:cNvSpPr/>
          <p:nvPr/>
        </p:nvSpPr>
        <p:spPr>
          <a:xfrm>
            <a:off x="365760" y="3931920"/>
            <a:ext cx="54360" cy="9140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1" name="Image 4" descr="preencoded.png"/>
          <p:cNvPicPr/>
          <p:nvPr/>
        </p:nvPicPr>
        <p:blipFill>
          <a:blip r:embed="rId5"/>
          <a:stretch/>
        </p:blipFill>
        <p:spPr>
          <a:xfrm>
            <a:off x="2048400" y="4023360"/>
            <a:ext cx="237240" cy="237240"/>
          </a:xfrm>
          <a:prstGeom prst="rect">
            <a:avLst/>
          </a:prstGeom>
          <a:ln w="0">
            <a:noFill/>
          </a:ln>
        </p:spPr>
      </p:pic>
      <p:sp>
        <p:nvSpPr>
          <p:cNvPr id="142" name="Text 38"/>
          <p:cNvSpPr/>
          <p:nvPr/>
        </p:nvSpPr>
        <p:spPr>
          <a:xfrm>
            <a:off x="502920" y="400500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Prime + Bien-être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39"/>
          <p:cNvSpPr/>
          <p:nvPr/>
        </p:nvSpPr>
        <p:spPr>
          <a:xfrm>
            <a:off x="502920" y="431604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c4899"/>
                </a:solidFill>
                <a:latin typeface="Calibri"/>
                <a:ea typeface="Calibri"/>
              </a:rPr>
              <a:t>29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40"/>
          <p:cNvSpPr/>
          <p:nvPr/>
        </p:nvSpPr>
        <p:spPr>
          <a:xfrm>
            <a:off x="1481400" y="431604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18,0 %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41"/>
          <p:cNvSpPr/>
          <p:nvPr/>
        </p:nvSpPr>
        <p:spPr>
          <a:xfrm>
            <a:off x="2468880" y="3931920"/>
            <a:ext cx="2029680" cy="914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42"/>
          <p:cNvSpPr/>
          <p:nvPr/>
        </p:nvSpPr>
        <p:spPr>
          <a:xfrm>
            <a:off x="2468880" y="3931920"/>
            <a:ext cx="54360" cy="914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7" name="Image 5" descr="preencoded.png"/>
          <p:cNvPicPr/>
          <p:nvPr/>
        </p:nvPicPr>
        <p:blipFill>
          <a:blip r:embed="rId6"/>
          <a:stretch/>
        </p:blipFill>
        <p:spPr>
          <a:xfrm>
            <a:off x="4151520" y="4023360"/>
            <a:ext cx="237240" cy="237240"/>
          </a:xfrm>
          <a:prstGeom prst="rect">
            <a:avLst/>
          </a:prstGeom>
          <a:ln w="0">
            <a:noFill/>
          </a:ln>
        </p:spPr>
      </p:pic>
      <p:sp>
        <p:nvSpPr>
          <p:cNvPr id="148" name="Text 43"/>
          <p:cNvSpPr/>
          <p:nvPr/>
        </p:nvSpPr>
        <p:spPr>
          <a:xfrm>
            <a:off x="2606040" y="400500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Prime uniquement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44"/>
          <p:cNvSpPr/>
          <p:nvPr/>
        </p:nvSpPr>
        <p:spPr>
          <a:xfrm>
            <a:off x="2606040" y="431604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2c55e"/>
                </a:solidFill>
                <a:latin typeface="Calibri"/>
                <a:ea typeface="Calibri"/>
              </a:rPr>
              <a:t>39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45"/>
          <p:cNvSpPr/>
          <p:nvPr/>
        </p:nvSpPr>
        <p:spPr>
          <a:xfrm>
            <a:off x="3584520" y="431604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24,2 %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46"/>
          <p:cNvSpPr/>
          <p:nvPr/>
        </p:nvSpPr>
        <p:spPr>
          <a:xfrm>
            <a:off x="4572000" y="3931920"/>
            <a:ext cx="2029680" cy="914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47"/>
          <p:cNvSpPr/>
          <p:nvPr/>
        </p:nvSpPr>
        <p:spPr>
          <a:xfrm>
            <a:off x="4572000" y="3931920"/>
            <a:ext cx="54360" cy="914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" name="Image 6" descr="preencoded.png"/>
          <p:cNvPicPr/>
          <p:nvPr/>
        </p:nvPicPr>
        <p:blipFill>
          <a:blip r:embed="rId7"/>
          <a:stretch/>
        </p:blipFill>
        <p:spPr>
          <a:xfrm>
            <a:off x="6254640" y="4023360"/>
            <a:ext cx="237240" cy="237240"/>
          </a:xfrm>
          <a:prstGeom prst="rect">
            <a:avLst/>
          </a:prstGeom>
          <a:ln w="0">
            <a:noFill/>
          </a:ln>
        </p:spPr>
      </p:pic>
      <p:sp>
        <p:nvSpPr>
          <p:cNvPr id="154" name="Text 48"/>
          <p:cNvSpPr/>
          <p:nvPr/>
        </p:nvSpPr>
        <p:spPr>
          <a:xfrm>
            <a:off x="4709160" y="400500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Bien-être uniquement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49"/>
          <p:cNvSpPr/>
          <p:nvPr/>
        </p:nvSpPr>
        <p:spPr>
          <a:xfrm>
            <a:off x="4709160" y="431604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59e0b"/>
                </a:solidFill>
                <a:latin typeface="Calibri"/>
                <a:ea typeface="Calibri"/>
              </a:rPr>
              <a:t>40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50"/>
          <p:cNvSpPr/>
          <p:nvPr/>
        </p:nvSpPr>
        <p:spPr>
          <a:xfrm>
            <a:off x="5687640" y="431604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24,8 %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51"/>
          <p:cNvSpPr/>
          <p:nvPr/>
        </p:nvSpPr>
        <p:spPr>
          <a:xfrm>
            <a:off x="6675120" y="3931920"/>
            <a:ext cx="2029680" cy="914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52"/>
          <p:cNvSpPr/>
          <p:nvPr/>
        </p:nvSpPr>
        <p:spPr>
          <a:xfrm>
            <a:off x="6675120" y="3931920"/>
            <a:ext cx="54360" cy="914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9" name="Image 7" descr="preencoded.png"/>
          <p:cNvPicPr/>
          <p:nvPr/>
        </p:nvPicPr>
        <p:blipFill>
          <a:blip r:embed="rId8"/>
          <a:stretch/>
        </p:blipFill>
        <p:spPr>
          <a:xfrm>
            <a:off x="8357760" y="4023360"/>
            <a:ext cx="237240" cy="237240"/>
          </a:xfrm>
          <a:prstGeom prst="rect">
            <a:avLst/>
          </a:prstGeom>
          <a:ln w="0">
            <a:noFill/>
          </a:ln>
        </p:spPr>
      </p:pic>
      <p:sp>
        <p:nvSpPr>
          <p:cNvPr id="160" name="Text 53"/>
          <p:cNvSpPr/>
          <p:nvPr/>
        </p:nvSpPr>
        <p:spPr>
          <a:xfrm>
            <a:off x="6812280" y="400500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Aucun avantage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54"/>
          <p:cNvSpPr/>
          <p:nvPr/>
        </p:nvSpPr>
        <p:spPr>
          <a:xfrm>
            <a:off x="6812280" y="431604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64748b"/>
                </a:solidFill>
                <a:latin typeface="Calibri"/>
                <a:ea typeface="Calibri"/>
              </a:rPr>
              <a:t>53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55"/>
          <p:cNvSpPr/>
          <p:nvPr/>
        </p:nvSpPr>
        <p:spPr>
          <a:xfrm>
            <a:off x="7790760" y="431604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32,9 %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640080" y="164592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599" strike="noStrike">
                <a:solidFill>
                  <a:srgbClr val="ec4899"/>
                </a:solidFill>
                <a:latin typeface="Calibri"/>
                <a:ea typeface="Calibri"/>
              </a:rPr>
              <a:t>PARTIE II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640080" y="1965960"/>
            <a:ext cx="8229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Stack, pipeline &amp; qualité.</a:t>
            </a:r>
            <a:endParaRPr b="0" lang="fr-FR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3"/>
          <p:cNvSpPr/>
          <p:nvPr/>
        </p:nvSpPr>
        <p:spPr>
          <a:xfrm>
            <a:off x="640080" y="301752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adcfc"/>
                </a:solidFill>
                <a:latin typeface="Calibri"/>
                <a:ea typeface="Calibri"/>
              </a:rPr>
              <a:t>Choix d'architecture, générateur Strava-like, contrôles qualité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adcfc"/>
                </a:solidFill>
                <a:latin typeface="Calibri"/>
                <a:ea typeface="Calibri"/>
              </a:rPr>
              <a:t>et notifications — tout ce qui fait tourner le POC de bout en bout.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4"/>
          <p:cNvSpPr/>
          <p:nvPr/>
        </p:nvSpPr>
        <p:spPr>
          <a:xfrm>
            <a:off x="640080" y="4114800"/>
            <a:ext cx="8229600" cy="360"/>
          </a:xfrm>
          <a:prstGeom prst="line">
            <a:avLst/>
          </a:prstGeom>
          <a:ln w="12700">
            <a:solidFill>
              <a:srgbClr val="2a3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5"/>
          <p:cNvSpPr/>
          <p:nvPr/>
        </p:nvSpPr>
        <p:spPr>
          <a:xfrm>
            <a:off x="640080" y="420624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97" strike="noStrike">
                <a:solidFill>
                  <a:srgbClr val="94c7e0"/>
                </a:solidFill>
                <a:latin typeface="Calibri"/>
                <a:ea typeface="Calibri"/>
              </a:rPr>
              <a:t>Slides 04 → 07        ·        Durée orale ~ 6 min        ·        Points clés  Stack · Génération · DQ · Slack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365760" y="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299" strike="noStrike">
                <a:solidFill>
                  <a:srgbClr val="ffffff"/>
                </a:solidFill>
                <a:latin typeface="Calibri"/>
                <a:ea typeface="Calibri"/>
              </a:rPr>
              <a:t>SPORT DATA SOLUTION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2"/>
          <p:cNvSpPr/>
          <p:nvPr/>
        </p:nvSpPr>
        <p:spPr>
          <a:xfrm>
            <a:off x="3200400" y="0"/>
            <a:ext cx="4114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199" strike="noStrike">
                <a:solidFill>
                  <a:srgbClr val="94c7e0"/>
                </a:solidFill>
                <a:latin typeface="Calibri"/>
                <a:ea typeface="Calibri"/>
              </a:rPr>
              <a:t>PARTIE II · ARCHITECTURE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7680960" y="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04 / 10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4"/>
          <p:cNvSpPr/>
          <p:nvPr/>
        </p:nvSpPr>
        <p:spPr>
          <a:xfrm>
            <a:off x="0" y="4974480"/>
            <a:ext cx="9143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Sport Data Solution · POC Data Engineering · Avril 2026 · v3.1.0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365760" y="43884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93b"/>
                </a:solidFill>
                <a:latin typeface="Calibri"/>
                <a:ea typeface="Calibri"/>
              </a:rPr>
              <a:t>Stack technique &amp; justification des choix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365760" y="89604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7 briques · 100 % open source / free tier · orchestré par Kestra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7360920" y="53028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7360920" y="53028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v3.1 · 0 € / mois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9"/>
          <p:cNvSpPr/>
          <p:nvPr/>
        </p:nvSpPr>
        <p:spPr>
          <a:xfrm>
            <a:off x="365760" y="1234440"/>
            <a:ext cx="8412120" cy="712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365760" y="1234440"/>
            <a:ext cx="72720" cy="7128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11"/>
          <p:cNvSpPr/>
          <p:nvPr/>
        </p:nvSpPr>
        <p:spPr>
          <a:xfrm>
            <a:off x="567000" y="1417320"/>
            <a:ext cx="347040" cy="34704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1" name="Image 0" descr="preencoded.png"/>
          <p:cNvPicPr/>
          <p:nvPr/>
        </p:nvPicPr>
        <p:blipFill>
          <a:blip r:embed="rId1"/>
          <a:stretch/>
        </p:blipFill>
        <p:spPr>
          <a:xfrm>
            <a:off x="631080" y="148140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82" name="Text 12"/>
          <p:cNvSpPr/>
          <p:nvPr/>
        </p:nvSpPr>
        <p:spPr>
          <a:xfrm>
            <a:off x="1024200" y="130752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  <a:ea typeface="Calibri"/>
              </a:rPr>
              <a:t>Orchestration — Kestra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13"/>
          <p:cNvSpPr/>
          <p:nvPr/>
        </p:nvSpPr>
        <p:spPr>
          <a:xfrm>
            <a:off x="1024200" y="158184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c4899"/>
                </a:solidFill>
                <a:latin typeface="Consolas"/>
                <a:ea typeface="Consolas"/>
              </a:rPr>
              <a:t>UI :8089 · flows YAML · Docker runner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14"/>
          <p:cNvSpPr/>
          <p:nvPr/>
        </p:nvSpPr>
        <p:spPr>
          <a:xfrm>
            <a:off x="4206240" y="1371600"/>
            <a:ext cx="360" cy="438840"/>
          </a:xfrm>
          <a:prstGeom prst="line">
            <a:avLst/>
          </a:prstGeom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15"/>
          <p:cNvSpPr/>
          <p:nvPr/>
        </p:nvSpPr>
        <p:spPr>
          <a:xfrm>
            <a:off x="4343400" y="1307520"/>
            <a:ext cx="429732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Paramètres métier exposés dans l'UI (taux_prime, seuil_activites, dq_threshold) — Juliette reprocesse l'historique sans toucher au code. Retries par tâche, schedule quotidien, DAG visuel, historique complet des runs.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6"/>
          <p:cNvSpPr/>
          <p:nvPr/>
        </p:nvSpPr>
        <p:spPr>
          <a:xfrm>
            <a:off x="365760" y="2030040"/>
            <a:ext cx="2779560" cy="1261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7"/>
          <p:cNvSpPr/>
          <p:nvPr/>
        </p:nvSpPr>
        <p:spPr>
          <a:xfrm>
            <a:off x="365760" y="2030040"/>
            <a:ext cx="72720" cy="1261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18"/>
          <p:cNvSpPr/>
          <p:nvPr/>
        </p:nvSpPr>
        <p:spPr>
          <a:xfrm>
            <a:off x="548640" y="2176200"/>
            <a:ext cx="310680" cy="310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9" name="Image 1" descr="preencoded.png"/>
          <p:cNvPicPr/>
          <p:nvPr/>
        </p:nvPicPr>
        <p:blipFill>
          <a:blip r:embed="rId2"/>
          <a:stretch/>
        </p:blipFill>
        <p:spPr>
          <a:xfrm>
            <a:off x="603360" y="22312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190" name="Text 19"/>
          <p:cNvSpPr/>
          <p:nvPr/>
        </p:nvSpPr>
        <p:spPr>
          <a:xfrm>
            <a:off x="914400" y="2121480"/>
            <a:ext cx="2139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Socle ETL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20"/>
          <p:cNvSpPr/>
          <p:nvPr/>
        </p:nvSpPr>
        <p:spPr>
          <a:xfrm>
            <a:off x="914400" y="233172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65a82"/>
                </a:solidFill>
                <a:latin typeface="Consolas"/>
                <a:ea typeface="Consolas"/>
              </a:rPr>
              <a:t>Python 3.12 · Pandas · openpyxl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1"/>
          <p:cNvSpPr/>
          <p:nvPr/>
        </p:nvSpPr>
        <p:spPr>
          <a:xfrm>
            <a:off x="548640" y="2578320"/>
            <a:ext cx="245952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2"/>
          <p:cNvSpPr/>
          <p:nvPr/>
        </p:nvSpPr>
        <p:spPr>
          <a:xfrm>
            <a:off x="548640" y="2624400"/>
            <a:ext cx="245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Traitement Excel + writes Postgres. Modules CLI-first (python -m pipeline.X) pour Kestra.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23"/>
          <p:cNvSpPr/>
          <p:nvPr/>
        </p:nvSpPr>
        <p:spPr>
          <a:xfrm>
            <a:off x="3218760" y="2030040"/>
            <a:ext cx="2779560" cy="1261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4"/>
          <p:cNvSpPr/>
          <p:nvPr/>
        </p:nvSpPr>
        <p:spPr>
          <a:xfrm>
            <a:off x="3218760" y="2030040"/>
            <a:ext cx="72720" cy="12614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25"/>
          <p:cNvSpPr/>
          <p:nvPr/>
        </p:nvSpPr>
        <p:spPr>
          <a:xfrm>
            <a:off x="3401640" y="2176200"/>
            <a:ext cx="310680" cy="310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7" name="Image 2" descr="preencoded.png"/>
          <p:cNvPicPr/>
          <p:nvPr/>
        </p:nvPicPr>
        <p:blipFill>
          <a:blip r:embed="rId3"/>
          <a:stretch/>
        </p:blipFill>
        <p:spPr>
          <a:xfrm>
            <a:off x="3456360" y="22312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198" name="Text 26"/>
          <p:cNvSpPr/>
          <p:nvPr/>
        </p:nvSpPr>
        <p:spPr>
          <a:xfrm>
            <a:off x="3767400" y="2121480"/>
            <a:ext cx="2139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Base de données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27"/>
          <p:cNvSpPr/>
          <p:nvPr/>
        </p:nvSpPr>
        <p:spPr>
          <a:xfrm>
            <a:off x="3767400" y="233172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1c7293"/>
                </a:solidFill>
                <a:latin typeface="Consolas"/>
                <a:ea typeface="Consolas"/>
              </a:rPr>
              <a:t>PostgreSQL 16 · Docker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28"/>
          <p:cNvSpPr/>
          <p:nvPr/>
        </p:nvSpPr>
        <p:spPr>
          <a:xfrm>
            <a:off x="3401280" y="2578320"/>
            <a:ext cx="24598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29"/>
          <p:cNvSpPr/>
          <p:nvPr/>
        </p:nvSpPr>
        <p:spPr>
          <a:xfrm>
            <a:off x="3401640" y="2624400"/>
            <a:ext cx="245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3 schémas RGPD, 3 rôles, scram-sha-256, vues pseudonymisées SHA-256. Source de vérité.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30"/>
          <p:cNvSpPr/>
          <p:nvPr/>
        </p:nvSpPr>
        <p:spPr>
          <a:xfrm>
            <a:off x="6071760" y="2030040"/>
            <a:ext cx="2779560" cy="1261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31"/>
          <p:cNvSpPr/>
          <p:nvPr/>
        </p:nvSpPr>
        <p:spPr>
          <a:xfrm>
            <a:off x="6071760" y="2030040"/>
            <a:ext cx="72720" cy="1261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32"/>
          <p:cNvSpPr/>
          <p:nvPr/>
        </p:nvSpPr>
        <p:spPr>
          <a:xfrm>
            <a:off x="6254640" y="2176200"/>
            <a:ext cx="310680" cy="3106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5" name="Image 3" descr="preencoded.png"/>
          <p:cNvPicPr/>
          <p:nvPr/>
        </p:nvPicPr>
        <p:blipFill>
          <a:blip r:embed="rId4"/>
          <a:stretch/>
        </p:blipFill>
        <p:spPr>
          <a:xfrm>
            <a:off x="6309360" y="22312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06" name="Text 33"/>
          <p:cNvSpPr/>
          <p:nvPr/>
        </p:nvSpPr>
        <p:spPr>
          <a:xfrm>
            <a:off x="6620400" y="2121480"/>
            <a:ext cx="2139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Validation géo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34"/>
          <p:cNvSpPr/>
          <p:nvPr/>
        </p:nvSpPr>
        <p:spPr>
          <a:xfrm>
            <a:off x="6620400" y="233172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22c55e"/>
                </a:solidFill>
                <a:latin typeface="Consolas"/>
                <a:ea typeface="Consolas"/>
              </a:rPr>
              <a:t>Google Maps API + Nominatim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35"/>
          <p:cNvSpPr/>
          <p:nvPr/>
        </p:nvSpPr>
        <p:spPr>
          <a:xfrm>
            <a:off x="6254280" y="2578320"/>
            <a:ext cx="24598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36"/>
          <p:cNvSpPr/>
          <p:nvPr/>
        </p:nvSpPr>
        <p:spPr>
          <a:xfrm>
            <a:off x="6254640" y="2624400"/>
            <a:ext cx="245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Géocodeur Google Maps primaire, fallback OSM si pas de clé. Seuils 15 / 25 km.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37"/>
          <p:cNvSpPr/>
          <p:nvPr/>
        </p:nvSpPr>
        <p:spPr>
          <a:xfrm>
            <a:off x="365760" y="3364920"/>
            <a:ext cx="2779560" cy="1261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38"/>
          <p:cNvSpPr/>
          <p:nvPr/>
        </p:nvSpPr>
        <p:spPr>
          <a:xfrm>
            <a:off x="365760" y="3364920"/>
            <a:ext cx="72720" cy="126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39"/>
          <p:cNvSpPr/>
          <p:nvPr/>
        </p:nvSpPr>
        <p:spPr>
          <a:xfrm>
            <a:off x="548640" y="3511440"/>
            <a:ext cx="310680" cy="3106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3" name="Image 4" descr="preencoded.png"/>
          <p:cNvPicPr/>
          <p:nvPr/>
        </p:nvPicPr>
        <p:blipFill>
          <a:blip r:embed="rId5"/>
          <a:stretch/>
        </p:blipFill>
        <p:spPr>
          <a:xfrm>
            <a:off x="603360" y="35661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14" name="Text 40"/>
          <p:cNvSpPr/>
          <p:nvPr/>
        </p:nvSpPr>
        <p:spPr>
          <a:xfrm>
            <a:off x="914400" y="3456360"/>
            <a:ext cx="2139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Qualité &amp; intégrité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41"/>
          <p:cNvSpPr/>
          <p:nvPr/>
        </p:nvSpPr>
        <p:spPr>
          <a:xfrm>
            <a:off x="914400" y="366660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8b5cf6"/>
                </a:solidFill>
                <a:latin typeface="Consolas"/>
                <a:ea typeface="Consolas"/>
              </a:rPr>
              <a:t>Great Expectations · hashlib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42"/>
          <p:cNvSpPr/>
          <p:nvPr/>
        </p:nvSpPr>
        <p:spPr>
          <a:xfrm>
            <a:off x="548640" y="3913560"/>
            <a:ext cx="245952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43"/>
          <p:cNvSpPr/>
          <p:nvPr/>
        </p:nvSpPr>
        <p:spPr>
          <a:xfrm>
            <a:off x="548640" y="3959280"/>
            <a:ext cx="245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3 suites GE + scoring métier /100 bloquant à 80. MD5 row_hash, SHA-256 pseudonymisation.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44"/>
          <p:cNvSpPr/>
          <p:nvPr/>
        </p:nvSpPr>
        <p:spPr>
          <a:xfrm>
            <a:off x="3218760" y="3364920"/>
            <a:ext cx="2779560" cy="1261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45"/>
          <p:cNvSpPr/>
          <p:nvPr/>
        </p:nvSpPr>
        <p:spPr>
          <a:xfrm>
            <a:off x="3218760" y="3364920"/>
            <a:ext cx="72720" cy="126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46"/>
          <p:cNvSpPr/>
          <p:nvPr/>
        </p:nvSpPr>
        <p:spPr>
          <a:xfrm>
            <a:off x="3401640" y="3511440"/>
            <a:ext cx="310680" cy="3106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1" name="Image 5" descr="preencoded.png"/>
          <p:cNvPicPr/>
          <p:nvPr/>
        </p:nvPicPr>
        <p:blipFill>
          <a:blip r:embed="rId6"/>
          <a:stretch/>
        </p:blipFill>
        <p:spPr>
          <a:xfrm>
            <a:off x="3456360" y="35661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22" name="Text 47"/>
          <p:cNvSpPr/>
          <p:nvPr/>
        </p:nvSpPr>
        <p:spPr>
          <a:xfrm>
            <a:off x="3767400" y="3456360"/>
            <a:ext cx="2139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Notifications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48"/>
          <p:cNvSpPr/>
          <p:nvPr/>
        </p:nvSpPr>
        <p:spPr>
          <a:xfrm>
            <a:off x="3767400" y="366660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59e0b"/>
                </a:solidFill>
                <a:latin typeface="Consolas"/>
                <a:ea typeface="Consolas"/>
              </a:rPr>
              <a:t>Slack Webhook · Block Kit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49"/>
          <p:cNvSpPr/>
          <p:nvPr/>
        </p:nvSpPr>
        <p:spPr>
          <a:xfrm>
            <a:off x="3401280" y="3913560"/>
            <a:ext cx="24598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50"/>
          <p:cNvSpPr/>
          <p:nvPr/>
        </p:nvSpPr>
        <p:spPr>
          <a:xfrm>
            <a:off x="3401640" y="3959280"/>
            <a:ext cx="245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Individuel par activité (émoji par sport) + récap par run. Mode simulation si vide.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51"/>
          <p:cNvSpPr/>
          <p:nvPr/>
        </p:nvSpPr>
        <p:spPr>
          <a:xfrm>
            <a:off x="6071760" y="3364920"/>
            <a:ext cx="2779560" cy="1261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52"/>
          <p:cNvSpPr/>
          <p:nvPr/>
        </p:nvSpPr>
        <p:spPr>
          <a:xfrm>
            <a:off x="6071760" y="3364920"/>
            <a:ext cx="72720" cy="1261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Shape 53"/>
          <p:cNvSpPr/>
          <p:nvPr/>
        </p:nvSpPr>
        <p:spPr>
          <a:xfrm>
            <a:off x="6254640" y="3511440"/>
            <a:ext cx="310680" cy="3106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9" name="Image 6" descr="preencoded.png"/>
          <p:cNvPicPr/>
          <p:nvPr/>
        </p:nvPicPr>
        <p:blipFill>
          <a:blip r:embed="rId7"/>
          <a:stretch/>
        </p:blipFill>
        <p:spPr>
          <a:xfrm>
            <a:off x="6309360" y="35661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30" name="Text 54"/>
          <p:cNvSpPr/>
          <p:nvPr/>
        </p:nvSpPr>
        <p:spPr>
          <a:xfrm>
            <a:off x="6620400" y="3456360"/>
            <a:ext cx="2139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Restitution &amp; Monitoring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55"/>
          <p:cNvSpPr/>
          <p:nvPr/>
        </p:nvSpPr>
        <p:spPr>
          <a:xfrm>
            <a:off x="6620400" y="366660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ef4444"/>
                </a:solidFill>
                <a:latin typeface="Consolas"/>
                <a:ea typeface="Consolas"/>
              </a:rPr>
              <a:t>PowerBI · JSON + Kestra UI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56"/>
          <p:cNvSpPr/>
          <p:nvPr/>
        </p:nvSpPr>
        <p:spPr>
          <a:xfrm>
            <a:off x="6254280" y="3913560"/>
            <a:ext cx="2459880" cy="360"/>
          </a:xfrm>
          <a:prstGeom prst="line">
            <a:avLst/>
          </a:prstGeom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57"/>
          <p:cNvSpPr/>
          <p:nvPr/>
        </p:nvSpPr>
        <p:spPr>
          <a:xfrm>
            <a:off x="6254640" y="3959280"/>
            <a:ext cx="245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Excel 8 feuilles (refresh 1-clic) + monitoring.pipeline_runs + timeline Kestra UI.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58"/>
          <p:cNvSpPr/>
          <p:nvPr/>
        </p:nvSpPr>
        <p:spPr>
          <a:xfrm>
            <a:off x="0" y="4617720"/>
            <a:ext cx="9143640" cy="292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59"/>
          <p:cNvSpPr/>
          <p:nvPr/>
        </p:nvSpPr>
        <p:spPr>
          <a:xfrm>
            <a:off x="0" y="4617720"/>
            <a:ext cx="3047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€  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Zéro coût — 100 % open source / free tier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60"/>
          <p:cNvSpPr/>
          <p:nvPr/>
        </p:nvSpPr>
        <p:spPr>
          <a:xfrm>
            <a:off x="3047760" y="4690800"/>
            <a:ext cx="360" cy="146160"/>
          </a:xfrm>
          <a:prstGeom prst="line">
            <a:avLst/>
          </a:prstGeom>
          <a:ln w="635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61"/>
          <p:cNvSpPr/>
          <p:nvPr/>
        </p:nvSpPr>
        <p:spPr>
          <a:xfrm>
            <a:off x="3048120" y="4617720"/>
            <a:ext cx="3047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⚙  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Zéro infra — docker compose up → ça tourne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62"/>
          <p:cNvSpPr/>
          <p:nvPr/>
        </p:nvSpPr>
        <p:spPr>
          <a:xfrm>
            <a:off x="6095880" y="4690800"/>
            <a:ext cx="360" cy="146160"/>
          </a:xfrm>
          <a:prstGeom prst="line">
            <a:avLst/>
          </a:prstGeom>
          <a:ln w="635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63"/>
          <p:cNvSpPr/>
          <p:nvPr/>
        </p:nvSpPr>
        <p:spPr>
          <a:xfrm>
            <a:off x="6095880" y="4617720"/>
            <a:ext cx="3047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↻  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Reprocessable — paramétrable depuis Kestra UI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365760" y="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299" strike="noStrike">
                <a:solidFill>
                  <a:srgbClr val="ffffff"/>
                </a:solidFill>
                <a:latin typeface="Calibri"/>
                <a:ea typeface="Calibri"/>
              </a:rPr>
              <a:t>SPORT DATA SOLUTION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"/>
          <p:cNvSpPr/>
          <p:nvPr/>
        </p:nvSpPr>
        <p:spPr>
          <a:xfrm>
            <a:off x="3200400" y="0"/>
            <a:ext cx="4114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199" strike="noStrike">
                <a:solidFill>
                  <a:srgbClr val="94c7e0"/>
                </a:solidFill>
                <a:latin typeface="Calibri"/>
                <a:ea typeface="Calibri"/>
              </a:rPr>
              <a:t>PARTIE II · DONNÉES SIMULÉES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7680960" y="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05 / 10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4"/>
          <p:cNvSpPr/>
          <p:nvPr/>
        </p:nvSpPr>
        <p:spPr>
          <a:xfrm>
            <a:off x="0" y="4974480"/>
            <a:ext cx="9143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Sport Data Solution · POC Data Engineering · Avril 2026 · v3.1.0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5"/>
          <p:cNvSpPr/>
          <p:nvPr/>
        </p:nvSpPr>
        <p:spPr>
          <a:xfrm>
            <a:off x="365760" y="43884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93b"/>
                </a:solidFill>
                <a:latin typeface="Calibri"/>
                <a:ea typeface="Calibri"/>
              </a:rPr>
              <a:t>Générateur d'activités &amp; validation géographique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6"/>
          <p:cNvSpPr/>
          <p:nvPr/>
        </p:nvSpPr>
        <p:spPr>
          <a:xfrm>
            <a:off x="365760" y="89604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À défaut d'API Strava réelle, un simulateur reproductible filtré par la géographie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7"/>
          <p:cNvSpPr/>
          <p:nvPr/>
        </p:nvSpPr>
        <p:spPr>
          <a:xfrm>
            <a:off x="365760" y="1280160"/>
            <a:ext cx="4205880" cy="333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8"/>
          <p:cNvSpPr/>
          <p:nvPr/>
        </p:nvSpPr>
        <p:spPr>
          <a:xfrm>
            <a:off x="365760" y="1280160"/>
            <a:ext cx="4205880" cy="4111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9"/>
          <p:cNvSpPr/>
          <p:nvPr/>
        </p:nvSpPr>
        <p:spPr>
          <a:xfrm>
            <a:off x="548640" y="1280160"/>
            <a:ext cx="2834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Générateur Strava-like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10"/>
          <p:cNvSpPr/>
          <p:nvPr/>
        </p:nvSpPr>
        <p:spPr>
          <a:xfrm>
            <a:off x="3383280" y="1280160"/>
            <a:ext cx="1005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seed = 42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 11"/>
          <p:cNvSpPr/>
          <p:nvPr/>
        </p:nvSpPr>
        <p:spPr>
          <a:xfrm>
            <a:off x="548640" y="1828800"/>
            <a:ext cx="1919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c7293"/>
                </a:solidFill>
                <a:latin typeface="Calibri"/>
                <a:ea typeface="Calibri"/>
              </a:rPr>
              <a:t>2 040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 12"/>
          <p:cNvSpPr/>
          <p:nvPr/>
        </p:nvSpPr>
        <p:spPr>
          <a:xfrm>
            <a:off x="548640" y="2194560"/>
            <a:ext cx="1919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activités générées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13"/>
          <p:cNvSpPr/>
          <p:nvPr/>
        </p:nvSpPr>
        <p:spPr>
          <a:xfrm>
            <a:off x="2560320" y="1828800"/>
            <a:ext cx="1919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c7293"/>
                </a:solidFill>
                <a:latin typeface="Calibri"/>
                <a:ea typeface="Calibri"/>
              </a:rPr>
              <a:t>95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14"/>
          <p:cNvSpPr/>
          <p:nvPr/>
        </p:nvSpPr>
        <p:spPr>
          <a:xfrm>
            <a:off x="2560320" y="2194560"/>
            <a:ext cx="1919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salariés sportifs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 15"/>
          <p:cNvSpPr/>
          <p:nvPr/>
        </p:nvSpPr>
        <p:spPr>
          <a:xfrm>
            <a:off x="548640" y="2395800"/>
            <a:ext cx="3840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199" strike="noStrike">
                <a:solidFill>
                  <a:srgbClr val="64748b"/>
                </a:solidFill>
                <a:latin typeface="Calibri"/>
                <a:ea typeface="Calibri"/>
              </a:rPr>
              <a:t>15 DISCIPLINES SIMULÉES SUR 12 MOIS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6"/>
          <p:cNvSpPr/>
          <p:nvPr/>
        </p:nvSpPr>
        <p:spPr>
          <a:xfrm>
            <a:off x="562320" y="2633400"/>
            <a:ext cx="292320" cy="292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7" name="Image 0" descr="preencoded.png"/>
          <p:cNvPicPr/>
          <p:nvPr/>
        </p:nvPicPr>
        <p:blipFill>
          <a:blip r:embed="rId1"/>
          <a:stretch/>
        </p:blipFill>
        <p:spPr>
          <a:xfrm>
            <a:off x="61740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58" name="Shape 17"/>
          <p:cNvSpPr/>
          <p:nvPr/>
        </p:nvSpPr>
        <p:spPr>
          <a:xfrm>
            <a:off x="882360" y="2633400"/>
            <a:ext cx="292320" cy="29232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9" name="Image 1" descr="preencoded.png"/>
          <p:cNvPicPr/>
          <p:nvPr/>
        </p:nvPicPr>
        <p:blipFill>
          <a:blip r:embed="rId2"/>
          <a:stretch/>
        </p:blipFill>
        <p:spPr>
          <a:xfrm>
            <a:off x="93744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60" name="Shape 18"/>
          <p:cNvSpPr/>
          <p:nvPr/>
        </p:nvSpPr>
        <p:spPr>
          <a:xfrm>
            <a:off x="1202400" y="2633400"/>
            <a:ext cx="292320" cy="2923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1" name="Image 2" descr="preencoded.png"/>
          <p:cNvPicPr/>
          <p:nvPr/>
        </p:nvPicPr>
        <p:blipFill>
          <a:blip r:embed="rId3"/>
          <a:stretch/>
        </p:blipFill>
        <p:spPr>
          <a:xfrm>
            <a:off x="125748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62" name="Shape 19"/>
          <p:cNvSpPr/>
          <p:nvPr/>
        </p:nvSpPr>
        <p:spPr>
          <a:xfrm>
            <a:off x="1522440" y="2633400"/>
            <a:ext cx="292320" cy="2923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3" name="Image 3" descr="preencoded.png"/>
          <p:cNvPicPr/>
          <p:nvPr/>
        </p:nvPicPr>
        <p:blipFill>
          <a:blip r:embed="rId4"/>
          <a:stretch/>
        </p:blipFill>
        <p:spPr>
          <a:xfrm>
            <a:off x="157752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64" name="Shape 20"/>
          <p:cNvSpPr/>
          <p:nvPr/>
        </p:nvSpPr>
        <p:spPr>
          <a:xfrm>
            <a:off x="1842480" y="2633400"/>
            <a:ext cx="292320" cy="2923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5" name="Image 4" descr="preencoded.png"/>
          <p:cNvPicPr/>
          <p:nvPr/>
        </p:nvPicPr>
        <p:blipFill>
          <a:blip r:embed="rId5"/>
          <a:stretch/>
        </p:blipFill>
        <p:spPr>
          <a:xfrm>
            <a:off x="189756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66" name="Shape 21"/>
          <p:cNvSpPr/>
          <p:nvPr/>
        </p:nvSpPr>
        <p:spPr>
          <a:xfrm>
            <a:off x="2162520" y="2633400"/>
            <a:ext cx="292320" cy="292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7" name="Image 5" descr="preencoded.png"/>
          <p:cNvPicPr/>
          <p:nvPr/>
        </p:nvPicPr>
        <p:blipFill>
          <a:blip r:embed="rId6"/>
          <a:stretch/>
        </p:blipFill>
        <p:spPr>
          <a:xfrm>
            <a:off x="221760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68" name="Shape 22"/>
          <p:cNvSpPr/>
          <p:nvPr/>
        </p:nvSpPr>
        <p:spPr>
          <a:xfrm>
            <a:off x="2482560" y="2633400"/>
            <a:ext cx="292320" cy="292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9" name="Image 6" descr="preencoded.png"/>
          <p:cNvPicPr/>
          <p:nvPr/>
        </p:nvPicPr>
        <p:blipFill>
          <a:blip r:embed="rId7"/>
          <a:stretch/>
        </p:blipFill>
        <p:spPr>
          <a:xfrm>
            <a:off x="253764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70" name="Shape 23"/>
          <p:cNvSpPr/>
          <p:nvPr/>
        </p:nvSpPr>
        <p:spPr>
          <a:xfrm>
            <a:off x="2802600" y="2633400"/>
            <a:ext cx="292320" cy="29232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1" name="Image 7" descr="preencoded.png"/>
          <p:cNvPicPr/>
          <p:nvPr/>
        </p:nvPicPr>
        <p:blipFill>
          <a:blip r:embed="rId8"/>
          <a:stretch/>
        </p:blipFill>
        <p:spPr>
          <a:xfrm>
            <a:off x="285768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72" name="Shape 24"/>
          <p:cNvSpPr/>
          <p:nvPr/>
        </p:nvSpPr>
        <p:spPr>
          <a:xfrm>
            <a:off x="3122640" y="2633400"/>
            <a:ext cx="292320" cy="2923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3" name="Image 8" descr="preencoded.png"/>
          <p:cNvPicPr/>
          <p:nvPr/>
        </p:nvPicPr>
        <p:blipFill>
          <a:blip r:embed="rId9"/>
          <a:stretch/>
        </p:blipFill>
        <p:spPr>
          <a:xfrm>
            <a:off x="317772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74" name="Shape 25"/>
          <p:cNvSpPr/>
          <p:nvPr/>
        </p:nvSpPr>
        <p:spPr>
          <a:xfrm>
            <a:off x="3442680" y="2633400"/>
            <a:ext cx="292320" cy="2923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5" name="Image 9" descr="preencoded.png"/>
          <p:cNvPicPr/>
          <p:nvPr/>
        </p:nvPicPr>
        <p:blipFill>
          <a:blip r:embed="rId10"/>
          <a:stretch/>
        </p:blipFill>
        <p:spPr>
          <a:xfrm>
            <a:off x="349776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76" name="Shape 26"/>
          <p:cNvSpPr/>
          <p:nvPr/>
        </p:nvSpPr>
        <p:spPr>
          <a:xfrm>
            <a:off x="3762720" y="2633400"/>
            <a:ext cx="292320" cy="2923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7" name="Image 10" descr="preencoded.png"/>
          <p:cNvPicPr/>
          <p:nvPr/>
        </p:nvPicPr>
        <p:blipFill>
          <a:blip r:embed="rId11"/>
          <a:stretch/>
        </p:blipFill>
        <p:spPr>
          <a:xfrm>
            <a:off x="381780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78" name="Shape 27"/>
          <p:cNvSpPr/>
          <p:nvPr/>
        </p:nvSpPr>
        <p:spPr>
          <a:xfrm>
            <a:off x="4082760" y="2633400"/>
            <a:ext cx="292320" cy="292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9" name="Image 11" descr="preencoded.png"/>
          <p:cNvPicPr/>
          <p:nvPr/>
        </p:nvPicPr>
        <p:blipFill>
          <a:blip r:embed="rId12"/>
          <a:stretch/>
        </p:blipFill>
        <p:spPr>
          <a:xfrm>
            <a:off x="4137840" y="26884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280" name="Text 28"/>
          <p:cNvSpPr/>
          <p:nvPr/>
        </p:nvSpPr>
        <p:spPr>
          <a:xfrm>
            <a:off x="548640" y="3108960"/>
            <a:ext cx="3840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199" strike="noStrike">
                <a:solidFill>
                  <a:srgbClr val="64748b"/>
                </a:solidFill>
                <a:latin typeface="Calibri"/>
                <a:ea typeface="Calibri"/>
              </a:rPr>
              <a:t>EXEMPLE MESSAGE SLACK GÉNÉRÉ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29"/>
          <p:cNvSpPr/>
          <p:nvPr/>
        </p:nvSpPr>
        <p:spPr>
          <a:xfrm>
            <a:off x="548640" y="3337560"/>
            <a:ext cx="3840120" cy="1188360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30"/>
          <p:cNvSpPr/>
          <p:nvPr/>
        </p:nvSpPr>
        <p:spPr>
          <a:xfrm>
            <a:off x="685800" y="3474720"/>
            <a:ext cx="365400" cy="3654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31"/>
          <p:cNvSpPr/>
          <p:nvPr/>
        </p:nvSpPr>
        <p:spPr>
          <a:xfrm>
            <a:off x="685800" y="34747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32"/>
          <p:cNvSpPr/>
          <p:nvPr/>
        </p:nvSpPr>
        <p:spPr>
          <a:xfrm>
            <a:off x="1143000" y="340164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Sport Data Bot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33"/>
          <p:cNvSpPr/>
          <p:nvPr/>
        </p:nvSpPr>
        <p:spPr>
          <a:xfrm>
            <a:off x="1143000" y="356616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14 h 32 · #sport-recompenses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34"/>
          <p:cNvSpPr/>
          <p:nvPr/>
        </p:nvSpPr>
        <p:spPr>
          <a:xfrm>
            <a:off x="685800" y="3886200"/>
            <a:ext cx="3565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Bravo Juliette Mendes ! Tu viens de courir 10,8 km en 46 min. Quelle énergie ! 🏃 🔥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35"/>
          <p:cNvSpPr/>
          <p:nvPr/>
        </p:nvSpPr>
        <p:spPr>
          <a:xfrm>
            <a:off x="4709160" y="1280160"/>
            <a:ext cx="4068720" cy="333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36"/>
          <p:cNvSpPr/>
          <p:nvPr/>
        </p:nvSpPr>
        <p:spPr>
          <a:xfrm>
            <a:off x="4709160" y="1280160"/>
            <a:ext cx="4068720" cy="4111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37"/>
          <p:cNvSpPr/>
          <p:nvPr/>
        </p:nvSpPr>
        <p:spPr>
          <a:xfrm>
            <a:off x="4892040" y="1280160"/>
            <a:ext cx="2514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Validation géographique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38"/>
          <p:cNvSpPr/>
          <p:nvPr/>
        </p:nvSpPr>
        <p:spPr>
          <a:xfrm>
            <a:off x="7223760" y="12801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Google Maps + OSM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39"/>
          <p:cNvSpPr/>
          <p:nvPr/>
        </p:nvSpPr>
        <p:spPr>
          <a:xfrm>
            <a:off x="4892040" y="1783080"/>
            <a:ext cx="3702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199" strike="noStrike">
                <a:solidFill>
                  <a:srgbClr val="64748b"/>
                </a:solidFill>
                <a:latin typeface="Calibri"/>
                <a:ea typeface="Calibri"/>
              </a:rPr>
              <a:t>ADRESSE ENTREPRISE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40"/>
          <p:cNvSpPr/>
          <p:nvPr/>
        </p:nvSpPr>
        <p:spPr>
          <a:xfrm>
            <a:off x="4892040" y="1993320"/>
            <a:ext cx="3702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1362 Av. des Platanes · 34970 Lattes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41"/>
          <p:cNvSpPr/>
          <p:nvPr/>
        </p:nvSpPr>
        <p:spPr>
          <a:xfrm>
            <a:off x="4892040" y="2331720"/>
            <a:ext cx="1828440" cy="685440"/>
          </a:xfrm>
          <a:prstGeom prst="rect">
            <a:avLst/>
          </a:prstGeom>
          <a:solidFill>
            <a:srgbClr val="ecfdf5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42"/>
          <p:cNvSpPr/>
          <p:nvPr/>
        </p:nvSpPr>
        <p:spPr>
          <a:xfrm>
            <a:off x="4983480" y="2395800"/>
            <a:ext cx="1645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Marche / Running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43"/>
          <p:cNvSpPr/>
          <p:nvPr/>
        </p:nvSpPr>
        <p:spPr>
          <a:xfrm>
            <a:off x="4983480" y="2597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22c55e"/>
                </a:solidFill>
                <a:latin typeface="Calibri"/>
                <a:ea typeface="Calibri"/>
              </a:rPr>
              <a:t>≤ </a:t>
            </a:r>
            <a:r>
              <a:rPr b="1" lang="en-US" sz="2000" spc="-1" strike="noStrike">
                <a:solidFill>
                  <a:srgbClr val="22c55e"/>
                </a:solidFill>
                <a:latin typeface="Calibri"/>
                <a:ea typeface="Calibri"/>
              </a:rPr>
              <a:t>15 km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44"/>
          <p:cNvSpPr/>
          <p:nvPr/>
        </p:nvSpPr>
        <p:spPr>
          <a:xfrm>
            <a:off x="6812280" y="2331720"/>
            <a:ext cx="1782720" cy="685440"/>
          </a:xfrm>
          <a:prstGeom prst="rect">
            <a:avLst/>
          </a:prstGeom>
          <a:solidFill>
            <a:srgbClr val="ecfdf5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45"/>
          <p:cNvSpPr/>
          <p:nvPr/>
        </p:nvSpPr>
        <p:spPr>
          <a:xfrm>
            <a:off x="6903720" y="2395800"/>
            <a:ext cx="1645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Vélo / Trottinette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 46"/>
          <p:cNvSpPr/>
          <p:nvPr/>
        </p:nvSpPr>
        <p:spPr>
          <a:xfrm>
            <a:off x="6903720" y="2597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22c55e"/>
                </a:solidFill>
                <a:latin typeface="Calibri"/>
                <a:ea typeface="Calibri"/>
              </a:rPr>
              <a:t>≤ </a:t>
            </a:r>
            <a:r>
              <a:rPr b="1" lang="en-US" sz="2000" spc="-1" strike="noStrike">
                <a:solidFill>
                  <a:srgbClr val="22c55e"/>
                </a:solidFill>
                <a:latin typeface="Calibri"/>
                <a:ea typeface="Calibri"/>
              </a:rPr>
              <a:t>25 km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47"/>
          <p:cNvSpPr/>
          <p:nvPr/>
        </p:nvSpPr>
        <p:spPr>
          <a:xfrm>
            <a:off x="4892040" y="32004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2c55e"/>
                </a:solidFill>
                <a:latin typeface="Calibri"/>
                <a:ea typeface="Calibri"/>
              </a:rPr>
              <a:t>69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48"/>
          <p:cNvSpPr/>
          <p:nvPr/>
        </p:nvSpPr>
        <p:spPr>
          <a:xfrm>
            <a:off x="4892040" y="352044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éligibles bien-être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49"/>
          <p:cNvSpPr/>
          <p:nvPr/>
        </p:nvSpPr>
        <p:spPr>
          <a:xfrm>
            <a:off x="6812280" y="32004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2c55e"/>
                </a:solidFill>
                <a:latin typeface="Calibri"/>
                <a:ea typeface="Calibri"/>
              </a:rPr>
              <a:t>26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50"/>
          <p:cNvSpPr/>
          <p:nvPr/>
        </p:nvSpPr>
        <p:spPr>
          <a:xfrm>
            <a:off x="6812280" y="352044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exclus (&lt; 15 activités)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51"/>
          <p:cNvSpPr/>
          <p:nvPr/>
        </p:nvSpPr>
        <p:spPr>
          <a:xfrm>
            <a:off x="4892040" y="3794760"/>
            <a:ext cx="3702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199" strike="noStrike">
                <a:solidFill>
                  <a:srgbClr val="64748b"/>
                </a:solidFill>
                <a:latin typeface="Calibri"/>
                <a:ea typeface="Calibri"/>
              </a:rPr>
              <a:t>STRATÉGIE DE RÉSILIENCE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52"/>
          <p:cNvSpPr/>
          <p:nvPr/>
        </p:nvSpPr>
        <p:spPr>
          <a:xfrm>
            <a:off x="4892040" y="4005000"/>
            <a:ext cx="3702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Google Maps primaire → fallback Nominatim (OSM) auto si clé absente → cache JSON local évite re-géocodage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53"/>
          <p:cNvSpPr/>
          <p:nvPr/>
        </p:nvSpPr>
        <p:spPr>
          <a:xfrm>
            <a:off x="365760" y="4709160"/>
            <a:ext cx="8412120" cy="20088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54"/>
          <p:cNvSpPr/>
          <p:nvPr/>
        </p:nvSpPr>
        <p:spPr>
          <a:xfrm>
            <a:off x="365760" y="470916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La distinction entre 'sport déclaré' et 'sport réellement pratiqué' (≥ 15 activités) est l'angle fort du POC face au jury.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 1"/>
          <p:cNvSpPr/>
          <p:nvPr/>
        </p:nvSpPr>
        <p:spPr>
          <a:xfrm>
            <a:off x="365760" y="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299" strike="noStrike">
                <a:solidFill>
                  <a:srgbClr val="ffffff"/>
                </a:solidFill>
                <a:latin typeface="Calibri"/>
                <a:ea typeface="Calibri"/>
              </a:rPr>
              <a:t>SPORT DATA SOLUTION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2"/>
          <p:cNvSpPr/>
          <p:nvPr/>
        </p:nvSpPr>
        <p:spPr>
          <a:xfrm>
            <a:off x="3200400" y="0"/>
            <a:ext cx="4114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199" strike="noStrike">
                <a:solidFill>
                  <a:srgbClr val="94c7e0"/>
                </a:solidFill>
                <a:latin typeface="Calibri"/>
                <a:ea typeface="Calibri"/>
              </a:rPr>
              <a:t>PARTIE II · QUALITÉ DES DONNÉES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7680960" y="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06 / 10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4"/>
          <p:cNvSpPr/>
          <p:nvPr/>
        </p:nvSpPr>
        <p:spPr>
          <a:xfrm>
            <a:off x="0" y="4974480"/>
            <a:ext cx="9143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Sport Data Solution · POC Data Engineering · Avril 2026 · v3.1.0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5"/>
          <p:cNvSpPr/>
          <p:nvPr/>
        </p:nvSpPr>
        <p:spPr>
          <a:xfrm>
            <a:off x="365760" y="43884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93b"/>
                </a:solidFill>
                <a:latin typeface="Calibri"/>
                <a:ea typeface="Calibri"/>
              </a:rPr>
              <a:t>Data Quality — 7 contrôles automatiques bloquants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6"/>
          <p:cNvSpPr/>
          <p:nvPr/>
        </p:nvSpPr>
        <p:spPr>
          <a:xfrm>
            <a:off x="365760" y="89604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Chaque run exécute la batterie de contrôles avant transformation · pas de données sales dans PowerBI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7"/>
          <p:cNvSpPr/>
          <p:nvPr/>
        </p:nvSpPr>
        <p:spPr>
          <a:xfrm>
            <a:off x="365760" y="1280160"/>
            <a:ext cx="2011320" cy="21942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8"/>
          <p:cNvSpPr/>
          <p:nvPr/>
        </p:nvSpPr>
        <p:spPr>
          <a:xfrm>
            <a:off x="365760" y="137160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ffffff"/>
                </a:solidFill>
                <a:latin typeface="Calibri"/>
                <a:ea typeface="Calibri"/>
              </a:rPr>
              <a:t>DQ SCORE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9"/>
          <p:cNvSpPr/>
          <p:nvPr/>
        </p:nvSpPr>
        <p:spPr>
          <a:xfrm>
            <a:off x="365760" y="1691640"/>
            <a:ext cx="2011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0" spc="-1" strike="noStrike">
                <a:solidFill>
                  <a:srgbClr val="ffffff"/>
                </a:solidFill>
                <a:latin typeface="Calibri"/>
                <a:ea typeface="Calibri"/>
              </a:rPr>
              <a:t>100</a:t>
            </a:r>
            <a:endParaRPr b="0" lang="fr-FR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10"/>
          <p:cNvSpPr/>
          <p:nvPr/>
        </p:nvSpPr>
        <p:spPr>
          <a:xfrm>
            <a:off x="365760" y="29260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/ 100   ✓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11"/>
          <p:cNvSpPr/>
          <p:nvPr/>
        </p:nvSpPr>
        <p:spPr>
          <a:xfrm>
            <a:off x="2514600" y="1280160"/>
            <a:ext cx="6263280" cy="301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12"/>
          <p:cNvSpPr/>
          <p:nvPr/>
        </p:nvSpPr>
        <p:spPr>
          <a:xfrm>
            <a:off x="2606040" y="1280160"/>
            <a:ext cx="4111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64748b"/>
                </a:solidFill>
                <a:latin typeface="Consolas"/>
                <a:ea typeface="Consolas"/>
              </a:rPr>
              <a:t>01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 13"/>
          <p:cNvSpPr/>
          <p:nvPr/>
        </p:nvSpPr>
        <p:spPr>
          <a:xfrm>
            <a:off x="3063240" y="1280160"/>
            <a:ext cx="5303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Doublons sur ID salarié (RH)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14"/>
          <p:cNvSpPr/>
          <p:nvPr/>
        </p:nvSpPr>
        <p:spPr>
          <a:xfrm>
            <a:off x="8321040" y="1334880"/>
            <a:ext cx="411120" cy="200880"/>
          </a:xfrm>
          <a:prstGeom prst="roundRect">
            <a:avLst>
              <a:gd name="adj" fmla="val 22727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15"/>
          <p:cNvSpPr/>
          <p:nvPr/>
        </p:nvSpPr>
        <p:spPr>
          <a:xfrm>
            <a:off x="8321040" y="1334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16"/>
          <p:cNvSpPr/>
          <p:nvPr/>
        </p:nvSpPr>
        <p:spPr>
          <a:xfrm>
            <a:off x="2514600" y="1600200"/>
            <a:ext cx="6263280" cy="30132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 17"/>
          <p:cNvSpPr/>
          <p:nvPr/>
        </p:nvSpPr>
        <p:spPr>
          <a:xfrm>
            <a:off x="2606040" y="1600200"/>
            <a:ext cx="4111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64748b"/>
                </a:solidFill>
                <a:latin typeface="Consolas"/>
                <a:ea typeface="Consolas"/>
              </a:rPr>
              <a:t>02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18"/>
          <p:cNvSpPr/>
          <p:nvPr/>
        </p:nvSpPr>
        <p:spPr>
          <a:xfrm>
            <a:off x="3063240" y="1600200"/>
            <a:ext cx="5303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IDs sport sans correspondance RH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19"/>
          <p:cNvSpPr/>
          <p:nvPr/>
        </p:nvSpPr>
        <p:spPr>
          <a:xfrm>
            <a:off x="8321040" y="1654920"/>
            <a:ext cx="411120" cy="200880"/>
          </a:xfrm>
          <a:prstGeom prst="roundRect">
            <a:avLst>
              <a:gd name="adj" fmla="val 22727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 20"/>
          <p:cNvSpPr/>
          <p:nvPr/>
        </p:nvSpPr>
        <p:spPr>
          <a:xfrm>
            <a:off x="8321040" y="165492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21"/>
          <p:cNvSpPr/>
          <p:nvPr/>
        </p:nvSpPr>
        <p:spPr>
          <a:xfrm>
            <a:off x="2514600" y="1920240"/>
            <a:ext cx="6263280" cy="301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22"/>
          <p:cNvSpPr/>
          <p:nvPr/>
        </p:nvSpPr>
        <p:spPr>
          <a:xfrm>
            <a:off x="2606040" y="1920240"/>
            <a:ext cx="4111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64748b"/>
                </a:solidFill>
                <a:latin typeface="Consolas"/>
                <a:ea typeface="Consolas"/>
              </a:rPr>
              <a:t>03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23"/>
          <p:cNvSpPr/>
          <p:nvPr/>
        </p:nvSpPr>
        <p:spPr>
          <a:xfrm>
            <a:off x="3063240" y="1920240"/>
            <a:ext cx="5303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Salaires invalides (null ou ≤ 0)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24"/>
          <p:cNvSpPr/>
          <p:nvPr/>
        </p:nvSpPr>
        <p:spPr>
          <a:xfrm>
            <a:off x="8321040" y="1974960"/>
            <a:ext cx="411120" cy="200880"/>
          </a:xfrm>
          <a:prstGeom prst="roundRect">
            <a:avLst>
              <a:gd name="adj" fmla="val 22727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25"/>
          <p:cNvSpPr/>
          <p:nvPr/>
        </p:nvSpPr>
        <p:spPr>
          <a:xfrm>
            <a:off x="8321040" y="197496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26"/>
          <p:cNvSpPr/>
          <p:nvPr/>
        </p:nvSpPr>
        <p:spPr>
          <a:xfrm>
            <a:off x="2514600" y="2240280"/>
            <a:ext cx="6263280" cy="30132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27"/>
          <p:cNvSpPr/>
          <p:nvPr/>
        </p:nvSpPr>
        <p:spPr>
          <a:xfrm>
            <a:off x="2606040" y="2240280"/>
            <a:ext cx="4111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64748b"/>
                </a:solidFill>
                <a:latin typeface="Consolas"/>
                <a:ea typeface="Consolas"/>
              </a:rPr>
              <a:t>04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 28"/>
          <p:cNvSpPr/>
          <p:nvPr/>
        </p:nvSpPr>
        <p:spPr>
          <a:xfrm>
            <a:off x="3063240" y="2240280"/>
            <a:ext cx="5303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Modes de déplacement non reconnus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29"/>
          <p:cNvSpPr/>
          <p:nvPr/>
        </p:nvSpPr>
        <p:spPr>
          <a:xfrm>
            <a:off x="8321040" y="2295000"/>
            <a:ext cx="411120" cy="200880"/>
          </a:xfrm>
          <a:prstGeom prst="roundRect">
            <a:avLst>
              <a:gd name="adj" fmla="val 22727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30"/>
          <p:cNvSpPr/>
          <p:nvPr/>
        </p:nvSpPr>
        <p:spPr>
          <a:xfrm>
            <a:off x="8321040" y="22950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31"/>
          <p:cNvSpPr/>
          <p:nvPr/>
        </p:nvSpPr>
        <p:spPr>
          <a:xfrm>
            <a:off x="2514600" y="2560320"/>
            <a:ext cx="6263280" cy="301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32"/>
          <p:cNvSpPr/>
          <p:nvPr/>
        </p:nvSpPr>
        <p:spPr>
          <a:xfrm>
            <a:off x="2606040" y="2560320"/>
            <a:ext cx="4111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64748b"/>
                </a:solidFill>
                <a:latin typeface="Consolas"/>
                <a:ea typeface="Consolas"/>
              </a:rPr>
              <a:t>05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33"/>
          <p:cNvSpPr/>
          <p:nvPr/>
        </p:nvSpPr>
        <p:spPr>
          <a:xfrm>
            <a:off x="3063240" y="2560320"/>
            <a:ext cx="5303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Dates d'embauche dans le futur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34"/>
          <p:cNvSpPr/>
          <p:nvPr/>
        </p:nvSpPr>
        <p:spPr>
          <a:xfrm>
            <a:off x="8321040" y="2615040"/>
            <a:ext cx="411120" cy="200880"/>
          </a:xfrm>
          <a:prstGeom prst="roundRect">
            <a:avLst>
              <a:gd name="adj" fmla="val 22727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35"/>
          <p:cNvSpPr/>
          <p:nvPr/>
        </p:nvSpPr>
        <p:spPr>
          <a:xfrm>
            <a:off x="8321040" y="261504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36"/>
          <p:cNvSpPr/>
          <p:nvPr/>
        </p:nvSpPr>
        <p:spPr>
          <a:xfrm>
            <a:off x="2514600" y="2880360"/>
            <a:ext cx="6263280" cy="30132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37"/>
          <p:cNvSpPr/>
          <p:nvPr/>
        </p:nvSpPr>
        <p:spPr>
          <a:xfrm>
            <a:off x="2606040" y="2880360"/>
            <a:ext cx="4111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64748b"/>
                </a:solidFill>
                <a:latin typeface="Consolas"/>
                <a:ea typeface="Consolas"/>
              </a:rPr>
              <a:t>06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38"/>
          <p:cNvSpPr/>
          <p:nvPr/>
        </p:nvSpPr>
        <p:spPr>
          <a:xfrm>
            <a:off x="3063240" y="2880360"/>
            <a:ext cx="5303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Activités à distance négative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39"/>
          <p:cNvSpPr/>
          <p:nvPr/>
        </p:nvSpPr>
        <p:spPr>
          <a:xfrm>
            <a:off x="8321040" y="2935080"/>
            <a:ext cx="411120" cy="200880"/>
          </a:xfrm>
          <a:prstGeom prst="roundRect">
            <a:avLst>
              <a:gd name="adj" fmla="val 22727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 40"/>
          <p:cNvSpPr/>
          <p:nvPr/>
        </p:nvSpPr>
        <p:spPr>
          <a:xfrm>
            <a:off x="8321040" y="29350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41"/>
          <p:cNvSpPr/>
          <p:nvPr/>
        </p:nvSpPr>
        <p:spPr>
          <a:xfrm>
            <a:off x="2514600" y="3200400"/>
            <a:ext cx="6263280" cy="301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42"/>
          <p:cNvSpPr/>
          <p:nvPr/>
        </p:nvSpPr>
        <p:spPr>
          <a:xfrm>
            <a:off x="2606040" y="3200400"/>
            <a:ext cx="4111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64748b"/>
                </a:solidFill>
                <a:latin typeface="Consolas"/>
                <a:ea typeface="Consolas"/>
              </a:rPr>
              <a:t>07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43"/>
          <p:cNvSpPr/>
          <p:nvPr/>
        </p:nvSpPr>
        <p:spPr>
          <a:xfrm>
            <a:off x="3063240" y="3200400"/>
            <a:ext cx="5303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  <a:ea typeface="Calibri"/>
              </a:rPr>
              <a:t>Déclarations géographiques suspectes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44"/>
          <p:cNvSpPr/>
          <p:nvPr/>
        </p:nvSpPr>
        <p:spPr>
          <a:xfrm>
            <a:off x="8321040" y="3255120"/>
            <a:ext cx="411120" cy="200880"/>
          </a:xfrm>
          <a:prstGeom prst="roundRect">
            <a:avLst>
              <a:gd name="adj" fmla="val 22727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 45"/>
          <p:cNvSpPr/>
          <p:nvPr/>
        </p:nvSpPr>
        <p:spPr>
          <a:xfrm>
            <a:off x="8321040" y="325512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OK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46"/>
          <p:cNvSpPr/>
          <p:nvPr/>
        </p:nvSpPr>
        <p:spPr>
          <a:xfrm>
            <a:off x="365760" y="3611880"/>
            <a:ext cx="8412120" cy="1005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47"/>
          <p:cNvSpPr/>
          <p:nvPr/>
        </p:nvSpPr>
        <p:spPr>
          <a:xfrm>
            <a:off x="365760" y="3611880"/>
            <a:ext cx="72720" cy="1005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48"/>
          <p:cNvSpPr/>
          <p:nvPr/>
        </p:nvSpPr>
        <p:spPr>
          <a:xfrm>
            <a:off x="548640" y="3767400"/>
            <a:ext cx="365400" cy="3654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6" name="Image 0" descr="preencoded.png"/>
          <p:cNvPicPr/>
          <p:nvPr/>
        </p:nvPicPr>
        <p:blipFill>
          <a:blip r:embed="rId1"/>
          <a:stretch/>
        </p:blipFill>
        <p:spPr>
          <a:xfrm>
            <a:off x="612720" y="3831480"/>
            <a:ext cx="237240" cy="237240"/>
          </a:xfrm>
          <a:prstGeom prst="rect">
            <a:avLst/>
          </a:prstGeom>
          <a:ln w="0">
            <a:noFill/>
          </a:ln>
        </p:spPr>
      </p:pic>
      <p:sp>
        <p:nvSpPr>
          <p:cNvPr id="357" name="Text 49"/>
          <p:cNvSpPr/>
          <p:nvPr/>
        </p:nvSpPr>
        <p:spPr>
          <a:xfrm>
            <a:off x="1005840" y="3703320"/>
            <a:ext cx="7680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Slack — #sport-recompenses · 2 types de notifications à chaque run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50"/>
          <p:cNvSpPr/>
          <p:nvPr/>
        </p:nvSpPr>
        <p:spPr>
          <a:xfrm>
            <a:off x="1005840" y="4005000"/>
            <a:ext cx="3657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7" strike="noStrike">
                <a:solidFill>
                  <a:srgbClr val="f59e0b"/>
                </a:solidFill>
                <a:latin typeface="Calibri"/>
                <a:ea typeface="Calibri"/>
              </a:rPr>
              <a:t>TYPE 1 · Récap global / run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51"/>
          <p:cNvSpPr/>
          <p:nvPr/>
        </p:nvSpPr>
        <p:spPr>
          <a:xfrm>
            <a:off x="1005840" y="41878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161 salariés · 68 prime · 69 bien-être · 172 482 € / an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4937760" y="4005000"/>
            <a:ext cx="3840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7" strike="noStrike">
                <a:solidFill>
                  <a:srgbClr val="f59e0b"/>
                </a:solidFill>
                <a:latin typeface="Calibri"/>
                <a:ea typeface="Calibri"/>
              </a:rPr>
              <a:t>TYPE 2 · Individuel / activité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53"/>
          <p:cNvSpPr/>
          <p:nvPr/>
        </p:nvSpPr>
        <p:spPr>
          <a:xfrm>
            <a:off x="4937760" y="418788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« Bravo Juliette Mendes ! Tu viens de courir 10,8 km... »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54"/>
          <p:cNvSpPr/>
          <p:nvPr/>
        </p:nvSpPr>
        <p:spPr>
          <a:xfrm>
            <a:off x="365760" y="470916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ef4444"/>
                </a:solidFill>
                <a:latin typeface="Calibri"/>
                <a:ea typeface="Calibri"/>
              </a:rPr>
              <a:t>Le pipeline s'arrête si le score tombe sous 80. Le run précédent reste la vérité dans PowerBI.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 1"/>
          <p:cNvSpPr/>
          <p:nvPr/>
        </p:nvSpPr>
        <p:spPr>
          <a:xfrm>
            <a:off x="640080" y="164592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599" strike="noStrike">
                <a:solidFill>
                  <a:srgbClr val="ec4899"/>
                </a:solidFill>
                <a:latin typeface="Calibri"/>
                <a:ea typeface="Calibri"/>
              </a:rPr>
              <a:t>PARTIE III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Text 2"/>
          <p:cNvSpPr/>
          <p:nvPr/>
        </p:nvSpPr>
        <p:spPr>
          <a:xfrm>
            <a:off x="640080" y="1965960"/>
            <a:ext cx="8229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Robuste, sécurisé, reproductible.</a:t>
            </a:r>
            <a:endParaRPr b="0" lang="fr-FR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 3"/>
          <p:cNvSpPr/>
          <p:nvPr/>
        </p:nvSpPr>
        <p:spPr>
          <a:xfrm>
            <a:off x="640080" y="3017520"/>
            <a:ext cx="8229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adcfc"/>
                </a:solidFill>
                <a:latin typeface="Calibri"/>
                <a:ea typeface="Calibri"/>
              </a:rPr>
              <a:t>Les réponses aux questions que le jury posera forcément :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adcfc"/>
                </a:solidFill>
                <a:latin typeface="Calibri"/>
                <a:ea typeface="Calibri"/>
              </a:rPr>
              <a:t>reprocessing sans doublons, droits RGPD, et démo live pour prouver que ça tourne.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Shape 4"/>
          <p:cNvSpPr/>
          <p:nvPr/>
        </p:nvSpPr>
        <p:spPr>
          <a:xfrm>
            <a:off x="640080" y="4160520"/>
            <a:ext cx="8229600" cy="360"/>
          </a:xfrm>
          <a:prstGeom prst="line">
            <a:avLst/>
          </a:prstGeom>
          <a:ln w="12700">
            <a:solidFill>
              <a:srgbClr val="2a3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5"/>
          <p:cNvSpPr/>
          <p:nvPr/>
        </p:nvSpPr>
        <p:spPr>
          <a:xfrm>
            <a:off x="640080" y="42519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97" strike="noStrike">
                <a:solidFill>
                  <a:srgbClr val="94c7e0"/>
                </a:solidFill>
                <a:latin typeface="Calibri"/>
                <a:ea typeface="Calibri"/>
              </a:rPr>
              <a:t>Slides 07 → 10        ·        Durée orale ~ 8 min        ·        Points clés  MD5 · RGPD · Démo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365760" y="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299" strike="noStrike">
                <a:solidFill>
                  <a:srgbClr val="ffffff"/>
                </a:solidFill>
                <a:latin typeface="Calibri"/>
                <a:ea typeface="Calibri"/>
              </a:rPr>
              <a:t>SPORT DATA SOLUTION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 2"/>
          <p:cNvSpPr/>
          <p:nvPr/>
        </p:nvSpPr>
        <p:spPr>
          <a:xfrm>
            <a:off x="3200400" y="0"/>
            <a:ext cx="4114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199" strike="noStrike">
                <a:solidFill>
                  <a:srgbClr val="94c7e0"/>
                </a:solidFill>
                <a:latin typeface="Calibri"/>
                <a:ea typeface="Calibri"/>
              </a:rPr>
              <a:t>PARTIE III · REPROCESSING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 3"/>
          <p:cNvSpPr/>
          <p:nvPr/>
        </p:nvSpPr>
        <p:spPr>
          <a:xfrm>
            <a:off x="7680960" y="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07 / 10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 4"/>
          <p:cNvSpPr/>
          <p:nvPr/>
        </p:nvSpPr>
        <p:spPr>
          <a:xfrm>
            <a:off x="0" y="4974480"/>
            <a:ext cx="9143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Sport Data Solution · POC Data Engineering · Avril 2026 · v3.1.0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365760" y="43884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93b"/>
                </a:solidFill>
                <a:latin typeface="Calibri"/>
                <a:ea typeface="Calibri"/>
              </a:rPr>
              <a:t>Scalabilité &amp; reprocessing — la réponse à Juliette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365760" y="89604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Relancer l'historique après une modification de règle, sans doublon, sans ligne orpheline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7"/>
          <p:cNvSpPr/>
          <p:nvPr/>
        </p:nvSpPr>
        <p:spPr>
          <a:xfrm>
            <a:off x="365760" y="1280160"/>
            <a:ext cx="8412120" cy="639720"/>
          </a:xfrm>
          <a:prstGeom prst="rect">
            <a:avLst/>
          </a:prstGeom>
          <a:solidFill>
            <a:srgbClr val="fff4e6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8"/>
          <p:cNvSpPr/>
          <p:nvPr/>
        </p:nvSpPr>
        <p:spPr>
          <a:xfrm>
            <a:off x="365760" y="1280160"/>
            <a:ext cx="72720" cy="639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502920" y="12801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59e0b"/>
                </a:solidFill>
                <a:latin typeface="Calibri"/>
                <a:ea typeface="Calibri"/>
              </a:rPr>
              <a:t>"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 10"/>
          <p:cNvSpPr/>
          <p:nvPr/>
        </p:nvSpPr>
        <p:spPr>
          <a:xfrm>
            <a:off x="822960" y="1325880"/>
            <a:ext cx="7817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Pense à permettre de relancer l'historique des indicateurs si jamais une source est modifiée (nous ne sommes pas à l'abri d'une modification du taux ou des données entrantes).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11"/>
          <p:cNvSpPr/>
          <p:nvPr/>
        </p:nvSpPr>
        <p:spPr>
          <a:xfrm>
            <a:off x="822960" y="1710000"/>
            <a:ext cx="78177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— </a:t>
            </a: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Juliette Mendes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365760" y="2057400"/>
            <a:ext cx="4205880" cy="2559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13"/>
          <p:cNvSpPr/>
          <p:nvPr/>
        </p:nvSpPr>
        <p:spPr>
          <a:xfrm>
            <a:off x="365760" y="2057400"/>
            <a:ext cx="72720" cy="2559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548640" y="21488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Mécanisme d'idempotency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200400" y="214884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5cf6"/>
                </a:solidFill>
                <a:latin typeface="Consolas"/>
                <a:ea typeface="Consolas"/>
              </a:rPr>
              <a:t>MD5 row_hash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548640" y="246888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Un hash MD5 est calculé par salarié sur :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17"/>
          <p:cNvSpPr/>
          <p:nvPr/>
        </p:nvSpPr>
        <p:spPr>
          <a:xfrm>
            <a:off x="548640" y="2715840"/>
            <a:ext cx="3840120" cy="5025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18"/>
          <p:cNvSpPr/>
          <p:nvPr/>
        </p:nvSpPr>
        <p:spPr>
          <a:xfrm>
            <a:off x="640080" y="2761560"/>
            <a:ext cx="365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row_hash = md5(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ID · Salaire · Mode · Sport · NbActivités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19"/>
          <p:cNvSpPr/>
          <p:nvPr/>
        </p:nvSpPr>
        <p:spPr>
          <a:xfrm>
            <a:off x="548640" y="324612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Un changement de données source (salaire, mode, sport, nb activités) change le row_hash → PowerBI recharge les lignes modifiées. Un changement de paramètre (taux) produit un nouveau run_id → Historique_Runs s'enrichit.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3657600"/>
            <a:ext cx="1828440" cy="639720"/>
          </a:xfrm>
          <a:prstGeom prst="rect">
            <a:avLst/>
          </a:prstGeom>
          <a:solidFill>
            <a:srgbClr val="fee2e2"/>
          </a:solidFill>
          <a:ln w="63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640080" y="3712320"/>
            <a:ext cx="1645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7" strike="noStrike">
                <a:solidFill>
                  <a:srgbClr val="ef4444"/>
                </a:solidFill>
                <a:latin typeface="Calibri"/>
                <a:ea typeface="Calibri"/>
              </a:rPr>
              <a:t>AVANT RUN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640080" y="388620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prime = 0.05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640080" y="406908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run_id = #001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24"/>
          <p:cNvSpPr/>
          <p:nvPr/>
        </p:nvSpPr>
        <p:spPr>
          <a:xfrm>
            <a:off x="2560320" y="3657600"/>
            <a:ext cx="1828440" cy="639720"/>
          </a:xfrm>
          <a:prstGeom prst="rect">
            <a:avLst/>
          </a:prstGeom>
          <a:solidFill>
            <a:srgbClr val="d1fae5"/>
          </a:solidFill>
          <a:ln w="635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2651760" y="3712320"/>
            <a:ext cx="1645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7" strike="noStrike">
                <a:solidFill>
                  <a:srgbClr val="22c55e"/>
                </a:solidFill>
                <a:latin typeface="Calibri"/>
                <a:ea typeface="Calibri"/>
              </a:rPr>
              <a:t>APRÈS RUN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26"/>
          <p:cNvSpPr/>
          <p:nvPr/>
        </p:nvSpPr>
        <p:spPr>
          <a:xfrm>
            <a:off x="2651760" y="388620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prime = 0.07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 27"/>
          <p:cNvSpPr/>
          <p:nvPr/>
        </p:nvSpPr>
        <p:spPr>
          <a:xfrm>
            <a:off x="2651760" y="406908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run_id = #002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4709160" y="2057400"/>
            <a:ext cx="4068720" cy="2559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29"/>
          <p:cNvSpPr/>
          <p:nvPr/>
        </p:nvSpPr>
        <p:spPr>
          <a:xfrm>
            <a:off x="4709160" y="2057400"/>
            <a:ext cx="72720" cy="2559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4892040" y="2148840"/>
            <a:ext cx="2422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Export Excel — 8 feuilles structurées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7132320" y="214884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59e0b"/>
                </a:solidFill>
                <a:latin typeface="Consolas"/>
                <a:ea typeface="Consolas"/>
              </a:rPr>
              <a:t>sortie PowerBI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32"/>
          <p:cNvSpPr/>
          <p:nvPr/>
        </p:nvSpPr>
        <p:spPr>
          <a:xfrm>
            <a:off x="4892040" y="2560320"/>
            <a:ext cx="1782720" cy="36540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4983480" y="25603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e0b"/>
                </a:solidFill>
                <a:latin typeface="Consolas"/>
                <a:ea typeface="Consolas"/>
              </a:rPr>
              <a:t>01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34"/>
          <p:cNvSpPr/>
          <p:nvPr/>
        </p:nvSpPr>
        <p:spPr>
          <a:xfrm>
            <a:off x="5303520" y="2560320"/>
            <a:ext cx="132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Salariés_Complet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35"/>
          <p:cNvSpPr/>
          <p:nvPr/>
        </p:nvSpPr>
        <p:spPr>
          <a:xfrm>
            <a:off x="6766560" y="2560320"/>
            <a:ext cx="1782720" cy="36540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36"/>
          <p:cNvSpPr/>
          <p:nvPr/>
        </p:nvSpPr>
        <p:spPr>
          <a:xfrm>
            <a:off x="6858000" y="25603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e0b"/>
                </a:solidFill>
                <a:latin typeface="Consolas"/>
                <a:ea typeface="Consolas"/>
              </a:rPr>
              <a:t>02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37"/>
          <p:cNvSpPr/>
          <p:nvPr/>
        </p:nvSpPr>
        <p:spPr>
          <a:xfrm>
            <a:off x="7178040" y="2560320"/>
            <a:ext cx="132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Éligibles_Prime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38"/>
          <p:cNvSpPr/>
          <p:nvPr/>
        </p:nvSpPr>
        <p:spPr>
          <a:xfrm>
            <a:off x="4892040" y="3017520"/>
            <a:ext cx="1782720" cy="36540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 39"/>
          <p:cNvSpPr/>
          <p:nvPr/>
        </p:nvSpPr>
        <p:spPr>
          <a:xfrm>
            <a:off x="4983480" y="30175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e0b"/>
                </a:solidFill>
                <a:latin typeface="Consolas"/>
                <a:ea typeface="Consolas"/>
              </a:rPr>
              <a:t>03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 40"/>
          <p:cNvSpPr/>
          <p:nvPr/>
        </p:nvSpPr>
        <p:spPr>
          <a:xfrm>
            <a:off x="5303520" y="3017520"/>
            <a:ext cx="132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Éligibles_BienEtre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41"/>
          <p:cNvSpPr/>
          <p:nvPr/>
        </p:nvSpPr>
        <p:spPr>
          <a:xfrm>
            <a:off x="6766560" y="3017520"/>
            <a:ext cx="1782720" cy="36540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42"/>
          <p:cNvSpPr/>
          <p:nvPr/>
        </p:nvSpPr>
        <p:spPr>
          <a:xfrm>
            <a:off x="6858000" y="30175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e0b"/>
                </a:solidFill>
                <a:latin typeface="Consolas"/>
                <a:ea typeface="Consolas"/>
              </a:rPr>
              <a:t>04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 43"/>
          <p:cNvSpPr/>
          <p:nvPr/>
        </p:nvSpPr>
        <p:spPr>
          <a:xfrm>
            <a:off x="7178040" y="3017520"/>
            <a:ext cx="132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Alertes_Geo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44"/>
          <p:cNvSpPr/>
          <p:nvPr/>
        </p:nvSpPr>
        <p:spPr>
          <a:xfrm>
            <a:off x="4892040" y="3474720"/>
            <a:ext cx="1782720" cy="36540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 45"/>
          <p:cNvSpPr/>
          <p:nvPr/>
        </p:nvSpPr>
        <p:spPr>
          <a:xfrm>
            <a:off x="4983480" y="34747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e0b"/>
                </a:solidFill>
                <a:latin typeface="Consolas"/>
                <a:ea typeface="Consolas"/>
              </a:rPr>
              <a:t>05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 46"/>
          <p:cNvSpPr/>
          <p:nvPr/>
        </p:nvSpPr>
        <p:spPr>
          <a:xfrm>
            <a:off x="5303520" y="3474720"/>
            <a:ext cx="132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KPI_Synthèse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47"/>
          <p:cNvSpPr/>
          <p:nvPr/>
        </p:nvSpPr>
        <p:spPr>
          <a:xfrm>
            <a:off x="6766560" y="3474720"/>
            <a:ext cx="1782720" cy="36540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48"/>
          <p:cNvSpPr/>
          <p:nvPr/>
        </p:nvSpPr>
        <p:spPr>
          <a:xfrm>
            <a:off x="6858000" y="34747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e0b"/>
                </a:solidFill>
                <a:latin typeface="Consolas"/>
                <a:ea typeface="Consolas"/>
              </a:rPr>
              <a:t>06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49"/>
          <p:cNvSpPr/>
          <p:nvPr/>
        </p:nvSpPr>
        <p:spPr>
          <a:xfrm>
            <a:off x="7178040" y="3474720"/>
            <a:ext cx="132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Activités_Strava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50"/>
          <p:cNvSpPr/>
          <p:nvPr/>
        </p:nvSpPr>
        <p:spPr>
          <a:xfrm>
            <a:off x="4892040" y="3931920"/>
            <a:ext cx="1782720" cy="36540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 51"/>
          <p:cNvSpPr/>
          <p:nvPr/>
        </p:nvSpPr>
        <p:spPr>
          <a:xfrm>
            <a:off x="4983480" y="39319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e0b"/>
                </a:solidFill>
                <a:latin typeface="Consolas"/>
                <a:ea typeface="Consolas"/>
              </a:rPr>
              <a:t>07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 52"/>
          <p:cNvSpPr/>
          <p:nvPr/>
        </p:nvSpPr>
        <p:spPr>
          <a:xfrm>
            <a:off x="5303520" y="3931920"/>
            <a:ext cx="132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Data_Quality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53"/>
          <p:cNvSpPr/>
          <p:nvPr/>
        </p:nvSpPr>
        <p:spPr>
          <a:xfrm>
            <a:off x="6766560" y="3931920"/>
            <a:ext cx="1782720" cy="36540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 54"/>
          <p:cNvSpPr/>
          <p:nvPr/>
        </p:nvSpPr>
        <p:spPr>
          <a:xfrm>
            <a:off x="6858000" y="39319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e0b"/>
                </a:solidFill>
                <a:latin typeface="Consolas"/>
                <a:ea typeface="Consolas"/>
              </a:rPr>
              <a:t>08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 55"/>
          <p:cNvSpPr/>
          <p:nvPr/>
        </p:nvSpPr>
        <p:spPr>
          <a:xfrm>
            <a:off x="7178040" y="3931920"/>
            <a:ext cx="132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onsolas"/>
                <a:ea typeface="Consolas"/>
              </a:rPr>
              <a:t>Historique_Runs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56"/>
          <p:cNvSpPr/>
          <p:nvPr/>
        </p:nvSpPr>
        <p:spPr>
          <a:xfrm>
            <a:off x="365760" y="4709160"/>
            <a:ext cx="8412120" cy="200880"/>
          </a:xfrm>
          <a:prstGeom prst="rect">
            <a:avLst/>
          </a:prstGeom>
          <a:solidFill>
            <a:srgbClr val="d1fae5"/>
          </a:solidFill>
          <a:ln w="635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 57"/>
          <p:cNvSpPr/>
          <p:nvPr/>
        </p:nvSpPr>
        <p:spPr>
          <a:xfrm>
            <a:off x="365760" y="470916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✓ </a:t>
            </a:r>
            <a:r>
              <a:rPr b="1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0 doublon — 0 ligne orpheline        ·        UI :8089 · sds_pipeline → nouveau run, hashs recalculés, PowerBI à jour automatiquement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1"/>
          <p:cNvSpPr/>
          <p:nvPr/>
        </p:nvSpPr>
        <p:spPr>
          <a:xfrm>
            <a:off x="365760" y="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299" strike="noStrike">
                <a:solidFill>
                  <a:srgbClr val="ffffff"/>
                </a:solidFill>
                <a:latin typeface="Calibri"/>
                <a:ea typeface="Calibri"/>
              </a:rPr>
              <a:t>SPORT DATA SOLUTION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 2"/>
          <p:cNvSpPr/>
          <p:nvPr/>
        </p:nvSpPr>
        <p:spPr>
          <a:xfrm>
            <a:off x="3200400" y="0"/>
            <a:ext cx="4114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199" strike="noStrike">
                <a:solidFill>
                  <a:srgbClr val="94c7e0"/>
                </a:solidFill>
                <a:latin typeface="Calibri"/>
                <a:ea typeface="Calibri"/>
              </a:rPr>
              <a:t>PARTIE III · RGPD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 3"/>
          <p:cNvSpPr/>
          <p:nvPr/>
        </p:nvSpPr>
        <p:spPr>
          <a:xfrm>
            <a:off x="7680960" y="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08 / 10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4"/>
          <p:cNvSpPr/>
          <p:nvPr/>
        </p:nvSpPr>
        <p:spPr>
          <a:xfrm>
            <a:off x="0" y="4974480"/>
            <a:ext cx="9143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Sport Data Solution · POC Data Engineering · Avril 2026 · v3.1.0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5"/>
          <p:cNvSpPr/>
          <p:nvPr/>
        </p:nvSpPr>
        <p:spPr>
          <a:xfrm>
            <a:off x="365760" y="43884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93b"/>
                </a:solidFill>
                <a:latin typeface="Calibri"/>
                <a:ea typeface="Calibri"/>
              </a:rPr>
              <a:t>Architecture RGPD — 3 couches d'accès décroissant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 6"/>
          <p:cNvSpPr/>
          <p:nvPr/>
        </p:nvSpPr>
        <p:spPr>
          <a:xfrm>
            <a:off x="365760" y="89604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Schémas cloisonnés, rôles GRANT et vues SHA-256 en DB · POC : pipeline en user DBA · Prod : flux PowerBI via presentation.*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7"/>
          <p:cNvSpPr/>
          <p:nvPr/>
        </p:nvSpPr>
        <p:spPr>
          <a:xfrm>
            <a:off x="365760" y="1280160"/>
            <a:ext cx="2788560" cy="2011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8"/>
          <p:cNvSpPr/>
          <p:nvPr/>
        </p:nvSpPr>
        <p:spPr>
          <a:xfrm>
            <a:off x="365760" y="1280160"/>
            <a:ext cx="2788560" cy="5025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 9"/>
          <p:cNvSpPr/>
          <p:nvPr/>
        </p:nvSpPr>
        <p:spPr>
          <a:xfrm>
            <a:off x="502920" y="1280160"/>
            <a:ext cx="456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01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 10"/>
          <p:cNvSpPr/>
          <p:nvPr/>
        </p:nvSpPr>
        <p:spPr>
          <a:xfrm>
            <a:off x="960120" y="1280160"/>
            <a:ext cx="2057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ffffff"/>
                </a:solidFill>
                <a:latin typeface="Calibri"/>
                <a:ea typeface="Calibri"/>
              </a:rPr>
              <a:t>BRUTE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11"/>
          <p:cNvSpPr/>
          <p:nvPr/>
        </p:nvSpPr>
        <p:spPr>
          <a:xfrm>
            <a:off x="1504080" y="1965960"/>
            <a:ext cx="511560" cy="5115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9" name="Image 0" descr="preencoded.png"/>
          <p:cNvPicPr/>
          <p:nvPr/>
        </p:nvPicPr>
        <p:blipFill>
          <a:blip r:embed="rId1"/>
          <a:stretch/>
        </p:blipFill>
        <p:spPr>
          <a:xfrm>
            <a:off x="1595520" y="205740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440" name="Text 12"/>
          <p:cNvSpPr/>
          <p:nvPr/>
        </p:nvSpPr>
        <p:spPr>
          <a:xfrm>
            <a:off x="548640" y="2560320"/>
            <a:ext cx="2422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PII complète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13"/>
          <p:cNvSpPr/>
          <p:nvPr/>
        </p:nvSpPr>
        <p:spPr>
          <a:xfrm>
            <a:off x="548640" y="2788920"/>
            <a:ext cx="2422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Nom, prénom, adresse, salaire brut, sport déclaré.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14"/>
          <p:cNvSpPr/>
          <p:nvPr/>
        </p:nvSpPr>
        <p:spPr>
          <a:xfrm>
            <a:off x="3246120" y="1280160"/>
            <a:ext cx="2788560" cy="2011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15"/>
          <p:cNvSpPr/>
          <p:nvPr/>
        </p:nvSpPr>
        <p:spPr>
          <a:xfrm>
            <a:off x="3246120" y="1280160"/>
            <a:ext cx="2788560" cy="502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 16"/>
          <p:cNvSpPr/>
          <p:nvPr/>
        </p:nvSpPr>
        <p:spPr>
          <a:xfrm>
            <a:off x="3383280" y="1280160"/>
            <a:ext cx="456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02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 17"/>
          <p:cNvSpPr/>
          <p:nvPr/>
        </p:nvSpPr>
        <p:spPr>
          <a:xfrm>
            <a:off x="3840480" y="1280160"/>
            <a:ext cx="2057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ffffff"/>
                </a:solidFill>
                <a:latin typeface="Calibri"/>
                <a:ea typeface="Calibri"/>
              </a:rPr>
              <a:t>ANALYTIQUE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18"/>
          <p:cNvSpPr/>
          <p:nvPr/>
        </p:nvSpPr>
        <p:spPr>
          <a:xfrm>
            <a:off x="4384440" y="1965960"/>
            <a:ext cx="511560" cy="5115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7" name="Image 1" descr="preencoded.png"/>
          <p:cNvPicPr/>
          <p:nvPr/>
        </p:nvPicPr>
        <p:blipFill>
          <a:blip r:embed="rId2"/>
          <a:stretch/>
        </p:blipFill>
        <p:spPr>
          <a:xfrm>
            <a:off x="4475880" y="205740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448" name="Text 19"/>
          <p:cNvSpPr/>
          <p:nvPr/>
        </p:nvSpPr>
        <p:spPr>
          <a:xfrm>
            <a:off x="3429000" y="2560320"/>
            <a:ext cx="2422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Pseudonymisée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20"/>
          <p:cNvSpPr/>
          <p:nvPr/>
        </p:nvSpPr>
        <p:spPr>
          <a:xfrm>
            <a:off x="3429000" y="2788920"/>
            <a:ext cx="2422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ID pseudo SHA-256, BU, éligibilité, montant. Nom / prénom absents.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21"/>
          <p:cNvSpPr/>
          <p:nvPr/>
        </p:nvSpPr>
        <p:spPr>
          <a:xfrm>
            <a:off x="6126480" y="1280160"/>
            <a:ext cx="2788560" cy="2011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22"/>
          <p:cNvSpPr/>
          <p:nvPr/>
        </p:nvSpPr>
        <p:spPr>
          <a:xfrm>
            <a:off x="6126480" y="1280160"/>
            <a:ext cx="2788560" cy="5025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Text 23"/>
          <p:cNvSpPr/>
          <p:nvPr/>
        </p:nvSpPr>
        <p:spPr>
          <a:xfrm>
            <a:off x="6263640" y="1280160"/>
            <a:ext cx="456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03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 24"/>
          <p:cNvSpPr/>
          <p:nvPr/>
        </p:nvSpPr>
        <p:spPr>
          <a:xfrm>
            <a:off x="6720840" y="1280160"/>
            <a:ext cx="2057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ffffff"/>
                </a:solidFill>
                <a:latin typeface="Calibri"/>
                <a:ea typeface="Calibri"/>
              </a:rPr>
              <a:t>PRÉSENTATION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25"/>
          <p:cNvSpPr/>
          <p:nvPr/>
        </p:nvSpPr>
        <p:spPr>
          <a:xfrm>
            <a:off x="7264800" y="1965960"/>
            <a:ext cx="511560" cy="51156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55" name="Image 2" descr="preencoded.png"/>
          <p:cNvPicPr/>
          <p:nvPr/>
        </p:nvPicPr>
        <p:blipFill>
          <a:blip r:embed="rId3"/>
          <a:stretch/>
        </p:blipFill>
        <p:spPr>
          <a:xfrm>
            <a:off x="7356240" y="205740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456" name="Text 26"/>
          <p:cNvSpPr/>
          <p:nvPr/>
        </p:nvSpPr>
        <p:spPr>
          <a:xfrm>
            <a:off x="6309360" y="2560320"/>
            <a:ext cx="2422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Agrégée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 27"/>
          <p:cNvSpPr/>
          <p:nvPr/>
        </p:nvSpPr>
        <p:spPr>
          <a:xfrm>
            <a:off x="6309360" y="2788920"/>
            <a:ext cx="2422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Agrégats par BU uniquement. Aucun individu identifiable.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28"/>
          <p:cNvSpPr/>
          <p:nvPr/>
        </p:nvSpPr>
        <p:spPr>
          <a:xfrm>
            <a:off x="365760" y="3383280"/>
            <a:ext cx="2788560" cy="292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 29"/>
          <p:cNvSpPr/>
          <p:nvPr/>
        </p:nvSpPr>
        <p:spPr>
          <a:xfrm>
            <a:off x="365760" y="3383280"/>
            <a:ext cx="2788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Accès — DBA seul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30"/>
          <p:cNvSpPr/>
          <p:nvPr/>
        </p:nvSpPr>
        <p:spPr>
          <a:xfrm>
            <a:off x="3246120" y="3383280"/>
            <a:ext cx="2788560" cy="292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 31"/>
          <p:cNvSpPr/>
          <p:nvPr/>
        </p:nvSpPr>
        <p:spPr>
          <a:xfrm>
            <a:off x="3246120" y="3383280"/>
            <a:ext cx="2788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Accès — Analystes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32"/>
          <p:cNvSpPr/>
          <p:nvPr/>
        </p:nvSpPr>
        <p:spPr>
          <a:xfrm>
            <a:off x="6126480" y="3383280"/>
            <a:ext cx="2788560" cy="292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 33"/>
          <p:cNvSpPr/>
          <p:nvPr/>
        </p:nvSpPr>
        <p:spPr>
          <a:xfrm>
            <a:off x="6126480" y="3383280"/>
            <a:ext cx="2788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Accès — Managers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 34"/>
          <p:cNvSpPr/>
          <p:nvPr/>
        </p:nvSpPr>
        <p:spPr>
          <a:xfrm>
            <a:off x="365760" y="384048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065a82"/>
                </a:solidFill>
                <a:latin typeface="Calibri"/>
                <a:ea typeface="Calibri"/>
              </a:rPr>
              <a:t>RÉPONSE AUX DROITS RGPD — IMPLÉMENTATION TECHNIQUE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35"/>
          <p:cNvSpPr/>
          <p:nvPr/>
        </p:nvSpPr>
        <p:spPr>
          <a:xfrm>
            <a:off x="365760" y="4069080"/>
            <a:ext cx="8412120" cy="2556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 36"/>
          <p:cNvSpPr/>
          <p:nvPr/>
        </p:nvSpPr>
        <p:spPr>
          <a:xfrm>
            <a:off x="502920" y="406908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65a82"/>
                </a:solidFill>
                <a:latin typeface="Calibri"/>
                <a:ea typeface="Calibri"/>
              </a:rPr>
              <a:t>Droit à l'effacement (art. 17)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 37"/>
          <p:cNvSpPr/>
          <p:nvPr/>
        </p:nvSpPr>
        <p:spPr>
          <a:xfrm>
            <a:off x="3566160" y="4069080"/>
            <a:ext cx="5166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Suppression ligne source RH → reprocess → DB purgée (cascade FK). Excels historiques &amp; logs : purge manuelle au POC.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38"/>
          <p:cNvSpPr/>
          <p:nvPr/>
        </p:nvSpPr>
        <p:spPr>
          <a:xfrm>
            <a:off x="365760" y="4343400"/>
            <a:ext cx="8412120" cy="255600"/>
          </a:xfrm>
          <a:prstGeom prst="rect">
            <a:avLst/>
          </a:prstGeom>
          <a:solidFill>
            <a:srgbClr val="f1f5f9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39"/>
          <p:cNvSpPr/>
          <p:nvPr/>
        </p:nvSpPr>
        <p:spPr>
          <a:xfrm>
            <a:off x="502920" y="434340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65a82"/>
                </a:solidFill>
                <a:latin typeface="Calibri"/>
                <a:ea typeface="Calibri"/>
              </a:rPr>
              <a:t>Droit d'accès (art. 15)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 40"/>
          <p:cNvSpPr/>
          <p:nvPr/>
        </p:nvSpPr>
        <p:spPr>
          <a:xfrm>
            <a:off x="3566160" y="4343400"/>
            <a:ext cx="5166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Seule la couche agrégée est exposée aux managers — brute cloisonnée DBA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41"/>
          <p:cNvSpPr/>
          <p:nvPr/>
        </p:nvSpPr>
        <p:spPr>
          <a:xfrm>
            <a:off x="365760" y="4617720"/>
            <a:ext cx="8412120" cy="2556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 42"/>
          <p:cNvSpPr/>
          <p:nvPr/>
        </p:nvSpPr>
        <p:spPr>
          <a:xfrm>
            <a:off x="502920" y="461772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65a82"/>
                </a:solidFill>
                <a:latin typeface="Calibri"/>
                <a:ea typeface="Calibri"/>
              </a:rPr>
              <a:t>Droit de rectification (art. 16)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43"/>
          <p:cNvSpPr/>
          <p:nvPr/>
        </p:nvSpPr>
        <p:spPr>
          <a:xfrm>
            <a:off x="3566160" y="4617720"/>
            <a:ext cx="5166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alibri"/>
                <a:ea typeface="Calibri"/>
              </a:rPr>
              <a:t>Modification source → reprocess → row_hash recalculé, PowerBI voit la nouvelle valeur via run_id.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 1"/>
          <p:cNvSpPr/>
          <p:nvPr/>
        </p:nvSpPr>
        <p:spPr>
          <a:xfrm>
            <a:off x="365760" y="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299" strike="noStrike">
                <a:solidFill>
                  <a:srgbClr val="ffffff"/>
                </a:solidFill>
                <a:latin typeface="Calibri"/>
                <a:ea typeface="Calibri"/>
              </a:rPr>
              <a:t>SPORT DATA SOLUTION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 2"/>
          <p:cNvSpPr/>
          <p:nvPr/>
        </p:nvSpPr>
        <p:spPr>
          <a:xfrm>
            <a:off x="3200400" y="0"/>
            <a:ext cx="4114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199" strike="noStrike">
                <a:solidFill>
                  <a:srgbClr val="94c7e0"/>
                </a:solidFill>
                <a:latin typeface="Calibri"/>
                <a:ea typeface="Calibri"/>
              </a:rPr>
              <a:t>PARTIE III · DÉMO LIVE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3"/>
          <p:cNvSpPr/>
          <p:nvPr/>
        </p:nvSpPr>
        <p:spPr>
          <a:xfrm>
            <a:off x="7680960" y="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09 / 10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 4"/>
          <p:cNvSpPr/>
          <p:nvPr/>
        </p:nvSpPr>
        <p:spPr>
          <a:xfrm>
            <a:off x="0" y="4974480"/>
            <a:ext cx="9143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Sport Data Solution · POC Data Engineering · Avril 2026 · v3.1.0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 5"/>
          <p:cNvSpPr/>
          <p:nvPr/>
        </p:nvSpPr>
        <p:spPr>
          <a:xfrm>
            <a:off x="365760" y="43884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93b"/>
                </a:solidFill>
                <a:latin typeface="Calibri"/>
                <a:ea typeface="Calibri"/>
              </a:rPr>
              <a:t>Démonstration live — 5 étapes narrables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 6"/>
          <p:cNvSpPr/>
          <p:nvPr/>
        </p:nvSpPr>
        <p:spPr>
          <a:xfrm>
            <a:off x="365760" y="89604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Une séquence pour donner au jury la preuve que chaque brique fonctionne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7"/>
          <p:cNvSpPr/>
          <p:nvPr/>
        </p:nvSpPr>
        <p:spPr>
          <a:xfrm>
            <a:off x="365760" y="1280160"/>
            <a:ext cx="8412120" cy="621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8"/>
          <p:cNvSpPr/>
          <p:nvPr/>
        </p:nvSpPr>
        <p:spPr>
          <a:xfrm>
            <a:off x="365760" y="1280160"/>
            <a:ext cx="502560" cy="621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 9"/>
          <p:cNvSpPr/>
          <p:nvPr/>
        </p:nvSpPr>
        <p:spPr>
          <a:xfrm>
            <a:off x="365760" y="1280160"/>
            <a:ext cx="5025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10"/>
          <p:cNvSpPr/>
          <p:nvPr/>
        </p:nvSpPr>
        <p:spPr>
          <a:xfrm>
            <a:off x="1005840" y="1454040"/>
            <a:ext cx="292320" cy="2923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5" name="Image 0" descr="preencoded.png"/>
          <p:cNvPicPr/>
          <p:nvPr/>
        </p:nvPicPr>
        <p:blipFill>
          <a:blip r:embed="rId1"/>
          <a:stretch/>
        </p:blipFill>
        <p:spPr>
          <a:xfrm>
            <a:off x="1060560" y="150876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486" name="Text 11"/>
          <p:cNvSpPr/>
          <p:nvPr/>
        </p:nvSpPr>
        <p:spPr>
          <a:xfrm>
            <a:off x="1417320" y="1334880"/>
            <a:ext cx="5348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Ouvrir les sources Excel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 12"/>
          <p:cNvSpPr/>
          <p:nvPr/>
        </p:nvSpPr>
        <p:spPr>
          <a:xfrm>
            <a:off x="1417320" y="157284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Base RH — 161 salariés, colonnes sport déclaré, mode déplacement, salaire brut.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13"/>
          <p:cNvSpPr/>
          <p:nvPr/>
        </p:nvSpPr>
        <p:spPr>
          <a:xfrm>
            <a:off x="6858000" y="1454040"/>
            <a:ext cx="1828440" cy="292320"/>
          </a:xfrm>
          <a:prstGeom prst="roundRect">
            <a:avLst>
              <a:gd name="adj" fmla="val 15625"/>
            </a:avLst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 14"/>
          <p:cNvSpPr/>
          <p:nvPr/>
        </p:nvSpPr>
        <p:spPr>
          <a:xfrm>
            <a:off x="6858000" y="1454040"/>
            <a:ext cx="1828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rh.xlsx · sports.xlsx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15"/>
          <p:cNvSpPr/>
          <p:nvPr/>
        </p:nvSpPr>
        <p:spPr>
          <a:xfrm>
            <a:off x="365760" y="1974960"/>
            <a:ext cx="8412120" cy="621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16"/>
          <p:cNvSpPr/>
          <p:nvPr/>
        </p:nvSpPr>
        <p:spPr>
          <a:xfrm>
            <a:off x="365760" y="1974960"/>
            <a:ext cx="502560" cy="621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Text 17"/>
          <p:cNvSpPr/>
          <p:nvPr/>
        </p:nvSpPr>
        <p:spPr>
          <a:xfrm>
            <a:off x="365760" y="1974960"/>
            <a:ext cx="5025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18"/>
          <p:cNvSpPr/>
          <p:nvPr/>
        </p:nvSpPr>
        <p:spPr>
          <a:xfrm>
            <a:off x="1005840" y="2148840"/>
            <a:ext cx="292320" cy="2923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4" name="Image 1" descr="preencoded.png"/>
          <p:cNvPicPr/>
          <p:nvPr/>
        </p:nvPicPr>
        <p:blipFill>
          <a:blip r:embed="rId2"/>
          <a:stretch/>
        </p:blipFill>
        <p:spPr>
          <a:xfrm>
            <a:off x="1060560" y="220356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495" name="Text 19"/>
          <p:cNvSpPr/>
          <p:nvPr/>
        </p:nvSpPr>
        <p:spPr>
          <a:xfrm>
            <a:off x="1417320" y="2030040"/>
            <a:ext cx="5348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Lancer le flow Kestra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 20"/>
          <p:cNvSpPr/>
          <p:nvPr/>
        </p:nvSpPr>
        <p:spPr>
          <a:xfrm>
            <a:off x="1417320" y="226764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UI Kestra http://localhost:8089 → flow sds_pipeline → Execute. DAG visuel, 8 tâches, ~1 min.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21"/>
          <p:cNvSpPr/>
          <p:nvPr/>
        </p:nvSpPr>
        <p:spPr>
          <a:xfrm>
            <a:off x="6858000" y="2148840"/>
            <a:ext cx="1828440" cy="292320"/>
          </a:xfrm>
          <a:prstGeom prst="roundRect">
            <a:avLst>
              <a:gd name="adj" fmla="val 15625"/>
            </a:avLst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 22"/>
          <p:cNvSpPr/>
          <p:nvPr/>
        </p:nvSpPr>
        <p:spPr>
          <a:xfrm>
            <a:off x="6858000" y="2148840"/>
            <a:ext cx="1828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UI :8089 · sds_pipeline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23"/>
          <p:cNvSpPr/>
          <p:nvPr/>
        </p:nvSpPr>
        <p:spPr>
          <a:xfrm>
            <a:off x="365760" y="2670120"/>
            <a:ext cx="8412120" cy="621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24"/>
          <p:cNvSpPr/>
          <p:nvPr/>
        </p:nvSpPr>
        <p:spPr>
          <a:xfrm>
            <a:off x="365760" y="2670120"/>
            <a:ext cx="502560" cy="621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 25"/>
          <p:cNvSpPr/>
          <p:nvPr/>
        </p:nvSpPr>
        <p:spPr>
          <a:xfrm>
            <a:off x="365760" y="2670120"/>
            <a:ext cx="5025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26"/>
          <p:cNvSpPr/>
          <p:nvPr/>
        </p:nvSpPr>
        <p:spPr>
          <a:xfrm>
            <a:off x="1005840" y="2843640"/>
            <a:ext cx="292320" cy="292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3" name="Image 2" descr="preencoded.png"/>
          <p:cNvPicPr/>
          <p:nvPr/>
        </p:nvPicPr>
        <p:blipFill>
          <a:blip r:embed="rId3"/>
          <a:stretch/>
        </p:blipFill>
        <p:spPr>
          <a:xfrm>
            <a:off x="1060560" y="289872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04" name="Text 27"/>
          <p:cNvSpPr/>
          <p:nvPr/>
        </p:nvSpPr>
        <p:spPr>
          <a:xfrm>
            <a:off x="1417320" y="2724840"/>
            <a:ext cx="5348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Notifications Slack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 28"/>
          <p:cNvSpPr/>
          <p:nvPr/>
        </p:nvSpPr>
        <p:spPr>
          <a:xfrm>
            <a:off x="1417320" y="296280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Terminal en mode simulation — récap global + message individuel par activité.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hape 29"/>
          <p:cNvSpPr/>
          <p:nvPr/>
        </p:nvSpPr>
        <p:spPr>
          <a:xfrm>
            <a:off x="6858000" y="2843640"/>
            <a:ext cx="1828440" cy="292320"/>
          </a:xfrm>
          <a:prstGeom prst="roundRect">
            <a:avLst>
              <a:gd name="adj" fmla="val 15625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 30"/>
          <p:cNvSpPr/>
          <p:nvPr/>
        </p:nvSpPr>
        <p:spPr>
          <a:xfrm>
            <a:off x="6858000" y="2843640"/>
            <a:ext cx="1828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[SLACK] 1 récap + 3 individuels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31"/>
          <p:cNvSpPr/>
          <p:nvPr/>
        </p:nvSpPr>
        <p:spPr>
          <a:xfrm>
            <a:off x="365760" y="3364920"/>
            <a:ext cx="8412120" cy="621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32"/>
          <p:cNvSpPr/>
          <p:nvPr/>
        </p:nvSpPr>
        <p:spPr>
          <a:xfrm>
            <a:off x="365760" y="3364920"/>
            <a:ext cx="502560" cy="6213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 33"/>
          <p:cNvSpPr/>
          <p:nvPr/>
        </p:nvSpPr>
        <p:spPr>
          <a:xfrm>
            <a:off x="365760" y="3364920"/>
            <a:ext cx="5025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34"/>
          <p:cNvSpPr/>
          <p:nvPr/>
        </p:nvSpPr>
        <p:spPr>
          <a:xfrm>
            <a:off x="1005840" y="3538800"/>
            <a:ext cx="292320" cy="292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12" name="Image 3" descr="preencoded.png"/>
          <p:cNvPicPr/>
          <p:nvPr/>
        </p:nvPicPr>
        <p:blipFill>
          <a:blip r:embed="rId4"/>
          <a:stretch/>
        </p:blipFill>
        <p:spPr>
          <a:xfrm>
            <a:off x="1060560" y="359352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13" name="Text 35"/>
          <p:cNvSpPr/>
          <p:nvPr/>
        </p:nvSpPr>
        <p:spPr>
          <a:xfrm>
            <a:off x="1417320" y="3420000"/>
            <a:ext cx="5348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Ouvrir le rapport Excel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 36"/>
          <p:cNvSpPr/>
          <p:nvPr/>
        </p:nvSpPr>
        <p:spPr>
          <a:xfrm>
            <a:off x="1417320" y="365760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Parcours : KPI_Synthèse → Éligibles_Prime → Alertes_Geo → Historique_Runs.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37"/>
          <p:cNvSpPr/>
          <p:nvPr/>
        </p:nvSpPr>
        <p:spPr>
          <a:xfrm>
            <a:off x="6858000" y="3538800"/>
            <a:ext cx="1828440" cy="292320"/>
          </a:xfrm>
          <a:prstGeom prst="roundRect">
            <a:avLst>
              <a:gd name="adj" fmla="val 15625"/>
            </a:avLst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 38"/>
          <p:cNvSpPr/>
          <p:nvPr/>
        </p:nvSpPr>
        <p:spPr>
          <a:xfrm>
            <a:off x="6858000" y="3538800"/>
            <a:ext cx="1828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output_2026-04.xlsx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39"/>
          <p:cNvSpPr/>
          <p:nvPr/>
        </p:nvSpPr>
        <p:spPr>
          <a:xfrm>
            <a:off x="365760" y="4060080"/>
            <a:ext cx="8412120" cy="621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  <a:effectLst>
            <a:outerShdw algn="bl" blurRad="76320" dir="5400000" dist="1260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40"/>
          <p:cNvSpPr/>
          <p:nvPr/>
        </p:nvSpPr>
        <p:spPr>
          <a:xfrm>
            <a:off x="365760" y="4060080"/>
            <a:ext cx="502560" cy="6213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41"/>
          <p:cNvSpPr/>
          <p:nvPr/>
        </p:nvSpPr>
        <p:spPr>
          <a:xfrm>
            <a:off x="365760" y="4060080"/>
            <a:ext cx="5025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42"/>
          <p:cNvSpPr/>
          <p:nvPr/>
        </p:nvSpPr>
        <p:spPr>
          <a:xfrm>
            <a:off x="1005840" y="4233600"/>
            <a:ext cx="292320" cy="29232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21" name="Image 4" descr="preencoded.png"/>
          <p:cNvPicPr/>
          <p:nvPr/>
        </p:nvPicPr>
        <p:blipFill>
          <a:blip r:embed="rId5"/>
          <a:stretch/>
        </p:blipFill>
        <p:spPr>
          <a:xfrm>
            <a:off x="1060560" y="42886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22" name="Text 43"/>
          <p:cNvSpPr/>
          <p:nvPr/>
        </p:nvSpPr>
        <p:spPr>
          <a:xfrm>
            <a:off x="1417320" y="4114800"/>
            <a:ext cx="5348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Démo du reprocessing UI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 44"/>
          <p:cNvSpPr/>
          <p:nvPr/>
        </p:nvSpPr>
        <p:spPr>
          <a:xfrm>
            <a:off x="1417320" y="435240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e293b"/>
                </a:solidFill>
                <a:latin typeface="Calibri"/>
                <a:ea typeface="Calibri"/>
              </a:rPr>
              <a:t>Dans l'UI Kestra, changer taux_prime de 0.05 à 0.07, Execute. Nouveau run_id, Historique_Runs s'enrichit, 0 doublon.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45"/>
          <p:cNvSpPr/>
          <p:nvPr/>
        </p:nvSpPr>
        <p:spPr>
          <a:xfrm>
            <a:off x="6858000" y="4233600"/>
            <a:ext cx="1828440" cy="292320"/>
          </a:xfrm>
          <a:prstGeom prst="roundRect">
            <a:avLst>
              <a:gd name="adj" fmla="val 15625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Text 46"/>
          <p:cNvSpPr/>
          <p:nvPr/>
        </p:nvSpPr>
        <p:spPr>
          <a:xfrm>
            <a:off x="6858000" y="4233600"/>
            <a:ext cx="1828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taux_prime = 0.07 · via UI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 47"/>
          <p:cNvSpPr/>
          <p:nvPr/>
        </p:nvSpPr>
        <p:spPr>
          <a:xfrm>
            <a:off x="365760" y="475488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900" spc="-1" strike="noStrike">
                <a:solidFill>
                  <a:srgbClr val="ec4899"/>
                </a:solidFill>
                <a:latin typeface="Calibri"/>
                <a:ea typeface="Calibri"/>
              </a:rPr>
              <a:t>⚡ </a:t>
            </a:r>
            <a:r>
              <a:rPr b="1" i="1" lang="en-US" sz="900" spc="-1" strike="noStrike">
                <a:solidFill>
                  <a:srgbClr val="ec4899"/>
                </a:solidFill>
                <a:latin typeface="Calibri"/>
                <a:ea typeface="Calibri"/>
              </a:rPr>
              <a:t>Clé de la démo : changer le taux depuis l'UI Kestra, sans toucher au code — preuve visuelle de l'idempotency.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 1"/>
          <p:cNvSpPr/>
          <p:nvPr/>
        </p:nvSpPr>
        <p:spPr>
          <a:xfrm>
            <a:off x="365760" y="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299" strike="noStrike">
                <a:solidFill>
                  <a:srgbClr val="ffffff"/>
                </a:solidFill>
                <a:latin typeface="Calibri"/>
                <a:ea typeface="Calibri"/>
              </a:rPr>
              <a:t>SPORT DATA SOLUTION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 2"/>
          <p:cNvSpPr/>
          <p:nvPr/>
        </p:nvSpPr>
        <p:spPr>
          <a:xfrm>
            <a:off x="3200400" y="0"/>
            <a:ext cx="4114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199" strike="noStrike">
                <a:solidFill>
                  <a:srgbClr val="94c7e0"/>
                </a:solidFill>
                <a:latin typeface="Calibri"/>
                <a:ea typeface="Calibri"/>
              </a:rPr>
              <a:t>PARTIE III · CONCLUSION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 3"/>
          <p:cNvSpPr/>
          <p:nvPr/>
        </p:nvSpPr>
        <p:spPr>
          <a:xfrm>
            <a:off x="7680960" y="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10 / 10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 4"/>
          <p:cNvSpPr/>
          <p:nvPr/>
        </p:nvSpPr>
        <p:spPr>
          <a:xfrm>
            <a:off x="0" y="4974480"/>
            <a:ext cx="9143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Sport Data Solution · POC Data Engineering · Avril 2026 · v3.1.0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 5"/>
          <p:cNvSpPr/>
          <p:nvPr/>
        </p:nvSpPr>
        <p:spPr>
          <a:xfrm>
            <a:off x="365760" y="43884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93b"/>
                </a:solidFill>
                <a:latin typeface="Calibri"/>
                <a:ea typeface="Calibri"/>
              </a:rPr>
              <a:t>Conclusion &amp; prochaines étapes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 6"/>
          <p:cNvSpPr/>
          <p:nvPr/>
        </p:nvSpPr>
        <p:spPr>
          <a:xfrm>
            <a:off x="365760" y="89604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Un POC aligné avec la note de cadrage, et une feuille de route claire pour passer en production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 7"/>
          <p:cNvSpPr/>
          <p:nvPr/>
        </p:nvSpPr>
        <p:spPr>
          <a:xfrm>
            <a:off x="365760" y="1280160"/>
            <a:ext cx="4205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22c55e"/>
                </a:solidFill>
                <a:latin typeface="Calibri"/>
                <a:ea typeface="Calibri"/>
              </a:rPr>
              <a:t>CE POC DÉMONTRE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8"/>
          <p:cNvSpPr/>
          <p:nvPr/>
        </p:nvSpPr>
        <p:spPr>
          <a:xfrm>
            <a:off x="365760" y="1600200"/>
            <a:ext cx="219240" cy="2192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Text 9"/>
          <p:cNvSpPr/>
          <p:nvPr/>
        </p:nvSpPr>
        <p:spPr>
          <a:xfrm>
            <a:off x="365760" y="1600200"/>
            <a:ext cx="219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 10"/>
          <p:cNvSpPr/>
          <p:nvPr/>
        </p:nvSpPr>
        <p:spPr>
          <a:xfrm>
            <a:off x="658440" y="155448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Pipeline ETL 7 étapes orchestré par Kestra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 11"/>
          <p:cNvSpPr/>
          <p:nvPr/>
        </p:nvSpPr>
        <p:spPr>
          <a:xfrm>
            <a:off x="658440" y="178308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Extract · Generate · Géo · DQ · Transform · Load · Slack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12"/>
          <p:cNvSpPr/>
          <p:nvPr/>
        </p:nvSpPr>
        <p:spPr>
          <a:xfrm>
            <a:off x="365760" y="2084760"/>
            <a:ext cx="219240" cy="2192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Text 13"/>
          <p:cNvSpPr/>
          <p:nvPr/>
        </p:nvSpPr>
        <p:spPr>
          <a:xfrm>
            <a:off x="365760" y="2084760"/>
            <a:ext cx="219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 14"/>
          <p:cNvSpPr/>
          <p:nvPr/>
        </p:nvSpPr>
        <p:spPr>
          <a:xfrm>
            <a:off x="658440" y="203904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Règles métier conformes à la note de cadrage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 15"/>
          <p:cNvSpPr/>
          <p:nvPr/>
        </p:nvSpPr>
        <p:spPr>
          <a:xfrm>
            <a:off x="658440" y="2267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Prime 5 % · 5 jours bien-être · seuils géographiques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16"/>
          <p:cNvSpPr/>
          <p:nvPr/>
        </p:nvSpPr>
        <p:spPr>
          <a:xfrm>
            <a:off x="365760" y="2569320"/>
            <a:ext cx="219240" cy="2192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Text 17"/>
          <p:cNvSpPr/>
          <p:nvPr/>
        </p:nvSpPr>
        <p:spPr>
          <a:xfrm>
            <a:off x="365760" y="2569320"/>
            <a:ext cx="219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 18"/>
          <p:cNvSpPr/>
          <p:nvPr/>
        </p:nvSpPr>
        <p:spPr>
          <a:xfrm>
            <a:off x="658440" y="252360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2 040 activités Strava simulées sur 12 mois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 19"/>
          <p:cNvSpPr/>
          <p:nvPr/>
        </p:nvSpPr>
        <p:spPr>
          <a:xfrm>
            <a:off x="658440" y="275220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Seed fixe · 95 salariés · 15 disciplines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20"/>
          <p:cNvSpPr/>
          <p:nvPr/>
        </p:nvSpPr>
        <p:spPr>
          <a:xfrm>
            <a:off x="365760" y="3054240"/>
            <a:ext cx="219240" cy="2192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 21"/>
          <p:cNvSpPr/>
          <p:nvPr/>
        </p:nvSpPr>
        <p:spPr>
          <a:xfrm>
            <a:off x="365760" y="3054240"/>
            <a:ext cx="219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 22"/>
          <p:cNvSpPr/>
          <p:nvPr/>
        </p:nvSpPr>
        <p:spPr>
          <a:xfrm>
            <a:off x="658440" y="300852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DQ Score 100 / 100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 23"/>
          <p:cNvSpPr/>
          <p:nvPr/>
        </p:nvSpPr>
        <p:spPr>
          <a:xfrm>
            <a:off x="658440" y="323712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7 contrôles automatiques, 0 anomalie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24"/>
          <p:cNvSpPr/>
          <p:nvPr/>
        </p:nvSpPr>
        <p:spPr>
          <a:xfrm>
            <a:off x="365760" y="3538800"/>
            <a:ext cx="219240" cy="2192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 25"/>
          <p:cNvSpPr/>
          <p:nvPr/>
        </p:nvSpPr>
        <p:spPr>
          <a:xfrm>
            <a:off x="365760" y="3538800"/>
            <a:ext cx="219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 26"/>
          <p:cNvSpPr/>
          <p:nvPr/>
        </p:nvSpPr>
        <p:spPr>
          <a:xfrm>
            <a:off x="658440" y="349308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Reprocessing paramétrable depuis Kestra UI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 27"/>
          <p:cNvSpPr/>
          <p:nvPr/>
        </p:nvSpPr>
        <p:spPr>
          <a:xfrm>
            <a:off x="658440" y="372168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row_hash MD5 + inputs Kestra — réponse au brief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28"/>
          <p:cNvSpPr/>
          <p:nvPr/>
        </p:nvSpPr>
        <p:spPr>
          <a:xfrm>
            <a:off x="365760" y="4023360"/>
            <a:ext cx="219240" cy="2192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Text 29"/>
          <p:cNvSpPr/>
          <p:nvPr/>
        </p:nvSpPr>
        <p:spPr>
          <a:xfrm>
            <a:off x="365760" y="4023360"/>
            <a:ext cx="219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 30"/>
          <p:cNvSpPr/>
          <p:nvPr/>
        </p:nvSpPr>
        <p:spPr>
          <a:xfrm>
            <a:off x="658440" y="397764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Architecture RGPD 3 couches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 31"/>
          <p:cNvSpPr/>
          <p:nvPr/>
        </p:nvSpPr>
        <p:spPr>
          <a:xfrm>
            <a:off x="658440" y="42062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Brute · Analytique · Présentation + GRANT Postgres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 32"/>
          <p:cNvSpPr/>
          <p:nvPr/>
        </p:nvSpPr>
        <p:spPr>
          <a:xfrm>
            <a:off x="4709160" y="128016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f59e0b"/>
                </a:solidFill>
                <a:latin typeface="Calibri"/>
                <a:ea typeface="Calibri"/>
              </a:rPr>
              <a:t>RECOMMANDATIONS PRODUCTION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33"/>
          <p:cNvSpPr/>
          <p:nvPr/>
        </p:nvSpPr>
        <p:spPr>
          <a:xfrm>
            <a:off x="4709160" y="1572840"/>
            <a:ext cx="273960" cy="273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1" name="Image 0" descr="preencoded.png"/>
          <p:cNvPicPr/>
          <p:nvPr/>
        </p:nvPicPr>
        <p:blipFill>
          <a:blip r:embed="rId1"/>
          <a:stretch/>
        </p:blipFill>
        <p:spPr>
          <a:xfrm>
            <a:off x="4763880" y="1627560"/>
            <a:ext cx="164160" cy="164160"/>
          </a:xfrm>
          <a:prstGeom prst="rect">
            <a:avLst/>
          </a:prstGeom>
          <a:ln w="0">
            <a:noFill/>
          </a:ln>
        </p:spPr>
      </p:pic>
      <p:sp>
        <p:nvSpPr>
          <p:cNvPr id="562" name="Text 34"/>
          <p:cNvSpPr/>
          <p:nvPr/>
        </p:nvSpPr>
        <p:spPr>
          <a:xfrm>
            <a:off x="5074920" y="1554480"/>
            <a:ext cx="370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PostgreSQL managé + Row-Level Security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 35"/>
          <p:cNvSpPr/>
          <p:nvPr/>
        </p:nvSpPr>
        <p:spPr>
          <a:xfrm>
            <a:off x="5074920" y="1783080"/>
            <a:ext cx="3702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RDS / Cloud SQL · SSL forcé · backups auto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36"/>
          <p:cNvSpPr/>
          <p:nvPr/>
        </p:nvSpPr>
        <p:spPr>
          <a:xfrm>
            <a:off x="4709160" y="2057400"/>
            <a:ext cx="273960" cy="273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5" name="Image 1" descr="preencoded.png"/>
          <p:cNvPicPr/>
          <p:nvPr/>
        </p:nvPicPr>
        <p:blipFill>
          <a:blip r:embed="rId2"/>
          <a:stretch/>
        </p:blipFill>
        <p:spPr>
          <a:xfrm>
            <a:off x="4763880" y="2112120"/>
            <a:ext cx="164160" cy="164160"/>
          </a:xfrm>
          <a:prstGeom prst="rect">
            <a:avLst/>
          </a:prstGeom>
          <a:ln w="0">
            <a:noFill/>
          </a:ln>
        </p:spPr>
      </p:pic>
      <p:sp>
        <p:nvSpPr>
          <p:cNvPr id="566" name="Text 37"/>
          <p:cNvSpPr/>
          <p:nvPr/>
        </p:nvSpPr>
        <p:spPr>
          <a:xfrm>
            <a:off x="5074920" y="2039040"/>
            <a:ext cx="370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Kestra cluster mode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 38"/>
          <p:cNvSpPr/>
          <p:nvPr/>
        </p:nvSpPr>
        <p:spPr>
          <a:xfrm>
            <a:off x="5074920" y="2267640"/>
            <a:ext cx="3702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Backend JDBC Postgres · multi-workers · metrics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9"/>
          <p:cNvSpPr/>
          <p:nvPr/>
        </p:nvSpPr>
        <p:spPr>
          <a:xfrm>
            <a:off x="4709160" y="2541960"/>
            <a:ext cx="273960" cy="273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9" name="Image 2" descr="preencoded.png"/>
          <p:cNvPicPr/>
          <p:nvPr/>
        </p:nvPicPr>
        <p:blipFill>
          <a:blip r:embed="rId3"/>
          <a:stretch/>
        </p:blipFill>
        <p:spPr>
          <a:xfrm>
            <a:off x="4763880" y="2597040"/>
            <a:ext cx="164160" cy="164160"/>
          </a:xfrm>
          <a:prstGeom prst="rect">
            <a:avLst/>
          </a:prstGeom>
          <a:ln w="0">
            <a:noFill/>
          </a:ln>
        </p:spPr>
      </p:pic>
      <p:sp>
        <p:nvSpPr>
          <p:cNvPr id="570" name="Text 40"/>
          <p:cNvSpPr/>
          <p:nvPr/>
        </p:nvSpPr>
        <p:spPr>
          <a:xfrm>
            <a:off x="5074920" y="2523600"/>
            <a:ext cx="370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API Strava réelle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 41"/>
          <p:cNvSpPr/>
          <p:nvPr/>
        </p:nvSpPr>
        <p:spPr>
          <a:xfrm>
            <a:off x="5074920" y="2752200"/>
            <a:ext cx="3702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OAuth 2.0 · webhooks activités temps réel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42"/>
          <p:cNvSpPr/>
          <p:nvPr/>
        </p:nvSpPr>
        <p:spPr>
          <a:xfrm>
            <a:off x="4709160" y="3026520"/>
            <a:ext cx="273960" cy="273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3" name="Image 3" descr="preencoded.png"/>
          <p:cNvPicPr/>
          <p:nvPr/>
        </p:nvPicPr>
        <p:blipFill>
          <a:blip r:embed="rId4"/>
          <a:stretch/>
        </p:blipFill>
        <p:spPr>
          <a:xfrm>
            <a:off x="4763880" y="3081600"/>
            <a:ext cx="164160" cy="164160"/>
          </a:xfrm>
          <a:prstGeom prst="rect">
            <a:avLst/>
          </a:prstGeom>
          <a:ln w="0">
            <a:noFill/>
          </a:ln>
        </p:spPr>
      </p:pic>
      <p:sp>
        <p:nvSpPr>
          <p:cNvPr id="574" name="Text 43"/>
          <p:cNvSpPr/>
          <p:nvPr/>
        </p:nvSpPr>
        <p:spPr>
          <a:xfrm>
            <a:off x="5074920" y="3008520"/>
            <a:ext cx="370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PowerBI Service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 44"/>
          <p:cNvSpPr/>
          <p:nvPr/>
        </p:nvSpPr>
        <p:spPr>
          <a:xfrm>
            <a:off x="5074920" y="3237120"/>
            <a:ext cx="3702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Refresh planifié · partage RLS · publication contrôlée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45"/>
          <p:cNvSpPr/>
          <p:nvPr/>
        </p:nvSpPr>
        <p:spPr>
          <a:xfrm>
            <a:off x="365760" y="4572000"/>
            <a:ext cx="8412120" cy="3470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Text 46"/>
          <p:cNvSpPr/>
          <p:nvPr/>
        </p:nvSpPr>
        <p:spPr>
          <a:xfrm>
            <a:off x="365760" y="4572000"/>
            <a:ext cx="8412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398" strike="noStrike">
                <a:solidFill>
                  <a:srgbClr val="ffffff"/>
                </a:solidFill>
                <a:latin typeface="Calibri"/>
                <a:ea typeface="Calibri"/>
              </a:rPr>
              <a:t>Merci ·  Questions ?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2026-04-22T12:57:14Z</dcterms:created>
  <dc:creator>Sport Data Solution</dc:creator>
  <dc:description/>
  <dc:language>fr-FR</dc:language>
  <cp:lastModifiedBy/>
  <dcterms:modified xsi:type="dcterms:W3CDTF">2026-04-23T13:47:20Z</dcterms:modified>
  <cp:revision>2</cp:revision>
  <dc:subject>PptxGenJS Presentation</dc:subject>
  <dc:title>Sport Data Solution — Soutenance v3.2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