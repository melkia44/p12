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· DATA ENGINEERING · AVRIL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Solution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7C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de données bout-en-bout pour récompenser les salariés qui bougent.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58368" y="4160520"/>
            <a:ext cx="2560320" cy="1508760"/>
          </a:xfrm>
          <a:prstGeom prst="rect">
            <a:avLst/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4160520"/>
            <a:ext cx="2560320" cy="4572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441655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58368" y="5120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salariés analysés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9856" y="4160520"/>
            <a:ext cx="2560320" cy="1508760"/>
          </a:xfrm>
          <a:prstGeom prst="rect">
            <a:avLst/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9856" y="4160520"/>
            <a:ext cx="2560320" cy="4572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12" name="Text 10"/>
          <p:cNvSpPr/>
          <p:nvPr/>
        </p:nvSpPr>
        <p:spPr>
          <a:xfrm>
            <a:off x="3419856" y="441655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419856" y="5120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primes activées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4160520"/>
            <a:ext cx="2560320" cy="1508760"/>
          </a:xfrm>
          <a:prstGeom prst="rect">
            <a:avLst/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4160520"/>
            <a:ext cx="2560320" cy="4572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16" name="Text 14"/>
          <p:cNvSpPr/>
          <p:nvPr/>
        </p:nvSpPr>
        <p:spPr>
          <a:xfrm>
            <a:off x="6181344" y="441655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69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181344" y="5120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salariés bien-être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42832" y="4160520"/>
            <a:ext cx="2560320" cy="1508760"/>
          </a:xfrm>
          <a:prstGeom prst="rect">
            <a:avLst/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42832" y="4160520"/>
            <a:ext cx="2560320" cy="4572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20" name="Text 18"/>
          <p:cNvSpPr/>
          <p:nvPr/>
        </p:nvSpPr>
        <p:spPr>
          <a:xfrm>
            <a:off x="8942832" y="441655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172 482 €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942832" y="5120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 / 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6172200"/>
            <a:ext cx="274320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60533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v2.0.0  ·  Stack 100 % Open Source / Free Tier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POINT DE DÉPART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brief de Juliette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80160" y="1828800"/>
            <a:ext cx="73152" cy="233172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6" name="Text 4"/>
          <p:cNvSpPr/>
          <p:nvPr/>
        </p:nvSpPr>
        <p:spPr>
          <a:xfrm>
            <a:off x="1691640" y="1828800"/>
            <a:ext cx="9784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souhaitons récompenser les salariés qui s'engagent dans des pratiques sportives régulières. Je propose deux avantages : une prime pour les trajets actifs, et des jours bien-être pour les sportifs réguliers.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370332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L'essentiel : robuste, sécurisé, fonctionnel.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691640" y="4526280"/>
            <a:ext cx="365760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Juliette  ·  co-fondatrice de Sport Data Solution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91640" y="5212080"/>
            <a:ext cx="17830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240">
            <a:solidFill>
              <a:srgbClr val="13C4A3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91640" y="5212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11880" y="5212080"/>
            <a:ext cx="17830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240">
            <a:solidFill>
              <a:srgbClr val="13C4A3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11880" y="5212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32120" y="5212080"/>
            <a:ext cx="17830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240">
            <a:solidFill>
              <a:srgbClr val="13C4A3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32120" y="5212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SOLUTION  ·  POC v2.0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RÈGLES MÉTIER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règles, deux récompenses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109728" cy="420624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9C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de 5 %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2404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trajets actifs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971800"/>
            <a:ext cx="46177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3429000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actif déclaré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Vélo · Trottinette · Marche · Running</a:t>
            </a:r>
            <a:endParaRPr lang="en-US" sz="14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géographique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15 km à pied  ·  ≤ 25 km à vélo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937760"/>
            <a:ext cx="4617720" cy="502920"/>
          </a:xfrm>
          <a:prstGeom prst="rect">
            <a:avLst/>
          </a:prstGeom>
          <a:solidFill>
            <a:srgbClr val="E0F8F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9377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montant = salaire_brut × 0.05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551383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 </a:t>
            </a:r>
            <a:pPr indent="0" marL="0">
              <a:buNone/>
            </a:pPr>
            <a:r>
              <a:rPr lang="en-US" sz="12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bénéficiaires  ·  172 482 € / an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1691640"/>
            <a:ext cx="53492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691640"/>
            <a:ext cx="109728" cy="4206240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629400" y="2057400"/>
            <a:ext cx="502920" cy="502920"/>
          </a:xfrm>
          <a:prstGeom prst="ellipse">
            <a:avLst/>
          </a:prstGeom>
          <a:solidFill>
            <a:srgbClr val="FFF4D2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26948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jours bien-être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69480" y="2404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sportifs réguliers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29400" y="2971800"/>
            <a:ext cx="46177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29400" y="3429000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déclaré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 « Pratique d'un sport » renseignée</a:t>
            </a:r>
            <a:endParaRPr lang="en-US" sz="14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effectivement pratiqué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15 activités / an  (données Strava)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629400" y="4937760"/>
            <a:ext cx="4617720" cy="502920"/>
          </a:xfrm>
          <a:prstGeom prst="rect">
            <a:avLst/>
          </a:prstGeom>
          <a:solidFill>
            <a:srgbClr val="FFF4D2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49377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 jours de congés / an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29400" y="551383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 </a:t>
            </a:r>
            <a:pPr indent="0" marL="0">
              <a:buNone/>
            </a:pPr>
            <a:r>
              <a:rPr lang="en-US" sz="12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bénéficiaires  ·  42,9 % des salariés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Distinguer le « sport déclaré » du « sport réellement pratiqué » — c'est ça, le rôle de la donnée.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SOLUTION  ·  POC v2.0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RÉPARTITION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touche quoi  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Croisement des deux règles sur les 161 salariés.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actif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 / TC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15 activités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 activités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2377440"/>
            <a:ext cx="4160520" cy="1600200"/>
          </a:xfrm>
          <a:prstGeom prst="rect">
            <a:avLst/>
          </a:prstGeom>
          <a:solidFill>
            <a:srgbClr val="FFF4D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2377440"/>
            <a:ext cx="4160520" cy="54864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26974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E6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443484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Bien-être uniquement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3484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 / TC  ·  ≥ 15 act.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78040" y="2377440"/>
            <a:ext cx="4160520" cy="1600200"/>
          </a:xfrm>
          <a:prstGeom prst="rect">
            <a:avLst/>
          </a:prstGeom>
          <a:solidFill>
            <a:srgbClr val="E0F8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8040" y="2377440"/>
            <a:ext cx="4160520" cy="54864"/>
          </a:xfrm>
          <a:prstGeom prst="rect">
            <a:avLst/>
          </a:prstGeom>
          <a:solidFill>
            <a:srgbClr val="0F9C82"/>
          </a:solidFill>
          <a:ln/>
        </p:spPr>
      </p:sp>
      <p:sp>
        <p:nvSpPr>
          <p:cNvPr id="17" name="Text 15"/>
          <p:cNvSpPr/>
          <p:nvPr/>
        </p:nvSpPr>
        <p:spPr>
          <a:xfrm>
            <a:off x="7360920" y="26974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F9C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886968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+ Bien-être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6968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actif  ·  ≥ 15 act.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0" y="4251960"/>
            <a:ext cx="4160520" cy="1600200"/>
          </a:xfrm>
          <a:prstGeom prst="rect">
            <a:avLst/>
          </a:prstGeom>
          <a:solidFill>
            <a:srgbClr val="EEF1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4251960"/>
            <a:ext cx="4160520" cy="54864"/>
          </a:xfrm>
          <a:prstGeom prst="rect">
            <a:avLst/>
          </a:prstGeom>
          <a:solidFill>
            <a:srgbClr val="667085"/>
          </a:solidFill>
          <a:ln/>
        </p:spPr>
      </p:sp>
      <p:sp>
        <p:nvSpPr>
          <p:cNvPr id="22" name="Text 20"/>
          <p:cNvSpPr/>
          <p:nvPr/>
        </p:nvSpPr>
        <p:spPr>
          <a:xfrm>
            <a:off x="2926080" y="45720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754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4434840" y="4617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avantage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34840" y="5120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 / TC  ·  &lt; 15 act.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78040" y="4251960"/>
            <a:ext cx="4160520" cy="1600200"/>
          </a:xfrm>
          <a:prstGeom prst="rect">
            <a:avLst/>
          </a:prstGeom>
          <a:solidFill>
            <a:srgbClr val="E0F8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78040" y="4251960"/>
            <a:ext cx="4160520" cy="54864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27" name="Text 25"/>
          <p:cNvSpPr/>
          <p:nvPr/>
        </p:nvSpPr>
        <p:spPr>
          <a:xfrm>
            <a:off x="7360920" y="45720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F9C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</a:t>
            </a:r>
            <a:endParaRPr lang="en-US" sz="5600" dirty="0"/>
          </a:p>
        </p:txBody>
      </p:sp>
      <p:sp>
        <p:nvSpPr>
          <p:cNvPr id="28" name="Text 26"/>
          <p:cNvSpPr/>
          <p:nvPr/>
        </p:nvSpPr>
        <p:spPr>
          <a:xfrm>
            <a:off x="8869680" y="4617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uniquement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869680" y="5120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actif  ·  &lt; 15 act.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salariés</a:t>
            </a:r>
            <a:pPr algn="ctr" indent="0" marL="0">
              <a:buNone/>
            </a:pPr>
            <a:r>
              <a:rPr lang="en-US" sz="1100" dirty="0">
                <a:solidFill>
                  <a:srgbClr val="5A7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algn="ctr" indent="0" marL="0">
              <a:buNone/>
            </a:pPr>
            <a:r>
              <a:rPr lang="en-US" sz="11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cumulent les deux récompenses</a:t>
            </a:r>
            <a:pPr algn="ctr" indent="0" marL="0">
              <a:buNone/>
            </a:pPr>
            <a:r>
              <a:rPr lang="en-US" sz="1100" dirty="0">
                <a:solidFill>
                  <a:srgbClr val="5A7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algn="ctr" indent="0" marL="0">
              <a:buNone/>
            </a:pPr>
            <a:r>
              <a:rPr lang="en-US" sz="1100" dirty="0">
                <a:solidFill>
                  <a:srgbClr val="B7C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ne bougent ni au travail, ni à côté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SOLUTION  ·  POC v2.0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en 5 étapes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logique : Extract → Transform → Load, instrumentée à chaque étape.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691640" cy="20116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68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· 161 salariés</a:t>
            </a:r>
            <a:endParaRPr lang="en-US" sz="1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Strava-like · 2 040 act.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06040" y="2194560"/>
            <a:ext cx="16916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2194560"/>
            <a:ext cx="1691640" cy="54864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11" name="Shape 9"/>
          <p:cNvSpPr/>
          <p:nvPr/>
        </p:nvSpPr>
        <p:spPr>
          <a:xfrm>
            <a:off x="3268980" y="2423160"/>
            <a:ext cx="365760" cy="365760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12" name="Text 10"/>
          <p:cNvSpPr/>
          <p:nvPr/>
        </p:nvSpPr>
        <p:spPr>
          <a:xfrm>
            <a:off x="326898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9C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2971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33832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2194560"/>
            <a:ext cx="16916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2194560"/>
            <a:ext cx="1691640" cy="54864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17" name="Shape 15"/>
          <p:cNvSpPr/>
          <p:nvPr/>
        </p:nvSpPr>
        <p:spPr>
          <a:xfrm>
            <a:off x="5052060" y="2423160"/>
            <a:ext cx="365760" cy="365760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18" name="Text 16"/>
          <p:cNvSpPr/>
          <p:nvPr/>
        </p:nvSpPr>
        <p:spPr>
          <a:xfrm>
            <a:off x="50520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9C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34840" y="2971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34840" y="33832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contrôles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100/100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2194560"/>
            <a:ext cx="16916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2194560"/>
            <a:ext cx="1691640" cy="54864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23" name="Shape 21"/>
          <p:cNvSpPr/>
          <p:nvPr/>
        </p:nvSpPr>
        <p:spPr>
          <a:xfrm>
            <a:off x="6835140" y="2423160"/>
            <a:ext cx="365760" cy="365760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24" name="Text 22"/>
          <p:cNvSpPr/>
          <p:nvPr/>
        </p:nvSpPr>
        <p:spPr>
          <a:xfrm>
            <a:off x="68351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9C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7920" y="2971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GÉO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33832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55280" y="2194560"/>
            <a:ext cx="16916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955280" y="2194560"/>
            <a:ext cx="1691640" cy="54864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29" name="Shape 27"/>
          <p:cNvSpPr/>
          <p:nvPr/>
        </p:nvSpPr>
        <p:spPr>
          <a:xfrm>
            <a:off x="8618220" y="2423160"/>
            <a:ext cx="365760" cy="365760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30" name="Text 28"/>
          <p:cNvSpPr/>
          <p:nvPr/>
        </p:nvSpPr>
        <p:spPr>
          <a:xfrm>
            <a:off x="861822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9C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01000" y="2971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01000" y="33832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+ règles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738360" y="2194560"/>
            <a:ext cx="16916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738360" y="2194560"/>
            <a:ext cx="1691640" cy="54864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01300" y="2423160"/>
            <a:ext cx="365760" cy="365760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36" name="Text 34"/>
          <p:cNvSpPr/>
          <p:nvPr/>
        </p:nvSpPr>
        <p:spPr>
          <a:xfrm>
            <a:off x="104013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9C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784080" y="2971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784080" y="33832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8 feuilles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monitoring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240280" y="3200400"/>
            <a:ext cx="164592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4572000"/>
            <a:ext cx="35356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8640" y="4572000"/>
            <a:ext cx="73152" cy="91440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" y="4736592"/>
            <a:ext cx="316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77240" y="5074920"/>
            <a:ext cx="316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pilotage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312920" y="4572000"/>
            <a:ext cx="35356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312920" y="4572000"/>
            <a:ext cx="73152" cy="914400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47" name="Text 45"/>
          <p:cNvSpPr/>
          <p:nvPr/>
        </p:nvSpPr>
        <p:spPr>
          <a:xfrm>
            <a:off x="4541520" y="4736592"/>
            <a:ext cx="316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541520" y="5074920"/>
            <a:ext cx="316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individuelles + récap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077200" y="4572000"/>
            <a:ext cx="35356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077200" y="4572000"/>
            <a:ext cx="73152" cy="914400"/>
          </a:xfrm>
          <a:prstGeom prst="rect">
            <a:avLst/>
          </a:prstGeom>
          <a:solidFill>
            <a:srgbClr val="1B3760"/>
          </a:solidFill>
          <a:ln/>
        </p:spPr>
      </p:sp>
      <p:sp>
        <p:nvSpPr>
          <p:cNvPr id="51" name="Text 49"/>
          <p:cNvSpPr/>
          <p:nvPr/>
        </p:nvSpPr>
        <p:spPr>
          <a:xfrm>
            <a:off x="8305800" y="4736592"/>
            <a:ext cx="316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Monitoring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05800" y="5074920"/>
            <a:ext cx="316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par run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48640" y="5852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 →  Excel multi-feuilles + JSON  →  consommé par PowerBI et Slack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SOLUTION  ·  POC v2.0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ces choix techniques  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100 % open source / free tier — alignée avec l'esprit start-up.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657600" cy="1783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65960"/>
            <a:ext cx="73152" cy="178308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044952"/>
            <a:ext cx="457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Maîtrisé, gratuit, aucune infra requise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0832" y="1965960"/>
            <a:ext cx="3657600" cy="1783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0832" y="1965960"/>
            <a:ext cx="73152" cy="178308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14" name="Text 12"/>
          <p:cNvSpPr/>
          <p:nvPr/>
        </p:nvSpPr>
        <p:spPr>
          <a:xfrm>
            <a:off x="4645152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STRAVA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45152" y="2514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· numpy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45152" y="3044952"/>
            <a:ext cx="457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Reproductible via seed — démo fiable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93024" y="1965960"/>
            <a:ext cx="3657600" cy="1783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93024" y="1965960"/>
            <a:ext cx="73152" cy="178308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20" name="Text 18"/>
          <p:cNvSpPr/>
          <p:nvPr/>
        </p:nvSpPr>
        <p:spPr>
          <a:xfrm>
            <a:off x="8467344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GÉO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67344" y="2514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geopy · Nominatim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467344" y="3044952"/>
            <a:ext cx="457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67344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précis pour un POC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950208"/>
            <a:ext cx="3657600" cy="1783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950208"/>
            <a:ext cx="73152" cy="178308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178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44988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Webhook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22960" y="5029200"/>
            <a:ext cx="457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1389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tier, Block Kit pour messages riches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370832" y="3950208"/>
            <a:ext cx="3657600" cy="1783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70832" y="3950208"/>
            <a:ext cx="73152" cy="178308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2" name="Text 30"/>
          <p:cNvSpPr/>
          <p:nvPr/>
        </p:nvSpPr>
        <p:spPr>
          <a:xfrm>
            <a:off x="4645152" y="4178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45152" y="44988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row_hash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645152" y="5029200"/>
            <a:ext cx="457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51389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Reprocessing sans doublons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93024" y="3950208"/>
            <a:ext cx="3657600" cy="1783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93024" y="3950208"/>
            <a:ext cx="73152" cy="178308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8" name="Text 36"/>
          <p:cNvSpPr/>
          <p:nvPr/>
        </p:nvSpPr>
        <p:spPr>
          <a:xfrm>
            <a:off x="8467344" y="4178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67344" y="44988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· GitHub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8467344" y="5029200"/>
            <a:ext cx="457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67344" y="51389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complet, exigé par la note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SOLUTION  ·  POC v2.0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DONNÉES SYNTHÉTIQUES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 Strava + validation géo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mois d'activités générés, distance maison → bureau vérifiée.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606040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11680"/>
            <a:ext cx="2606040" cy="4572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48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2 040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activités sur 12 mois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55848" y="2011680"/>
            <a:ext cx="2606040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2011680"/>
            <a:ext cx="2606040" cy="4572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12" name="Text 10"/>
          <p:cNvSpPr/>
          <p:nvPr/>
        </p:nvSpPr>
        <p:spPr>
          <a:xfrm>
            <a:off x="3355848" y="2148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55848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salariés sportifs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2011680"/>
            <a:ext cx="2606040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2011680"/>
            <a:ext cx="2606040" cy="4572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16" name="Text 14"/>
          <p:cNvSpPr/>
          <p:nvPr/>
        </p:nvSpPr>
        <p:spPr>
          <a:xfrm>
            <a:off x="6163056" y="2148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63056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disciplines simulées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70264" y="2011680"/>
            <a:ext cx="2606040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70264" y="2011680"/>
            <a:ext cx="2606040" cy="4572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20" name="Text 18"/>
          <p:cNvSpPr/>
          <p:nvPr/>
        </p:nvSpPr>
        <p:spPr>
          <a:xfrm>
            <a:off x="8970264" y="2148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seed 42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970264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 totale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544068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657600"/>
            <a:ext cx="73152" cy="219456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886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STRAVA-LIKE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4206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Distances, vitesses, horaires réalistes par sport.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4709160"/>
            <a:ext cx="4892040" cy="9601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4773168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Slack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0120" y="50292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Bravo Juliette ! Tu viens de courir 10,8 km en 46 min ! »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63640" y="3657600"/>
            <a:ext cx="544068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3657600"/>
            <a:ext cx="73152" cy="2194560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3886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E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GÉOGRAPHIQUE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37960" y="4206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1362 av. des Platanes, 34970 Lattes  ·  geopy + Nominatim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37960" y="4709160"/>
            <a:ext cx="2400300" cy="9144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4818888"/>
            <a:ext cx="2217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Marche / Running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29400" y="5093208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≤ 15 km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9029700" y="4709160"/>
            <a:ext cx="2400300" cy="9144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21140" y="4818888"/>
            <a:ext cx="2217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Vélo / Trottinette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21140" y="5093208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≤ 25 km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déclarations suspectes (au-delà des seuils) sont isolées dans une feuille « Alertes_Geo » et exclues de la prime.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SOLUTION  ·  POC v2.0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QUALITÉ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 :  100 / 100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contrôles automatiques exécutés à chaque run.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4023360" cy="40233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2468880"/>
            <a:ext cx="2377440" cy="2377440"/>
          </a:xfrm>
          <a:prstGeom prst="ellipse">
            <a:avLst/>
          </a:prstGeom>
          <a:solidFill>
            <a:srgbClr val="0F2D55"/>
          </a:solidFill>
          <a:ln w="63500">
            <a:solidFill>
              <a:srgbClr val="13C4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137160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C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 100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5074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Data Quality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440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161 salariés réels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920240"/>
            <a:ext cx="6766560" cy="40233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12080" y="21945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7 CONTRÔLES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0" y="2660904"/>
            <a:ext cx="256032" cy="256032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2660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23560" y="2606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 d'ID salarié (RH)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698480" y="2679192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0F8F2"/>
          </a:solidFill>
          <a:ln/>
        </p:spPr>
      </p:sp>
      <p:sp>
        <p:nvSpPr>
          <p:cNvPr id="18" name="Text 16"/>
          <p:cNvSpPr/>
          <p:nvPr/>
        </p:nvSpPr>
        <p:spPr>
          <a:xfrm>
            <a:off x="10698480" y="267919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3081528"/>
            <a:ext cx="256032" cy="256032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0" y="3081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23560" y="30266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Sport sans correspondance RH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698480" y="3099816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0F8F2"/>
          </a:solidFill>
          <a:ln/>
        </p:spPr>
      </p:sp>
      <p:sp>
        <p:nvSpPr>
          <p:cNvPr id="23" name="Text 21"/>
          <p:cNvSpPr/>
          <p:nvPr/>
        </p:nvSpPr>
        <p:spPr>
          <a:xfrm>
            <a:off x="10698480" y="30998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3502152"/>
            <a:ext cx="256032" cy="256032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0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23560" y="34472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Salaires invalides (null ou ≤ 0)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698480" y="352044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0F8F2"/>
          </a:solidFill>
          <a:ln/>
        </p:spPr>
      </p:sp>
      <p:sp>
        <p:nvSpPr>
          <p:cNvPr id="28" name="Text 26"/>
          <p:cNvSpPr/>
          <p:nvPr/>
        </p:nvSpPr>
        <p:spPr>
          <a:xfrm>
            <a:off x="10698480" y="35204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12080" y="3922776"/>
            <a:ext cx="256032" cy="256032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0" y="3922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23560" y="38679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de déplacement non reconnus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698480" y="3941064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0F8F2"/>
          </a:solidFill>
          <a:ln/>
        </p:spPr>
      </p:sp>
      <p:sp>
        <p:nvSpPr>
          <p:cNvPr id="33" name="Text 31"/>
          <p:cNvSpPr/>
          <p:nvPr/>
        </p:nvSpPr>
        <p:spPr>
          <a:xfrm>
            <a:off x="10698480" y="394106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12080" y="4343400"/>
            <a:ext cx="256032" cy="256032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35" name="Text 33"/>
          <p:cNvSpPr/>
          <p:nvPr/>
        </p:nvSpPr>
        <p:spPr>
          <a:xfrm>
            <a:off x="5212080" y="4343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623560" y="42885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d'embauche dans le futur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698480" y="4361688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0F8F2"/>
          </a:solidFill>
          <a:ln/>
        </p:spPr>
      </p:sp>
      <p:sp>
        <p:nvSpPr>
          <p:cNvPr id="38" name="Text 36"/>
          <p:cNvSpPr/>
          <p:nvPr/>
        </p:nvSpPr>
        <p:spPr>
          <a:xfrm>
            <a:off x="10698480" y="436168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212080" y="4764024"/>
            <a:ext cx="256032" cy="256032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40" name="Text 38"/>
          <p:cNvSpPr/>
          <p:nvPr/>
        </p:nvSpPr>
        <p:spPr>
          <a:xfrm>
            <a:off x="5212080" y="4764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623560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Activités avec distance nulle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0698480" y="4782312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0F8F2"/>
          </a:solidFill>
          <a:ln/>
        </p:spPr>
      </p:sp>
      <p:sp>
        <p:nvSpPr>
          <p:cNvPr id="43" name="Text 41"/>
          <p:cNvSpPr/>
          <p:nvPr/>
        </p:nvSpPr>
        <p:spPr>
          <a:xfrm>
            <a:off x="10698480" y="47823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12080" y="5184648"/>
            <a:ext cx="256032" cy="256032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0" y="5184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623560" y="51297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Déclarations géo &gt; seuils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10698480" y="5202936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0F8F2"/>
          </a:solidFill>
          <a:ln/>
        </p:spPr>
      </p:sp>
      <p:sp>
        <p:nvSpPr>
          <p:cNvPr id="48" name="Text 46"/>
          <p:cNvSpPr/>
          <p:nvPr/>
        </p:nvSpPr>
        <p:spPr>
          <a:xfrm>
            <a:off x="10698480" y="520293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seul contrôle échoue, le pipeline s'arrête  ·  alerte Slack envoyée automatiquement.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SOLUTION  ·  POC v2.0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COMMUNICATION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 :  deux niveaux d'alertes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notification globale par run + une notification individuelle par activité.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40680" cy="36576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65960"/>
            <a:ext cx="73152" cy="365760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286000"/>
            <a:ext cx="457200" cy="457200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9C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2402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global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606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exécution du pipeline.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3063240"/>
            <a:ext cx="4800600" cy="23317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pipeline-runs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SDS-bot </a:t>
            </a:r>
            <a:pPr indent="0" marL="0">
              <a:buNone/>
            </a:pPr>
            <a:r>
              <a:rPr lang="en-US" sz="10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10:42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7490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 · 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 salariés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 primes  ·  172 482 € / an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 bien-être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 :  100 / 100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965960"/>
            <a:ext cx="5440680" cy="36576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965960"/>
            <a:ext cx="73152" cy="3657600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0" y="2286000"/>
            <a:ext cx="457200" cy="457200"/>
          </a:xfrm>
          <a:prstGeom prst="ellipse">
            <a:avLst/>
          </a:prstGeom>
          <a:solidFill>
            <a:srgbClr val="FFF4D2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6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78040" y="22402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individuelle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78040" y="2606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alerte par activité détectée.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3063240"/>
            <a:ext cx="4800600" cy="23317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bravo-sportifs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2084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SDS-bot </a:t>
            </a:r>
            <a:pPr indent="0" marL="0">
              <a:buNone/>
            </a:pPr>
            <a:r>
              <a:rPr lang="en-US" sz="10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10:42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37490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Bravo Juliette Mendes ! 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7C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viens de courir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10,8 km en 46 min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énergie  !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 </a:t>
            </a:r>
            <a:pPr algn="ctr" indent="0" marL="0">
              <a:buNone/>
            </a:pPr>
            <a:r>
              <a:rPr lang="en-US" sz="11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d'environnement  SLACK_WEBHOOK_URL</a:t>
            </a:r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</a:t>
            </a:r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 </a:t>
            </a:r>
            <a:pPr algn="ctr" indent="0" marL="0">
              <a:buNone/>
            </a:pPr>
            <a:r>
              <a:rPr lang="en-US" sz="11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Block Kit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SOLUTION  ·  POC v2.0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SCALABILITÉ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Reprocessing  :  la promesse tenue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solidFill>
            <a:srgbClr val="E0F8F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17320"/>
            <a:ext cx="73152" cy="59436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</a:t>
            </a:r>
            <a:pPr indent="0" marL="0">
              <a:buNone/>
            </a:pPr>
            <a:r>
              <a:rPr lang="en-US" sz="14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à permettre de relancer l'historique des indicateurs si jamais une source est modifiée (taux ou données entrantes).</a:t>
            </a:r>
            <a:pPr indent="0" marL="0">
              <a:buNone/>
            </a:pPr>
            <a:r>
              <a:rPr lang="en-US" sz="1600" b="1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»</a:t>
            </a:r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— Juliette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3505200" cy="15544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606040"/>
            <a:ext cx="411480" cy="411480"/>
          </a:xfrm>
          <a:prstGeom prst="ellipse">
            <a:avLst/>
          </a:prstGeom>
          <a:solidFill>
            <a:srgbClr val="13C4A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606040"/>
            <a:ext cx="249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MD5 par ligne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3108960"/>
            <a:ext cx="295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Calculé sur ID + salaire + mode + sport + nb. activités. Si la règle change (taux 5 % → 7 %), le hash change.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28160" y="2331720"/>
            <a:ext cx="3505200" cy="15544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48200" y="2606040"/>
            <a:ext cx="411480" cy="411480"/>
          </a:xfrm>
          <a:prstGeom prst="ellipse">
            <a:avLst/>
          </a:prstGeom>
          <a:solidFill>
            <a:srgbClr val="13C4A3"/>
          </a:solidFill>
          <a:ln/>
        </p:spPr>
      </p:sp>
      <p:sp>
        <p:nvSpPr>
          <p:cNvPr id="15" name="Text 13"/>
          <p:cNvSpPr/>
          <p:nvPr/>
        </p:nvSpPr>
        <p:spPr>
          <a:xfrm>
            <a:off x="464820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96840" y="2606040"/>
            <a:ext cx="249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relit ce qui a bougé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48200" y="3108960"/>
            <a:ext cx="295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Seules les lignes au hash modifié sont rechargées. Aucun doublon créé, l'historique est préservé.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07680" y="2331720"/>
            <a:ext cx="3505200" cy="15544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27720" y="2606040"/>
            <a:ext cx="411480" cy="411480"/>
          </a:xfrm>
          <a:prstGeom prst="ellipse">
            <a:avLst/>
          </a:prstGeom>
          <a:solidFill>
            <a:srgbClr val="13C4A3"/>
          </a:solidFill>
          <a:ln/>
        </p:spPr>
      </p:sp>
      <p:sp>
        <p:nvSpPr>
          <p:cNvPr id="20" name="Text 18"/>
          <p:cNvSpPr/>
          <p:nvPr/>
        </p:nvSpPr>
        <p:spPr>
          <a:xfrm>
            <a:off x="842772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76360" y="2606040"/>
            <a:ext cx="249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27720" y="3108960"/>
            <a:ext cx="295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porte son pipeline_run_date et sa pipeline_version : on sait toujours d'où vient un chiffre.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11064240" cy="16916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297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FEUILLES EXCEL  →  POWERBI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" y="4663440"/>
            <a:ext cx="1181862" cy="320040"/>
          </a:xfrm>
          <a:prstGeom prst="roundRect">
            <a:avLst>
              <a:gd name="adj" fmla="val 14286"/>
            </a:avLst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663440"/>
            <a:ext cx="11818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Salariés_Complet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23694" y="4663440"/>
            <a:ext cx="1181862" cy="320040"/>
          </a:xfrm>
          <a:prstGeom prst="roundRect">
            <a:avLst>
              <a:gd name="adj" fmla="val 14286"/>
            </a:avLst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23694" y="4663440"/>
            <a:ext cx="11818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Éligibles_Prime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0148" y="4663440"/>
            <a:ext cx="1181862" cy="320040"/>
          </a:xfrm>
          <a:prstGeom prst="roundRect">
            <a:avLst>
              <a:gd name="adj" fmla="val 14286"/>
            </a:avLst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0148" y="4663440"/>
            <a:ext cx="11818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Éligibles_BienEtre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16602" y="4663440"/>
            <a:ext cx="1181862" cy="320040"/>
          </a:xfrm>
          <a:prstGeom prst="roundRect">
            <a:avLst>
              <a:gd name="adj" fmla="val 14286"/>
            </a:avLst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6602" y="4663440"/>
            <a:ext cx="11818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Alertes_Geo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63056" y="4663440"/>
            <a:ext cx="1181862" cy="320040"/>
          </a:xfrm>
          <a:prstGeom prst="roundRect">
            <a:avLst>
              <a:gd name="adj" fmla="val 14286"/>
            </a:avLst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63056" y="4663440"/>
            <a:ext cx="11818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KPI_Synthèse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09510" y="4663440"/>
            <a:ext cx="1181862" cy="320040"/>
          </a:xfrm>
          <a:prstGeom prst="roundRect">
            <a:avLst>
              <a:gd name="adj" fmla="val 14286"/>
            </a:avLst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09510" y="4663440"/>
            <a:ext cx="11818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Activités_Strava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855964" y="4663440"/>
            <a:ext cx="1181862" cy="320040"/>
          </a:xfrm>
          <a:prstGeom prst="roundRect">
            <a:avLst>
              <a:gd name="adj" fmla="val 14286"/>
            </a:avLst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55964" y="4663440"/>
            <a:ext cx="11818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Data_Quality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202418" y="4663440"/>
            <a:ext cx="1181862" cy="320040"/>
          </a:xfrm>
          <a:prstGeom prst="roundRect">
            <a:avLst>
              <a:gd name="adj" fmla="val 14286"/>
            </a:avLst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02418" y="4663440"/>
            <a:ext cx="11818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Historique_Runs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77240" y="5212080"/>
            <a:ext cx="10607040" cy="502920"/>
          </a:xfrm>
          <a:prstGeom prst="rect">
            <a:avLst/>
          </a:prstGeom>
          <a:solidFill>
            <a:srgbClr val="06182E"/>
          </a:solidFill>
          <a:ln/>
        </p:spPr>
      </p:sp>
      <p:sp>
        <p:nvSpPr>
          <p:cNvPr id="42" name="Text 40"/>
          <p:cNvSpPr/>
          <p:nvPr/>
        </p:nvSpPr>
        <p:spPr>
          <a:xfrm>
            <a:off x="960120" y="5212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C4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run_pipeline.py</a:t>
            </a:r>
            <a:pPr indent="0" marL="0">
              <a:buNone/>
            </a:pPr>
            <a:r>
              <a:rPr lang="en-US" sz="1200" dirty="0">
                <a:solidFill>
                  <a:srgbClr val="9D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→   nouveau run, hashes recalculés, PowerBI synchronisé.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taux de prime et le seuil d'activités vivent dans CONFIG  :  un seul endroit à modifier.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SOLUTION  ·  POC v2.0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RGPD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couches, trois publics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stricte  :  qui voit quoi  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20440" cy="2286000"/>
          </a:xfrm>
          <a:prstGeom prst="rect">
            <a:avLst/>
          </a:prstGeom>
          <a:solidFill>
            <a:srgbClr val="0B2545"/>
          </a:solidFill>
          <a:ln w="7620">
            <a:solidFill>
              <a:srgbClr val="0B2545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65960"/>
            <a:ext cx="3520440" cy="73152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40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BRUTE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C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DBA uniquement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B7C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Prénom, Adresse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B7C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 brut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B7C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Excel chiffré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3108960"/>
            <a:ext cx="18288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43400" y="1965960"/>
            <a:ext cx="3520440" cy="2286000"/>
          </a:xfrm>
          <a:prstGeom prst="rect">
            <a:avLst/>
          </a:prstGeom>
          <a:solidFill>
            <a:srgbClr val="0F9C82"/>
          </a:solidFill>
          <a:ln w="7620">
            <a:solidFill>
              <a:srgbClr val="0F9C82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1965960"/>
            <a:ext cx="3520440" cy="73152"/>
          </a:xfrm>
          <a:prstGeom prst="rect">
            <a:avLst/>
          </a:prstGeom>
          <a:solidFill>
            <a:srgbClr val="0F9C82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240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ANALYTIQUE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2560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C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Analystes / PowerBI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30632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pseudonymisé (SHA-256)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BU, contrat, éligibilité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/ Prénom retirés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09560" y="3108960"/>
            <a:ext cx="18288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8160" y="1965960"/>
            <a:ext cx="3520440" cy="2286000"/>
          </a:xfrm>
          <a:prstGeom prst="rect">
            <a:avLst/>
          </a:prstGeom>
          <a:solidFill>
            <a:srgbClr val="FFFFFF"/>
          </a:solidFill>
          <a:ln w="7620">
            <a:solidFill>
              <a:srgbClr val="F5B40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1965960"/>
            <a:ext cx="3520440" cy="73152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2240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E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PRÉSENTATION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2560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Managers / Direction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0" y="30632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Agrégats par BU uniquement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individu identifiable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PowerBI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AUX DROITS RGPD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3520440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572000"/>
            <a:ext cx="54864" cy="132588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à l'effacement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5120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l'ID dans la source  →  relancer le pipeline  →  disparu partout.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43400" y="4572000"/>
            <a:ext cx="3520440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43400" y="4572000"/>
            <a:ext cx="54864" cy="132588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d'accès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0" y="5120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la couche agrégée est exposée. ID pseudonymisés en analytique.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38160" y="4572000"/>
            <a:ext cx="3520440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38160" y="4572000"/>
            <a:ext cx="54864" cy="132588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4" name="Text 32"/>
          <p:cNvSpPr/>
          <p:nvPr/>
        </p:nvSpPr>
        <p:spPr>
          <a:xfrm>
            <a:off x="8366760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de rectification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66760" y="5120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la source  →  reprocess  →  PowerBI mis à jour via le hash.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SOLUTION  ·  POC v2.0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DÉMONSTRATION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live en 5 étapes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déroulé exact prévu pour la soutenance.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103120"/>
            <a:ext cx="411480" cy="411480"/>
          </a:xfrm>
          <a:prstGeom prst="ellipse">
            <a:avLst/>
          </a:prstGeom>
          <a:solidFill>
            <a:srgbClr val="13C4A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les sources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37744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DonnéesRH.xlsx (161 sal.) + DonnéesSportive.xlsx — pointer la colonne « Pratique d'un sport ».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1106424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990088"/>
            <a:ext cx="411480" cy="411480"/>
          </a:xfrm>
          <a:prstGeom prst="ellipse">
            <a:avLst/>
          </a:prstGeom>
          <a:solidFill>
            <a:srgbClr val="13C4A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90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le pipeline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26440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python run_pipeline.py  →  observer les 6 étapes : Extract · DQ 100/100 · Géo · Transform · Load · Slack.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94176"/>
            <a:ext cx="1106424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877056"/>
            <a:ext cx="411480" cy="411480"/>
          </a:xfrm>
          <a:prstGeom prst="ellipse">
            <a:avLst/>
          </a:prstGeom>
          <a:solidFill>
            <a:srgbClr val="13C4A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877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813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les Slack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15137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terminal  :  récap global + 3 messages individuels (nom · distance · sport).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581144"/>
            <a:ext cx="1106424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4764024"/>
            <a:ext cx="411480" cy="411480"/>
          </a:xfrm>
          <a:prstGeom prst="ellipse">
            <a:avLst/>
          </a:prstGeom>
          <a:solidFill>
            <a:srgbClr val="13C4A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7640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47000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rapport Excel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5038344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KPI_Synthèse  →  Éligibles_Prime  →  Alertes_Geo  →  Historique_Runs.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468112"/>
            <a:ext cx="1106424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B2545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77240" y="5650992"/>
            <a:ext cx="411480" cy="411480"/>
          </a:xfrm>
          <a:prstGeom prst="ellipse">
            <a:avLst/>
          </a:prstGeom>
          <a:solidFill>
            <a:srgbClr val="13C4A3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650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5869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Démontrer le reprocessing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71600" y="592531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TAUX_PRIME 0.05 → 0.07 dans CONFIG  →  relancer  →  prouver  :  pas de doublons.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SOLUTION  ·  POC v2.0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BILAN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 POC démontre  ·  ce qu'il faudra industrialiser.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40680" cy="3931920"/>
          </a:xfrm>
          <a:prstGeom prst="rect">
            <a:avLst/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03120"/>
            <a:ext cx="5440680" cy="73152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3774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POC LIVRE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ETL  ·  6 étapes  ·  Extract → DQ → Géo → Transform → Load → Slack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métier conformes  :  5 j bien-être, ≥ 15 activités, validation géo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Strava-like  ·  2 040 activités, 15 sports, seed reproductible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 ·  7 contrôles automatiques  ·  100/100 sur données réelles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Block Kit  ·  récap global + alertes individuelles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MD5  ·  reprocessing PowerBI sans doublons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 ·  3 couches + pseudonymisation SHA-256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2103120"/>
            <a:ext cx="5440680" cy="3931920"/>
          </a:xfrm>
          <a:prstGeom prst="rect">
            <a:avLst/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2103120"/>
            <a:ext cx="5440680" cy="73152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23774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LA PRODUCTION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20840" y="288036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row-level security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20840" y="317296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 les fichiers Excel sources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20840" y="36576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20840" y="395020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et scheduling mensuel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20840" y="44348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Strava API réelle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20840" y="472744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 le simulateur Python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52120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Service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550468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+ refresh planifié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6355080"/>
            <a:ext cx="274320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62362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Solution  ·  POC Data Engineering  ·  Avril 2026  ·  v2.0.0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 Data Solution — POC Pipeline (digestible edition)</dc:title>
  <dc:subject>PptxGenJS Presentation</dc:subject>
  <dc:creator>Mathieu — Data Engineering POC</dc:creator>
  <cp:lastModifiedBy>Mathieu — Data Engineering POC</cp:lastModifiedBy>
  <cp:revision>1</cp:revision>
  <dcterms:created xsi:type="dcterms:W3CDTF">2026-04-29T05:54:58Z</dcterms:created>
  <dcterms:modified xsi:type="dcterms:W3CDTF">2026-04-29T05:54:58Z</dcterms:modified>
</cp:coreProperties>
</file>